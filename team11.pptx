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1" r:id="rId5"/>
    <p:sldId id="260" r:id="rId6"/>
    <p:sldId id="263" r:id="rId7"/>
    <p:sldId id="262"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7" d="100"/>
          <a:sy n="117" d="100"/>
        </p:scale>
        <p:origin x="89" y="14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323B7-A412-42EC-A02A-50CD7A87405B}"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AB6A5-F0F8-4F00-9C7B-433DB0DB2D78}" type="slidenum">
              <a:rPr lang="en-US" smtClean="0"/>
              <a:t>‹#›</a:t>
            </a:fld>
            <a:endParaRPr lang="en-US"/>
          </a:p>
        </p:txBody>
      </p:sp>
    </p:spTree>
    <p:extLst>
      <p:ext uri="{BB962C8B-B14F-4D97-AF65-F5344CB8AC3E}">
        <p14:creationId xmlns:p14="http://schemas.microsoft.com/office/powerpoint/2010/main" val="2394397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focuses on the STM32F411CEU6 controller role, the hardware-to-peripheral mapping, and the register groups used to configure those interfaces. Verify the exact temperature sensor marking before treating LM35 as confirmed. The MPU6050 has its own internal registers, configured over I²C; those are distinct from STM32 peripheral registers.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2B73C7"/>
          </a:solidFill>
          <a:ln w="1270">
            <a:solidFill>
              <a:srgbClr val="2B7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76072" y="310896"/>
            <a:ext cx="2148840" cy="310896"/>
          </a:xfrm>
          <a:prstGeom prst="roundRect">
            <a:avLst/>
          </a:prstGeom>
          <a:solidFill>
            <a:srgbClr val="E7F6F5"/>
          </a:solidFill>
          <a:ln w="381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315468"/>
            <a:ext cx="1984248" cy="292608"/>
          </a:xfrm>
          <a:prstGeom prst="rect">
            <a:avLst/>
          </a:prstGeom>
          <a:noFill/>
        </p:spPr>
        <p:txBody>
          <a:bodyPr wrap="square" lIns="9144" tIns="9144" rIns="9144" bIns="9144" anchor="ctr">
            <a:spAutoFit/>
          </a:bodyPr>
          <a:lstStyle/>
          <a:p>
            <a:pPr algn="ctr">
              <a:spcBef>
                <a:spcPts val="0"/>
              </a:spcBef>
              <a:spcAft>
                <a:spcPts val="0"/>
              </a:spcAft>
            </a:pPr>
            <a:r>
              <a:rPr sz="810" b="1" i="0">
                <a:solidFill>
                  <a:srgbClr val="079AA3"/>
                </a:solidFill>
                <a:latin typeface="Aptos"/>
              </a:rPr>
              <a:t>EMBEDDED SYSTEMS CASE STUDY</a:t>
            </a:r>
          </a:p>
        </p:txBody>
      </p:sp>
      <p:sp>
        <p:nvSpPr>
          <p:cNvPr id="5" name="Rounded Rectangle 4"/>
          <p:cNvSpPr/>
          <p:nvPr/>
        </p:nvSpPr>
        <p:spPr>
          <a:xfrm>
            <a:off x="9253728" y="310896"/>
            <a:ext cx="2359152" cy="329184"/>
          </a:xfrm>
          <a:prstGeom prst="roundRect">
            <a:avLst/>
          </a:prstGeom>
          <a:solidFill>
            <a:srgbClr val="FFFFFF"/>
          </a:solidFill>
          <a:ln w="10160">
            <a:solidFill>
              <a:srgbClr val="D7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0" y="324612"/>
            <a:ext cx="2212848" cy="292608"/>
          </a:xfrm>
          <a:prstGeom prst="rect">
            <a:avLst/>
          </a:prstGeom>
          <a:noFill/>
        </p:spPr>
        <p:txBody>
          <a:bodyPr wrap="square" lIns="9144" tIns="9144" rIns="9144" bIns="9144" anchor="ctr">
            <a:spAutoFit/>
          </a:bodyPr>
          <a:lstStyle/>
          <a:p>
            <a:pPr algn="ctr">
              <a:spcBef>
                <a:spcPts val="0"/>
              </a:spcBef>
              <a:spcAft>
                <a:spcPts val="0"/>
              </a:spcAft>
            </a:pPr>
            <a:r>
              <a:rPr sz="919" b="1" i="0">
                <a:solidFill>
                  <a:srgbClr val="2B73C7"/>
                </a:solidFill>
                <a:latin typeface="Aptos"/>
              </a:rPr>
              <a:t>23CSE304  |  EMBEDDED SYSTEMS</a:t>
            </a:r>
          </a:p>
        </p:txBody>
      </p:sp>
      <p:sp>
        <p:nvSpPr>
          <p:cNvPr id="7" name="TextBox 6"/>
          <p:cNvSpPr txBox="1"/>
          <p:nvPr/>
        </p:nvSpPr>
        <p:spPr>
          <a:xfrm>
            <a:off x="576072" y="704088"/>
            <a:ext cx="8366760" cy="530352"/>
          </a:xfrm>
          <a:prstGeom prst="rect">
            <a:avLst/>
          </a:prstGeom>
          <a:noFill/>
        </p:spPr>
        <p:txBody>
          <a:bodyPr wrap="square" lIns="0" tIns="9144" rIns="0" bIns="9144" anchor="ctr">
            <a:spAutoFit/>
          </a:bodyPr>
          <a:lstStyle/>
          <a:p>
            <a:pPr algn="l">
              <a:spcBef>
                <a:spcPts val="0"/>
              </a:spcBef>
              <a:spcAft>
                <a:spcPts val="0"/>
              </a:spcAft>
            </a:pPr>
            <a:r>
              <a:rPr sz="2750" b="1" i="0">
                <a:solidFill>
                  <a:srgbClr val="172B46"/>
                </a:solidFill>
                <a:latin typeface="Aptos"/>
              </a:rPr>
              <a:t>Vehicle Event Logging and Response System</a:t>
            </a:r>
          </a:p>
        </p:txBody>
      </p:sp>
      <p:sp>
        <p:nvSpPr>
          <p:cNvPr id="8" name="TextBox 7"/>
          <p:cNvSpPr txBox="1"/>
          <p:nvPr/>
        </p:nvSpPr>
        <p:spPr>
          <a:xfrm>
            <a:off x="603504" y="1234440"/>
            <a:ext cx="10789920" cy="292608"/>
          </a:xfrm>
          <a:prstGeom prst="rect">
            <a:avLst/>
          </a:prstGeom>
          <a:noFill/>
        </p:spPr>
        <p:txBody>
          <a:bodyPr wrap="square" lIns="0" tIns="9144" rIns="0" bIns="9144" anchor="ctr">
            <a:spAutoFit/>
          </a:bodyPr>
          <a:lstStyle/>
          <a:p>
            <a:pPr algn="l">
              <a:spcBef>
                <a:spcPts val="0"/>
              </a:spcBef>
              <a:spcAft>
                <a:spcPts val="0"/>
              </a:spcAft>
            </a:pPr>
            <a:r>
              <a:rPr sz="1230" b="0" i="0">
                <a:solidFill>
                  <a:srgbClr val="5B6F86"/>
                </a:solidFill>
                <a:latin typeface="Aptos"/>
              </a:rPr>
              <a:t>Register-Level Sensor Interfacing  •  Peripheral Configuration  •  Real-Time Event Handling on STM32F411CEU6</a:t>
            </a:r>
          </a:p>
        </p:txBody>
      </p:sp>
      <p:sp>
        <p:nvSpPr>
          <p:cNvPr id="9" name="Rounded Rectangle 8"/>
          <p:cNvSpPr/>
          <p:nvPr/>
        </p:nvSpPr>
        <p:spPr>
          <a:xfrm>
            <a:off x="530352" y="1719072"/>
            <a:ext cx="2971800" cy="2542032"/>
          </a:xfrm>
          <a:prstGeom prst="roundRect">
            <a:avLst/>
          </a:prstGeom>
          <a:solidFill>
            <a:srgbClr val="FFFFFF"/>
          </a:solidFill>
          <a:ln w="12700">
            <a:solidFill>
              <a:srgbClr val="D7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819656"/>
            <a:ext cx="2606040" cy="265176"/>
          </a:xfrm>
          <a:prstGeom prst="rect">
            <a:avLst/>
          </a:prstGeom>
          <a:noFill/>
        </p:spPr>
        <p:txBody>
          <a:bodyPr wrap="square" lIns="0" tIns="9144" rIns="0" bIns="9144" anchor="ctr">
            <a:spAutoFit/>
          </a:bodyPr>
          <a:lstStyle/>
          <a:p>
            <a:pPr algn="l">
              <a:spcBef>
                <a:spcPts val="0"/>
              </a:spcBef>
              <a:spcAft>
                <a:spcPts val="0"/>
              </a:spcAft>
            </a:pPr>
            <a:r>
              <a:rPr sz="1019" b="1" i="0">
                <a:solidFill>
                  <a:srgbClr val="172B46"/>
                </a:solidFill>
                <a:latin typeface="Aptos"/>
              </a:rPr>
              <a:t>01  SENSOR ACQUISITION</a:t>
            </a:r>
          </a:p>
        </p:txBody>
      </p:sp>
      <p:sp>
        <p:nvSpPr>
          <p:cNvPr id="11" name="Rectangle 10"/>
          <p:cNvSpPr/>
          <p:nvPr/>
        </p:nvSpPr>
        <p:spPr>
          <a:xfrm>
            <a:off x="713232" y="2112264"/>
            <a:ext cx="457200" cy="32004"/>
          </a:xfrm>
          <a:prstGeom prst="rect">
            <a:avLst/>
          </a:prstGeom>
          <a:solidFill>
            <a:srgbClr val="079AA3"/>
          </a:solidFill>
          <a:ln w="1270">
            <a:solidFill>
              <a:srgbClr val="079A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1520" y="2258568"/>
            <a:ext cx="2578608" cy="539496"/>
          </a:xfrm>
          <a:prstGeom prst="roundRect">
            <a:avLst/>
          </a:prstGeom>
          <a:solidFill>
            <a:srgbClr val="E7F6F5"/>
          </a:solidFill>
          <a:ln w="508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1248" y="2377440"/>
            <a:ext cx="292608" cy="292608"/>
          </a:xfrm>
          <a:prstGeom prst="ellipse">
            <a:avLst/>
          </a:prstGeom>
          <a:solidFill>
            <a:srgbClr val="079AA3"/>
          </a:solidFill>
          <a:ln w="1270">
            <a:solidFill>
              <a:srgbClr val="079A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2377440"/>
            <a:ext cx="292608" cy="292608"/>
          </a:xfrm>
          <a:prstGeom prst="rect">
            <a:avLst/>
          </a:prstGeom>
          <a:noFill/>
        </p:spPr>
        <p:txBody>
          <a:bodyPr wrap="square" lIns="0" tIns="9144" rIns="0" bIns="9144" anchor="ctr">
            <a:spAutoFit/>
          </a:bodyPr>
          <a:lstStyle/>
          <a:p>
            <a:pPr algn="ctr">
              <a:spcBef>
                <a:spcPts val="0"/>
              </a:spcBef>
              <a:spcAft>
                <a:spcPts val="0"/>
              </a:spcAft>
            </a:pPr>
            <a:r>
              <a:rPr sz="919" b="1" i="0">
                <a:solidFill>
                  <a:srgbClr val="FFFFFF"/>
                </a:solidFill>
                <a:latin typeface="Aptos"/>
              </a:rPr>
              <a:t>M</a:t>
            </a:r>
          </a:p>
        </p:txBody>
      </p:sp>
      <p:sp>
        <p:nvSpPr>
          <p:cNvPr id="15" name="TextBox 14"/>
          <p:cNvSpPr txBox="1"/>
          <p:nvPr/>
        </p:nvSpPr>
        <p:spPr>
          <a:xfrm>
            <a:off x="1216152" y="2308860"/>
            <a:ext cx="2011679" cy="228600"/>
          </a:xfrm>
          <a:prstGeom prst="rect">
            <a:avLst/>
          </a:prstGeom>
          <a:noFill/>
        </p:spPr>
        <p:txBody>
          <a:bodyPr wrap="square" lIns="0" tIns="9144" rIns="0" bIns="9144" anchor="ctr">
            <a:spAutoFit/>
          </a:bodyPr>
          <a:lstStyle/>
          <a:p>
            <a:pPr algn="l">
              <a:spcBef>
                <a:spcPts val="0"/>
              </a:spcBef>
              <a:spcAft>
                <a:spcPts val="0"/>
              </a:spcAft>
            </a:pPr>
            <a:r>
              <a:rPr sz="1019" b="1" i="0">
                <a:solidFill>
                  <a:srgbClr val="172B46"/>
                </a:solidFill>
                <a:latin typeface="Aptos"/>
              </a:rPr>
              <a:t>MPU6050</a:t>
            </a:r>
          </a:p>
        </p:txBody>
      </p:sp>
      <p:sp>
        <p:nvSpPr>
          <p:cNvPr id="16" name="TextBox 15"/>
          <p:cNvSpPr txBox="1"/>
          <p:nvPr/>
        </p:nvSpPr>
        <p:spPr>
          <a:xfrm>
            <a:off x="1216152" y="2537460"/>
            <a:ext cx="2011679" cy="182880"/>
          </a:xfrm>
          <a:prstGeom prst="rect">
            <a:avLst/>
          </a:prstGeom>
          <a:noFill/>
        </p:spPr>
        <p:txBody>
          <a:bodyPr wrap="square" lIns="0" tIns="9144" rIns="0" bIns="9144" anchor="ctr">
            <a:spAutoFit/>
          </a:bodyPr>
          <a:lstStyle/>
          <a:p>
            <a:pPr algn="l">
              <a:spcBef>
                <a:spcPts val="0"/>
              </a:spcBef>
              <a:spcAft>
                <a:spcPts val="0"/>
              </a:spcAft>
            </a:pPr>
            <a:r>
              <a:rPr sz="810" b="1" i="0">
                <a:solidFill>
                  <a:srgbClr val="079AA3"/>
                </a:solidFill>
                <a:latin typeface="Aptos"/>
              </a:rPr>
              <a:t>I²C  •  Acceleration + angular rate</a:t>
            </a:r>
          </a:p>
        </p:txBody>
      </p:sp>
      <p:sp>
        <p:nvSpPr>
          <p:cNvPr id="17" name="Rounded Rectangle 16"/>
          <p:cNvSpPr/>
          <p:nvPr/>
        </p:nvSpPr>
        <p:spPr>
          <a:xfrm>
            <a:off x="731520" y="2898648"/>
            <a:ext cx="2578608" cy="539496"/>
          </a:xfrm>
          <a:prstGeom prst="roundRect">
            <a:avLst/>
          </a:prstGeom>
          <a:solidFill>
            <a:srgbClr val="EAF2FC"/>
          </a:solidFill>
          <a:ln w="508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41248" y="3017520"/>
            <a:ext cx="292608" cy="292608"/>
          </a:xfrm>
          <a:prstGeom prst="ellipse">
            <a:avLst/>
          </a:prstGeom>
          <a:solidFill>
            <a:srgbClr val="2B73C7"/>
          </a:solidFill>
          <a:ln w="1270">
            <a:solidFill>
              <a:srgbClr val="2B7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3017520"/>
            <a:ext cx="292608" cy="292608"/>
          </a:xfrm>
          <a:prstGeom prst="rect">
            <a:avLst/>
          </a:prstGeom>
          <a:noFill/>
        </p:spPr>
        <p:txBody>
          <a:bodyPr wrap="square" lIns="0" tIns="9144" rIns="0" bIns="9144" anchor="ctr">
            <a:spAutoFit/>
          </a:bodyPr>
          <a:lstStyle/>
          <a:p>
            <a:pPr algn="ctr">
              <a:spcBef>
                <a:spcPts val="0"/>
              </a:spcBef>
              <a:spcAft>
                <a:spcPts val="0"/>
              </a:spcAft>
            </a:pPr>
            <a:r>
              <a:rPr sz="919" b="1" i="0">
                <a:solidFill>
                  <a:srgbClr val="FFFFFF"/>
                </a:solidFill>
                <a:latin typeface="Aptos"/>
              </a:rPr>
              <a:t>T</a:t>
            </a:r>
          </a:p>
        </p:txBody>
      </p:sp>
      <p:sp>
        <p:nvSpPr>
          <p:cNvPr id="20" name="TextBox 19"/>
          <p:cNvSpPr txBox="1"/>
          <p:nvPr/>
        </p:nvSpPr>
        <p:spPr>
          <a:xfrm>
            <a:off x="1216152" y="2948940"/>
            <a:ext cx="2011679" cy="228600"/>
          </a:xfrm>
          <a:prstGeom prst="rect">
            <a:avLst/>
          </a:prstGeom>
          <a:noFill/>
        </p:spPr>
        <p:txBody>
          <a:bodyPr wrap="square" lIns="0" tIns="9144" rIns="0" bIns="9144" anchor="ctr">
            <a:spAutoFit/>
          </a:bodyPr>
          <a:lstStyle/>
          <a:p>
            <a:pPr algn="l">
              <a:spcBef>
                <a:spcPts val="0"/>
              </a:spcBef>
              <a:spcAft>
                <a:spcPts val="0"/>
              </a:spcAft>
            </a:pPr>
            <a:r>
              <a:rPr sz="1019" b="1" i="0">
                <a:solidFill>
                  <a:srgbClr val="172B46"/>
                </a:solidFill>
                <a:latin typeface="Aptos"/>
              </a:rPr>
              <a:t>LM35* temperature sensor</a:t>
            </a:r>
          </a:p>
        </p:txBody>
      </p:sp>
      <p:sp>
        <p:nvSpPr>
          <p:cNvPr id="21" name="TextBox 20"/>
          <p:cNvSpPr txBox="1"/>
          <p:nvPr/>
        </p:nvSpPr>
        <p:spPr>
          <a:xfrm>
            <a:off x="1216152" y="3177540"/>
            <a:ext cx="2011679" cy="182880"/>
          </a:xfrm>
          <a:prstGeom prst="rect">
            <a:avLst/>
          </a:prstGeom>
          <a:noFill/>
        </p:spPr>
        <p:txBody>
          <a:bodyPr wrap="square" lIns="0" tIns="9144" rIns="0" bIns="9144" anchor="ctr">
            <a:spAutoFit/>
          </a:bodyPr>
          <a:lstStyle/>
          <a:p>
            <a:pPr algn="l">
              <a:spcBef>
                <a:spcPts val="0"/>
              </a:spcBef>
              <a:spcAft>
                <a:spcPts val="0"/>
              </a:spcAft>
            </a:pPr>
            <a:r>
              <a:rPr sz="810" b="1" i="0">
                <a:solidFill>
                  <a:srgbClr val="2B73C7"/>
                </a:solidFill>
                <a:latin typeface="Aptos"/>
              </a:rPr>
              <a:t>ADC  •  Analog temperature input</a:t>
            </a:r>
          </a:p>
        </p:txBody>
      </p:sp>
      <p:sp>
        <p:nvSpPr>
          <p:cNvPr id="22" name="Rounded Rectangle 21"/>
          <p:cNvSpPr/>
          <p:nvPr/>
        </p:nvSpPr>
        <p:spPr>
          <a:xfrm>
            <a:off x="731520" y="3538728"/>
            <a:ext cx="2578608" cy="539496"/>
          </a:xfrm>
          <a:prstGeom prst="roundRect">
            <a:avLst/>
          </a:prstGeom>
          <a:solidFill>
            <a:srgbClr val="F0EDFB"/>
          </a:solidFill>
          <a:ln w="5080">
            <a:solidFill>
              <a:srgbClr val="F0E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41248" y="3657600"/>
            <a:ext cx="292608" cy="292608"/>
          </a:xfrm>
          <a:prstGeom prst="ellipse">
            <a:avLst/>
          </a:prstGeom>
          <a:solidFill>
            <a:srgbClr val="7860C8"/>
          </a:solidFill>
          <a:ln w="1270">
            <a:solidFill>
              <a:srgbClr val="786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8" y="3657600"/>
            <a:ext cx="292608" cy="292608"/>
          </a:xfrm>
          <a:prstGeom prst="rect">
            <a:avLst/>
          </a:prstGeom>
          <a:noFill/>
        </p:spPr>
        <p:txBody>
          <a:bodyPr wrap="square" lIns="0" tIns="9144" rIns="0" bIns="9144" anchor="ctr">
            <a:spAutoFit/>
          </a:bodyPr>
          <a:lstStyle/>
          <a:p>
            <a:pPr algn="ctr">
              <a:spcBef>
                <a:spcPts val="0"/>
              </a:spcBef>
              <a:spcAft>
                <a:spcPts val="0"/>
              </a:spcAft>
            </a:pPr>
            <a:r>
              <a:rPr sz="919" b="1" i="0">
                <a:solidFill>
                  <a:srgbClr val="FFFFFF"/>
                </a:solidFill>
                <a:latin typeface="Aptos"/>
              </a:rPr>
              <a:t>D</a:t>
            </a:r>
          </a:p>
        </p:txBody>
      </p:sp>
      <p:sp>
        <p:nvSpPr>
          <p:cNvPr id="25" name="TextBox 24"/>
          <p:cNvSpPr txBox="1"/>
          <p:nvPr/>
        </p:nvSpPr>
        <p:spPr>
          <a:xfrm>
            <a:off x="1216152" y="3589020"/>
            <a:ext cx="2011679" cy="228600"/>
          </a:xfrm>
          <a:prstGeom prst="rect">
            <a:avLst/>
          </a:prstGeom>
          <a:noFill/>
        </p:spPr>
        <p:txBody>
          <a:bodyPr wrap="square" lIns="0" tIns="9144" rIns="0" bIns="9144" anchor="ctr">
            <a:spAutoFit/>
          </a:bodyPr>
          <a:lstStyle/>
          <a:p>
            <a:pPr algn="l">
              <a:spcBef>
                <a:spcPts val="0"/>
              </a:spcBef>
              <a:spcAft>
                <a:spcPts val="0"/>
              </a:spcAft>
            </a:pPr>
            <a:r>
              <a:rPr sz="1019" b="1" i="0">
                <a:solidFill>
                  <a:srgbClr val="172B46"/>
                </a:solidFill>
                <a:latin typeface="Aptos"/>
              </a:rPr>
              <a:t>HC-SR04* ultrasonic sensor</a:t>
            </a:r>
          </a:p>
        </p:txBody>
      </p:sp>
      <p:sp>
        <p:nvSpPr>
          <p:cNvPr id="26" name="TextBox 25"/>
          <p:cNvSpPr txBox="1"/>
          <p:nvPr/>
        </p:nvSpPr>
        <p:spPr>
          <a:xfrm>
            <a:off x="1216152" y="3817620"/>
            <a:ext cx="2011679" cy="182880"/>
          </a:xfrm>
          <a:prstGeom prst="rect">
            <a:avLst/>
          </a:prstGeom>
          <a:noFill/>
        </p:spPr>
        <p:txBody>
          <a:bodyPr wrap="square" lIns="0" tIns="9144" rIns="0" bIns="9144" anchor="ctr">
            <a:spAutoFit/>
          </a:bodyPr>
          <a:lstStyle/>
          <a:p>
            <a:pPr algn="l">
              <a:spcBef>
                <a:spcPts val="0"/>
              </a:spcBef>
              <a:spcAft>
                <a:spcPts val="0"/>
              </a:spcAft>
            </a:pPr>
            <a:r>
              <a:rPr sz="810" b="1" i="0">
                <a:solidFill>
                  <a:srgbClr val="7860C8"/>
                </a:solidFill>
                <a:latin typeface="Aptos"/>
              </a:rPr>
              <a:t>GPIO + TIMx  •  Echo pulse / distance</a:t>
            </a:r>
          </a:p>
        </p:txBody>
      </p:sp>
      <p:sp>
        <p:nvSpPr>
          <p:cNvPr id="27" name="Chevron 26"/>
          <p:cNvSpPr/>
          <p:nvPr/>
        </p:nvSpPr>
        <p:spPr>
          <a:xfrm>
            <a:off x="3584448" y="2724912"/>
            <a:ext cx="329184" cy="502920"/>
          </a:xfrm>
          <a:prstGeom prst="chevron">
            <a:avLst/>
          </a:prstGeom>
          <a:solidFill>
            <a:srgbClr val="079AA3"/>
          </a:solidFill>
          <a:ln w="1270">
            <a:solidFill>
              <a:srgbClr val="079A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56432" y="3264408"/>
            <a:ext cx="603504" cy="292608"/>
          </a:xfrm>
          <a:prstGeom prst="rect">
            <a:avLst/>
          </a:prstGeom>
          <a:noFill/>
        </p:spPr>
        <p:txBody>
          <a:bodyPr wrap="square" lIns="0" tIns="9144" rIns="0" bIns="9144" anchor="ctr">
            <a:spAutoFit/>
          </a:bodyPr>
          <a:lstStyle/>
          <a:p>
            <a:pPr algn="ctr">
              <a:spcBef>
                <a:spcPts val="0"/>
              </a:spcBef>
              <a:spcAft>
                <a:spcPts val="0"/>
              </a:spcAft>
            </a:pPr>
            <a:r>
              <a:rPr sz="760" b="1" i="0">
                <a:solidFill>
                  <a:srgbClr val="5B6F86"/>
                </a:solidFill>
                <a:latin typeface="Aptos"/>
              </a:rPr>
              <a:t>signals</a:t>
            </a:r>
          </a:p>
        </p:txBody>
      </p:sp>
      <p:sp>
        <p:nvSpPr>
          <p:cNvPr id="29" name="Rounded Rectangle 28"/>
          <p:cNvSpPr/>
          <p:nvPr/>
        </p:nvSpPr>
        <p:spPr>
          <a:xfrm>
            <a:off x="4005072" y="1975104"/>
            <a:ext cx="2157984" cy="1920240"/>
          </a:xfrm>
          <a:prstGeom prst="roundRect">
            <a:avLst/>
          </a:prstGeom>
          <a:solidFill>
            <a:srgbClr val="EAF2FC"/>
          </a:solidFill>
          <a:ln w="16510">
            <a:solidFill>
              <a:srgbClr val="BDD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288536" y="2194560"/>
            <a:ext cx="1591056" cy="466344"/>
          </a:xfrm>
          <a:prstGeom prst="roundRect">
            <a:avLst/>
          </a:prstGeom>
          <a:solidFill>
            <a:srgbClr val="172B46"/>
          </a:solidFill>
          <a:ln w="5080">
            <a:solidFill>
              <a:srgbClr val="17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43400" y="2221992"/>
            <a:ext cx="1481328" cy="411480"/>
          </a:xfrm>
          <a:prstGeom prst="rect">
            <a:avLst/>
          </a:prstGeom>
          <a:noFill/>
        </p:spPr>
        <p:txBody>
          <a:bodyPr wrap="square" lIns="0" tIns="9144" rIns="0" bIns="9144" anchor="ctr">
            <a:spAutoFit/>
          </a:bodyPr>
          <a:lstStyle/>
          <a:p>
            <a:pPr algn="ctr">
              <a:spcBef>
                <a:spcPts val="0"/>
              </a:spcBef>
              <a:spcAft>
                <a:spcPts val="0"/>
              </a:spcAft>
            </a:pPr>
            <a:r>
              <a:rPr sz="1250" b="1" i="0">
                <a:solidFill>
                  <a:srgbClr val="FFFFFF"/>
                </a:solidFill>
                <a:latin typeface="Aptos"/>
              </a:rPr>
              <a:t>STM32F411CEU6</a:t>
            </a:r>
          </a:p>
        </p:txBody>
      </p:sp>
      <p:sp>
        <p:nvSpPr>
          <p:cNvPr id="32" name="TextBox 31"/>
          <p:cNvSpPr txBox="1"/>
          <p:nvPr/>
        </p:nvSpPr>
        <p:spPr>
          <a:xfrm>
            <a:off x="4187952" y="2734056"/>
            <a:ext cx="1792224" cy="219456"/>
          </a:xfrm>
          <a:prstGeom prst="rect">
            <a:avLst/>
          </a:prstGeom>
          <a:noFill/>
        </p:spPr>
        <p:txBody>
          <a:bodyPr wrap="square" lIns="0" tIns="9144" rIns="0" bIns="9144" anchor="ctr">
            <a:spAutoFit/>
          </a:bodyPr>
          <a:lstStyle/>
          <a:p>
            <a:pPr algn="ctr">
              <a:spcBef>
                <a:spcPts val="0"/>
              </a:spcBef>
              <a:spcAft>
                <a:spcPts val="0"/>
              </a:spcAft>
            </a:pPr>
            <a:r>
              <a:rPr sz="940" b="1" i="0">
                <a:solidFill>
                  <a:srgbClr val="172B46"/>
                </a:solidFill>
                <a:latin typeface="Aptos"/>
              </a:rPr>
              <a:t>ARM Cortex-M4 controller</a:t>
            </a:r>
          </a:p>
        </p:txBody>
      </p:sp>
      <p:sp>
        <p:nvSpPr>
          <p:cNvPr id="33" name="TextBox 32"/>
          <p:cNvSpPr txBox="1"/>
          <p:nvPr/>
        </p:nvSpPr>
        <p:spPr>
          <a:xfrm>
            <a:off x="4187952" y="3017520"/>
            <a:ext cx="1792224" cy="201168"/>
          </a:xfrm>
          <a:prstGeom prst="rect">
            <a:avLst/>
          </a:prstGeom>
          <a:noFill/>
        </p:spPr>
        <p:txBody>
          <a:bodyPr wrap="square" lIns="0" tIns="9144" rIns="0" bIns="9144" anchor="ctr">
            <a:spAutoFit/>
          </a:bodyPr>
          <a:lstStyle/>
          <a:p>
            <a:pPr algn="ctr">
              <a:spcBef>
                <a:spcPts val="0"/>
              </a:spcBef>
              <a:spcAft>
                <a:spcPts val="0"/>
              </a:spcAft>
            </a:pPr>
            <a:r>
              <a:rPr sz="830" b="0" i="0">
                <a:solidFill>
                  <a:srgbClr val="5B6F86"/>
                </a:solidFill>
                <a:latin typeface="Aptos"/>
              </a:rPr>
              <a:t>Acquire  •  Process  •  Decide</a:t>
            </a:r>
          </a:p>
        </p:txBody>
      </p:sp>
      <p:sp>
        <p:nvSpPr>
          <p:cNvPr id="34" name="Rounded Rectangle 33"/>
          <p:cNvSpPr/>
          <p:nvPr/>
        </p:nvSpPr>
        <p:spPr>
          <a:xfrm>
            <a:off x="4169663" y="3328416"/>
            <a:ext cx="557784" cy="265176"/>
          </a:xfrm>
          <a:prstGeom prst="roundRect">
            <a:avLst/>
          </a:prstGeom>
          <a:solidFill>
            <a:srgbClr val="FFFFFF"/>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69663" y="3328416"/>
            <a:ext cx="557784" cy="265176"/>
          </a:xfrm>
          <a:prstGeom prst="rect">
            <a:avLst/>
          </a:prstGeom>
          <a:noFill/>
        </p:spPr>
        <p:txBody>
          <a:bodyPr wrap="square" lIns="9144" tIns="9144" rIns="9144" bIns="9144" anchor="ctr">
            <a:spAutoFit/>
          </a:bodyPr>
          <a:lstStyle/>
          <a:p>
            <a:pPr algn="ctr">
              <a:spcBef>
                <a:spcPts val="0"/>
              </a:spcBef>
              <a:spcAft>
                <a:spcPts val="0"/>
              </a:spcAft>
            </a:pPr>
            <a:r>
              <a:rPr sz="790" b="1" i="0">
                <a:solidFill>
                  <a:srgbClr val="079AA3"/>
                </a:solidFill>
                <a:latin typeface="Aptos"/>
              </a:rPr>
              <a:t>I²C</a:t>
            </a:r>
          </a:p>
        </p:txBody>
      </p:sp>
      <p:sp>
        <p:nvSpPr>
          <p:cNvPr id="36" name="Rounded Rectangle 35"/>
          <p:cNvSpPr/>
          <p:nvPr/>
        </p:nvSpPr>
        <p:spPr>
          <a:xfrm>
            <a:off x="4773168" y="3328416"/>
            <a:ext cx="557784" cy="265176"/>
          </a:xfrm>
          <a:prstGeom prst="roundRect">
            <a:avLst/>
          </a:prstGeom>
          <a:solidFill>
            <a:srgbClr val="FFFFFF"/>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73168" y="3328416"/>
            <a:ext cx="557784" cy="265176"/>
          </a:xfrm>
          <a:prstGeom prst="rect">
            <a:avLst/>
          </a:prstGeom>
          <a:noFill/>
        </p:spPr>
        <p:txBody>
          <a:bodyPr wrap="square" lIns="9144" tIns="9144" rIns="9144" bIns="9144" anchor="ctr">
            <a:spAutoFit/>
          </a:bodyPr>
          <a:lstStyle/>
          <a:p>
            <a:pPr algn="ctr">
              <a:spcBef>
                <a:spcPts val="0"/>
              </a:spcBef>
              <a:spcAft>
                <a:spcPts val="0"/>
              </a:spcAft>
            </a:pPr>
            <a:r>
              <a:rPr sz="790" b="1" i="0">
                <a:solidFill>
                  <a:srgbClr val="2B73C7"/>
                </a:solidFill>
                <a:latin typeface="Aptos"/>
              </a:rPr>
              <a:t>ADC</a:t>
            </a:r>
          </a:p>
        </p:txBody>
      </p:sp>
      <p:sp>
        <p:nvSpPr>
          <p:cNvPr id="38" name="Rounded Rectangle 37"/>
          <p:cNvSpPr/>
          <p:nvPr/>
        </p:nvSpPr>
        <p:spPr>
          <a:xfrm>
            <a:off x="5376672" y="3328416"/>
            <a:ext cx="640080" cy="265176"/>
          </a:xfrm>
          <a:prstGeom prst="roundRect">
            <a:avLst/>
          </a:prstGeom>
          <a:solidFill>
            <a:srgbClr val="FFFFFF"/>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76672" y="3328416"/>
            <a:ext cx="640080" cy="265176"/>
          </a:xfrm>
          <a:prstGeom prst="rect">
            <a:avLst/>
          </a:prstGeom>
          <a:noFill/>
        </p:spPr>
        <p:txBody>
          <a:bodyPr wrap="square" lIns="9144" tIns="9144" rIns="9144" bIns="9144" anchor="ctr">
            <a:spAutoFit/>
          </a:bodyPr>
          <a:lstStyle/>
          <a:p>
            <a:pPr algn="ctr">
              <a:spcBef>
                <a:spcPts val="0"/>
              </a:spcBef>
              <a:spcAft>
                <a:spcPts val="0"/>
              </a:spcAft>
            </a:pPr>
            <a:r>
              <a:rPr sz="790" b="1" i="0">
                <a:solidFill>
                  <a:srgbClr val="7860C8"/>
                </a:solidFill>
                <a:latin typeface="Aptos"/>
              </a:rPr>
              <a:t>TIMx</a:t>
            </a:r>
          </a:p>
        </p:txBody>
      </p:sp>
      <p:sp>
        <p:nvSpPr>
          <p:cNvPr id="40" name="Chevron 39"/>
          <p:cNvSpPr/>
          <p:nvPr/>
        </p:nvSpPr>
        <p:spPr>
          <a:xfrm>
            <a:off x="6263640" y="2724912"/>
            <a:ext cx="329184" cy="502920"/>
          </a:xfrm>
          <a:prstGeom prst="chevron">
            <a:avLst/>
          </a:prstGeom>
          <a:solidFill>
            <a:srgbClr val="2B73C7"/>
          </a:solidFill>
          <a:ln w="1270">
            <a:solidFill>
              <a:srgbClr val="2B7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26480" y="3264408"/>
            <a:ext cx="621792" cy="292608"/>
          </a:xfrm>
          <a:prstGeom prst="rect">
            <a:avLst/>
          </a:prstGeom>
          <a:noFill/>
        </p:spPr>
        <p:txBody>
          <a:bodyPr wrap="square" lIns="0" tIns="9144" rIns="0" bIns="9144" anchor="ctr">
            <a:spAutoFit/>
          </a:bodyPr>
          <a:lstStyle/>
          <a:p>
            <a:pPr algn="ctr">
              <a:spcBef>
                <a:spcPts val="0"/>
              </a:spcBef>
              <a:spcAft>
                <a:spcPts val="0"/>
              </a:spcAft>
            </a:pPr>
            <a:r>
              <a:rPr sz="740" b="1" i="0">
                <a:solidFill>
                  <a:srgbClr val="5B6F86"/>
                </a:solidFill>
                <a:latin typeface="Aptos"/>
              </a:rPr>
              <a:t>event data</a:t>
            </a:r>
          </a:p>
        </p:txBody>
      </p:sp>
      <p:sp>
        <p:nvSpPr>
          <p:cNvPr id="42" name="Rounded Rectangle 41"/>
          <p:cNvSpPr/>
          <p:nvPr/>
        </p:nvSpPr>
        <p:spPr>
          <a:xfrm>
            <a:off x="6629400" y="1705356"/>
            <a:ext cx="4956048" cy="2542032"/>
          </a:xfrm>
          <a:prstGeom prst="roundRect">
            <a:avLst/>
          </a:prstGeom>
          <a:solidFill>
            <a:srgbClr val="FFFFFF"/>
          </a:solidFill>
          <a:ln w="12700">
            <a:solidFill>
              <a:srgbClr val="D7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903720" y="1819656"/>
            <a:ext cx="4480560" cy="265176"/>
          </a:xfrm>
          <a:prstGeom prst="rect">
            <a:avLst/>
          </a:prstGeom>
          <a:noFill/>
        </p:spPr>
        <p:txBody>
          <a:bodyPr wrap="square" lIns="0" tIns="9144" rIns="0" bIns="9144" anchor="ctr">
            <a:spAutoFit/>
          </a:bodyPr>
          <a:lstStyle/>
          <a:p>
            <a:pPr algn="l">
              <a:spcBef>
                <a:spcPts val="0"/>
              </a:spcBef>
              <a:spcAft>
                <a:spcPts val="0"/>
              </a:spcAft>
            </a:pPr>
            <a:r>
              <a:rPr sz="1019" b="1" i="0">
                <a:solidFill>
                  <a:srgbClr val="172B46"/>
                </a:solidFill>
                <a:latin typeface="Aptos"/>
              </a:rPr>
              <a:t>02  EVENT CLASSIFICATION &amp; RESPONSE</a:t>
            </a:r>
          </a:p>
        </p:txBody>
      </p:sp>
      <p:sp>
        <p:nvSpPr>
          <p:cNvPr id="44" name="Rectangle 43"/>
          <p:cNvSpPr/>
          <p:nvPr/>
        </p:nvSpPr>
        <p:spPr>
          <a:xfrm>
            <a:off x="6903720" y="2112264"/>
            <a:ext cx="457200" cy="32004"/>
          </a:xfrm>
          <a:prstGeom prst="rect">
            <a:avLst/>
          </a:prstGeom>
          <a:solidFill>
            <a:srgbClr val="C17B16"/>
          </a:solidFill>
          <a:ln w="1270">
            <a:solidFill>
              <a:srgbClr val="C17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912864" y="2267712"/>
            <a:ext cx="2011680" cy="685800"/>
          </a:xfrm>
          <a:prstGeom prst="roundRect">
            <a:avLst/>
          </a:prstGeom>
          <a:solidFill>
            <a:srgbClr val="FFF3DE"/>
          </a:solidFill>
          <a:ln w="8890">
            <a:solidFill>
              <a:srgbClr val="F3D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040880" y="2331720"/>
            <a:ext cx="1755648" cy="219456"/>
          </a:xfrm>
          <a:prstGeom prst="rect">
            <a:avLst/>
          </a:prstGeom>
          <a:noFill/>
        </p:spPr>
        <p:txBody>
          <a:bodyPr wrap="square" lIns="0" tIns="9144" rIns="0" bIns="9144" anchor="ctr">
            <a:spAutoFit/>
          </a:bodyPr>
          <a:lstStyle/>
          <a:p>
            <a:pPr algn="ctr">
              <a:spcBef>
                <a:spcPts val="0"/>
              </a:spcBef>
              <a:spcAft>
                <a:spcPts val="0"/>
              </a:spcAft>
            </a:pPr>
            <a:r>
              <a:rPr sz="1000" b="1" i="0">
                <a:solidFill>
                  <a:srgbClr val="172B46"/>
                </a:solidFill>
                <a:latin typeface="Aptos"/>
              </a:rPr>
              <a:t>Evaluate thresholds</a:t>
            </a:r>
          </a:p>
        </p:txBody>
      </p:sp>
      <p:sp>
        <p:nvSpPr>
          <p:cNvPr id="47" name="TextBox 46"/>
          <p:cNvSpPr txBox="1"/>
          <p:nvPr/>
        </p:nvSpPr>
        <p:spPr>
          <a:xfrm>
            <a:off x="7031736" y="2578608"/>
            <a:ext cx="1773936" cy="256032"/>
          </a:xfrm>
          <a:prstGeom prst="rect">
            <a:avLst/>
          </a:prstGeom>
          <a:noFill/>
        </p:spPr>
        <p:txBody>
          <a:bodyPr wrap="square" lIns="0" tIns="9144" rIns="0" bIns="9144" anchor="ctr">
            <a:spAutoFit/>
          </a:bodyPr>
          <a:lstStyle/>
          <a:p>
            <a:pPr algn="ctr">
              <a:spcBef>
                <a:spcPts val="0"/>
              </a:spcBef>
              <a:spcAft>
                <a:spcPts val="0"/>
              </a:spcAft>
            </a:pPr>
            <a:r>
              <a:rPr sz="800" b="0" i="0">
                <a:solidFill>
                  <a:srgbClr val="5B6F86"/>
                </a:solidFill>
                <a:latin typeface="Aptos"/>
              </a:rPr>
              <a:t>Filter readings; classify
motion, heat or proximity</a:t>
            </a:r>
          </a:p>
        </p:txBody>
      </p:sp>
      <p:sp>
        <p:nvSpPr>
          <p:cNvPr id="48" name="Rounded Rectangle 47"/>
          <p:cNvSpPr/>
          <p:nvPr/>
        </p:nvSpPr>
        <p:spPr>
          <a:xfrm>
            <a:off x="9144000" y="2267712"/>
            <a:ext cx="2267712" cy="685800"/>
          </a:xfrm>
          <a:prstGeom prst="roundRect">
            <a:avLst/>
          </a:prstGeom>
          <a:solidFill>
            <a:srgbClr val="E7F5EF"/>
          </a:solidFill>
          <a:ln w="8890">
            <a:solidFill>
              <a:srgbClr val="BFE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253728" y="2331720"/>
            <a:ext cx="2048256" cy="219456"/>
          </a:xfrm>
          <a:prstGeom prst="rect">
            <a:avLst/>
          </a:prstGeom>
          <a:noFill/>
        </p:spPr>
        <p:txBody>
          <a:bodyPr wrap="square" lIns="0" tIns="9144" rIns="0" bIns="9144" anchor="ctr">
            <a:spAutoFit/>
          </a:bodyPr>
          <a:lstStyle/>
          <a:p>
            <a:pPr algn="ctr">
              <a:spcBef>
                <a:spcPts val="0"/>
              </a:spcBef>
              <a:spcAft>
                <a:spcPts val="0"/>
              </a:spcAft>
            </a:pPr>
            <a:r>
              <a:rPr sz="1000" b="1" i="0">
                <a:solidFill>
                  <a:srgbClr val="172B46"/>
                </a:solidFill>
                <a:latin typeface="Aptos"/>
              </a:rPr>
              <a:t>Update event state</a:t>
            </a:r>
          </a:p>
        </p:txBody>
      </p:sp>
      <p:sp>
        <p:nvSpPr>
          <p:cNvPr id="50" name="TextBox 49"/>
          <p:cNvSpPr txBox="1"/>
          <p:nvPr/>
        </p:nvSpPr>
        <p:spPr>
          <a:xfrm>
            <a:off x="9253728" y="2578608"/>
            <a:ext cx="2048256" cy="256032"/>
          </a:xfrm>
          <a:prstGeom prst="rect">
            <a:avLst/>
          </a:prstGeom>
          <a:noFill/>
        </p:spPr>
        <p:txBody>
          <a:bodyPr wrap="square" lIns="0" tIns="9144" rIns="0" bIns="9144" anchor="ctr">
            <a:spAutoFit/>
          </a:bodyPr>
          <a:lstStyle/>
          <a:p>
            <a:pPr algn="ctr">
              <a:spcBef>
                <a:spcPts val="0"/>
              </a:spcBef>
              <a:spcAft>
                <a:spcPts val="0"/>
              </a:spcAft>
            </a:pPr>
            <a:r>
              <a:rPr sz="800" b="0" i="0">
                <a:solidFill>
                  <a:srgbClr val="5B6F86"/>
                </a:solidFill>
                <a:latin typeface="Aptos"/>
              </a:rPr>
              <a:t>Set event flags and apply
alert priority in firmware</a:t>
            </a:r>
          </a:p>
        </p:txBody>
      </p:sp>
      <p:sp>
        <p:nvSpPr>
          <p:cNvPr id="51" name="Chevron 50"/>
          <p:cNvSpPr/>
          <p:nvPr/>
        </p:nvSpPr>
        <p:spPr>
          <a:xfrm>
            <a:off x="8933688" y="2468880"/>
            <a:ext cx="164592" cy="256032"/>
          </a:xfrm>
          <a:prstGeom prst="chevron">
            <a:avLst/>
          </a:prstGeom>
          <a:solidFill>
            <a:srgbClr val="C17B16"/>
          </a:solidFill>
          <a:ln w="1270">
            <a:solidFill>
              <a:srgbClr val="C17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912864" y="3172968"/>
            <a:ext cx="4437888" cy="685800"/>
          </a:xfrm>
          <a:prstGeom prst="roundRect">
            <a:avLst/>
          </a:prstGeom>
          <a:solidFill>
            <a:srgbClr val="FFF5E5"/>
          </a:solidFill>
          <a:ln w="8890">
            <a:solidFill>
              <a:srgbClr val="F3D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7068312" y="3346704"/>
            <a:ext cx="310896" cy="310896"/>
          </a:xfrm>
          <a:prstGeom prst="ellipse">
            <a:avLst/>
          </a:prstGeom>
          <a:solidFill>
            <a:srgbClr val="C17B16"/>
          </a:solidFill>
          <a:ln w="1270">
            <a:solidFill>
              <a:srgbClr val="C17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068312" y="3346704"/>
            <a:ext cx="310896" cy="310896"/>
          </a:xfrm>
          <a:prstGeom prst="rect">
            <a:avLst/>
          </a:prstGeom>
          <a:noFill/>
        </p:spPr>
        <p:txBody>
          <a:bodyPr wrap="square" lIns="0" tIns="9144" rIns="0" bIns="9144" anchor="ctr">
            <a:spAutoFit/>
          </a:bodyPr>
          <a:lstStyle/>
          <a:p>
            <a:pPr algn="ctr">
              <a:spcBef>
                <a:spcPts val="0"/>
              </a:spcBef>
              <a:spcAft>
                <a:spcPts val="0"/>
              </a:spcAft>
            </a:pPr>
            <a:r>
              <a:rPr sz="1300" b="1" i="0">
                <a:solidFill>
                  <a:srgbClr val="FFFFFF"/>
                </a:solidFill>
                <a:latin typeface="Aptos"/>
              </a:rPr>
              <a:t>♪</a:t>
            </a:r>
          </a:p>
        </p:txBody>
      </p:sp>
      <p:sp>
        <p:nvSpPr>
          <p:cNvPr id="55" name="TextBox 54"/>
          <p:cNvSpPr txBox="1"/>
          <p:nvPr/>
        </p:nvSpPr>
        <p:spPr>
          <a:xfrm>
            <a:off x="7470648" y="3231620"/>
            <a:ext cx="1307592" cy="175304"/>
          </a:xfrm>
          <a:prstGeom prst="rect">
            <a:avLst/>
          </a:prstGeom>
          <a:noFill/>
        </p:spPr>
        <p:txBody>
          <a:bodyPr wrap="square" lIns="0" tIns="9144" rIns="0" bIns="9144" anchor="ctr">
            <a:spAutoFit/>
          </a:bodyPr>
          <a:lstStyle/>
          <a:p>
            <a:pPr algn="l">
              <a:spcBef>
                <a:spcPts val="0"/>
              </a:spcBef>
              <a:spcAft>
                <a:spcPts val="0"/>
              </a:spcAft>
            </a:pPr>
            <a:r>
              <a:rPr lang="en-US" sz="1019" b="1" i="0" dirty="0">
                <a:solidFill>
                  <a:srgbClr val="172B46"/>
                </a:solidFill>
                <a:latin typeface="Aptos"/>
              </a:rPr>
              <a:t>Alert</a:t>
            </a:r>
            <a:endParaRPr sz="1019" b="1" i="0" dirty="0">
              <a:solidFill>
                <a:srgbClr val="172B46"/>
              </a:solidFill>
              <a:latin typeface="Aptos"/>
            </a:endParaRPr>
          </a:p>
        </p:txBody>
      </p:sp>
      <p:sp>
        <p:nvSpPr>
          <p:cNvPr id="56" name="TextBox 55"/>
          <p:cNvSpPr txBox="1"/>
          <p:nvPr/>
        </p:nvSpPr>
        <p:spPr>
          <a:xfrm>
            <a:off x="7470648" y="3477808"/>
            <a:ext cx="3685032" cy="149272"/>
          </a:xfrm>
          <a:prstGeom prst="rect">
            <a:avLst/>
          </a:prstGeom>
          <a:noFill/>
        </p:spPr>
        <p:txBody>
          <a:bodyPr wrap="square" lIns="0" tIns="9144" rIns="0" bIns="9144" anchor="ctr">
            <a:spAutoFit/>
          </a:bodyPr>
          <a:lstStyle/>
          <a:p>
            <a:pPr algn="l">
              <a:spcBef>
                <a:spcPts val="0"/>
              </a:spcBef>
              <a:spcAft>
                <a:spcPts val="0"/>
              </a:spcAft>
            </a:pPr>
            <a:r>
              <a:rPr lang="en-US" sz="850" b="0" i="0" dirty="0">
                <a:solidFill>
                  <a:srgbClr val="5B6F86"/>
                </a:solidFill>
                <a:latin typeface="Aptos"/>
              </a:rPr>
              <a:t>Alert emergency services; via UART</a:t>
            </a:r>
            <a:endParaRPr sz="850" b="0" i="0" dirty="0">
              <a:solidFill>
                <a:srgbClr val="5B6F86"/>
              </a:solidFill>
              <a:latin typeface="Aptos"/>
            </a:endParaRPr>
          </a:p>
        </p:txBody>
      </p:sp>
      <p:sp>
        <p:nvSpPr>
          <p:cNvPr id="62" name="Rounded Rectangle 61"/>
          <p:cNvSpPr/>
          <p:nvPr/>
        </p:nvSpPr>
        <p:spPr>
          <a:xfrm>
            <a:off x="530352" y="4370832"/>
            <a:ext cx="11119104" cy="347472"/>
          </a:xfrm>
          <a:prstGeom prst="roundRect">
            <a:avLst/>
          </a:prstGeom>
          <a:solidFill>
            <a:srgbClr val="172B46"/>
          </a:solidFill>
          <a:ln w="2540">
            <a:solidFill>
              <a:srgbClr val="172B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31520" y="4389120"/>
            <a:ext cx="10716768" cy="310896"/>
          </a:xfrm>
          <a:prstGeom prst="rect">
            <a:avLst/>
          </a:prstGeom>
          <a:noFill/>
        </p:spPr>
        <p:txBody>
          <a:bodyPr wrap="square" lIns="9144" tIns="9144" rIns="9144" bIns="9144" anchor="ctr">
            <a:spAutoFit/>
          </a:bodyPr>
          <a:lstStyle/>
          <a:p>
            <a:pPr algn="ctr">
              <a:spcBef>
                <a:spcPts val="0"/>
              </a:spcBef>
              <a:spcAft>
                <a:spcPts val="0"/>
              </a:spcAft>
            </a:pPr>
            <a:r>
              <a:rPr sz="1010" b="1" i="0">
                <a:solidFill>
                  <a:srgbClr val="FFFFFF"/>
                </a:solidFill>
                <a:latin typeface="Aptos"/>
              </a:rPr>
              <a:t>SENSE   →   ACQUIRE   →   CLASSIFY EVENT   →   UPDATE STATUS   →   ALERT</a:t>
            </a:r>
          </a:p>
        </p:txBody>
      </p:sp>
      <p:sp>
        <p:nvSpPr>
          <p:cNvPr id="64" name="Rounded Rectangle 63"/>
          <p:cNvSpPr/>
          <p:nvPr/>
        </p:nvSpPr>
        <p:spPr>
          <a:xfrm>
            <a:off x="530352" y="4910328"/>
            <a:ext cx="5715000" cy="1243584"/>
          </a:xfrm>
          <a:prstGeom prst="roundRect">
            <a:avLst/>
          </a:prstGeom>
          <a:solidFill>
            <a:srgbClr val="FFFFFF"/>
          </a:solidFill>
          <a:ln w="11430">
            <a:solidFill>
              <a:srgbClr val="D7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22376" y="4992624"/>
            <a:ext cx="5376672" cy="237744"/>
          </a:xfrm>
          <a:prstGeom prst="rect">
            <a:avLst/>
          </a:prstGeom>
          <a:noFill/>
        </p:spPr>
        <p:txBody>
          <a:bodyPr wrap="square" lIns="0" tIns="9144" rIns="0" bIns="9144" anchor="ctr">
            <a:spAutoFit/>
          </a:bodyPr>
          <a:lstStyle/>
          <a:p>
            <a:pPr algn="l">
              <a:spcBef>
                <a:spcPts val="0"/>
              </a:spcBef>
              <a:spcAft>
                <a:spcPts val="0"/>
              </a:spcAft>
            </a:pPr>
            <a:r>
              <a:rPr sz="1000" b="1" i="0">
                <a:solidFill>
                  <a:srgbClr val="172B46"/>
                </a:solidFill>
                <a:latin typeface="Aptos"/>
              </a:rPr>
              <a:t>PROJECT TEAM</a:t>
            </a:r>
          </a:p>
        </p:txBody>
      </p:sp>
      <p:sp>
        <p:nvSpPr>
          <p:cNvPr id="66" name="Rectangle 65"/>
          <p:cNvSpPr/>
          <p:nvPr/>
        </p:nvSpPr>
        <p:spPr>
          <a:xfrm>
            <a:off x="731520" y="5266944"/>
            <a:ext cx="420624" cy="32004"/>
          </a:xfrm>
          <a:prstGeom prst="rect">
            <a:avLst/>
          </a:prstGeom>
          <a:solidFill>
            <a:srgbClr val="079AA3"/>
          </a:solidFill>
          <a:ln w="1270">
            <a:solidFill>
              <a:srgbClr val="079A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749808" y="5381244"/>
            <a:ext cx="228600" cy="228600"/>
          </a:xfrm>
          <a:prstGeom prst="ellipse">
            <a:avLst/>
          </a:prstGeom>
          <a:solidFill>
            <a:srgbClr val="E7F6F5"/>
          </a:solidFill>
          <a:ln w="127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49808" y="5381244"/>
            <a:ext cx="228600" cy="228600"/>
          </a:xfrm>
          <a:prstGeom prst="rect">
            <a:avLst/>
          </a:prstGeom>
          <a:noFill/>
        </p:spPr>
        <p:txBody>
          <a:bodyPr wrap="square" lIns="0" tIns="9144" rIns="0" bIns="9144" anchor="ctr">
            <a:spAutoFit/>
          </a:bodyPr>
          <a:lstStyle/>
          <a:p>
            <a:pPr algn="ctr">
              <a:spcBef>
                <a:spcPts val="0"/>
              </a:spcBef>
              <a:spcAft>
                <a:spcPts val="0"/>
              </a:spcAft>
            </a:pPr>
            <a:r>
              <a:rPr sz="750" b="1" i="0">
                <a:solidFill>
                  <a:srgbClr val="079AA3"/>
                </a:solidFill>
                <a:latin typeface="Aptos"/>
              </a:rPr>
              <a:t>01</a:t>
            </a:r>
          </a:p>
        </p:txBody>
      </p:sp>
      <p:sp>
        <p:nvSpPr>
          <p:cNvPr id="69" name="TextBox 68"/>
          <p:cNvSpPr txBox="1"/>
          <p:nvPr/>
        </p:nvSpPr>
        <p:spPr>
          <a:xfrm>
            <a:off x="1060704" y="5358384"/>
            <a:ext cx="2221992" cy="164592"/>
          </a:xfrm>
          <a:prstGeom prst="rect">
            <a:avLst/>
          </a:prstGeom>
          <a:noFill/>
        </p:spPr>
        <p:txBody>
          <a:bodyPr wrap="square" lIns="0" tIns="9144" rIns="0" bIns="9144" anchor="ctr">
            <a:spAutoFit/>
          </a:bodyPr>
          <a:lstStyle/>
          <a:p>
            <a:pPr algn="l">
              <a:spcBef>
                <a:spcPts val="0"/>
              </a:spcBef>
              <a:spcAft>
                <a:spcPts val="0"/>
              </a:spcAft>
            </a:pPr>
            <a:r>
              <a:rPr sz="919" b="1" i="0">
                <a:solidFill>
                  <a:srgbClr val="172B46"/>
                </a:solidFill>
                <a:latin typeface="Aptos"/>
              </a:rPr>
              <a:t>Aniruth Karthik</a:t>
            </a:r>
          </a:p>
        </p:txBody>
      </p:sp>
      <p:sp>
        <p:nvSpPr>
          <p:cNvPr id="70" name="TextBox 69"/>
          <p:cNvSpPr txBox="1"/>
          <p:nvPr/>
        </p:nvSpPr>
        <p:spPr>
          <a:xfrm>
            <a:off x="1060704" y="5522976"/>
            <a:ext cx="2221992" cy="146304"/>
          </a:xfrm>
          <a:prstGeom prst="rect">
            <a:avLst/>
          </a:prstGeom>
          <a:noFill/>
        </p:spPr>
        <p:txBody>
          <a:bodyPr wrap="square" lIns="0" tIns="9144" rIns="0" bIns="9144" anchor="ctr">
            <a:spAutoFit/>
          </a:bodyPr>
          <a:lstStyle/>
          <a:p>
            <a:pPr algn="l">
              <a:spcBef>
                <a:spcPts val="0"/>
              </a:spcBef>
              <a:spcAft>
                <a:spcPts val="0"/>
              </a:spcAft>
            </a:pPr>
            <a:r>
              <a:rPr sz="725" b="0" i="0">
                <a:solidFill>
                  <a:srgbClr val="5B6F86"/>
                </a:solidFill>
                <a:latin typeface="Aptos"/>
              </a:rPr>
              <a:t>CB.SC.U4CSE24502</a:t>
            </a:r>
          </a:p>
        </p:txBody>
      </p:sp>
      <p:sp>
        <p:nvSpPr>
          <p:cNvPr id="71" name="Oval 70"/>
          <p:cNvSpPr/>
          <p:nvPr/>
        </p:nvSpPr>
        <p:spPr>
          <a:xfrm>
            <a:off x="3493008" y="5381244"/>
            <a:ext cx="228600" cy="228600"/>
          </a:xfrm>
          <a:prstGeom prst="ellipse">
            <a:avLst/>
          </a:prstGeom>
          <a:solidFill>
            <a:srgbClr val="E7F6F5"/>
          </a:solidFill>
          <a:ln w="127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493008" y="5381244"/>
            <a:ext cx="228600" cy="228600"/>
          </a:xfrm>
          <a:prstGeom prst="rect">
            <a:avLst/>
          </a:prstGeom>
          <a:noFill/>
        </p:spPr>
        <p:txBody>
          <a:bodyPr wrap="square" lIns="0" tIns="9144" rIns="0" bIns="9144" anchor="ctr">
            <a:spAutoFit/>
          </a:bodyPr>
          <a:lstStyle/>
          <a:p>
            <a:pPr algn="ctr">
              <a:spcBef>
                <a:spcPts val="0"/>
              </a:spcBef>
              <a:spcAft>
                <a:spcPts val="0"/>
              </a:spcAft>
            </a:pPr>
            <a:r>
              <a:rPr sz="750" b="1" i="0">
                <a:solidFill>
                  <a:srgbClr val="079AA3"/>
                </a:solidFill>
                <a:latin typeface="Aptos"/>
              </a:rPr>
              <a:t>02</a:t>
            </a:r>
          </a:p>
        </p:txBody>
      </p:sp>
      <p:sp>
        <p:nvSpPr>
          <p:cNvPr id="73" name="TextBox 72"/>
          <p:cNvSpPr txBox="1"/>
          <p:nvPr/>
        </p:nvSpPr>
        <p:spPr>
          <a:xfrm>
            <a:off x="3803904" y="5358384"/>
            <a:ext cx="2221992" cy="164592"/>
          </a:xfrm>
          <a:prstGeom prst="rect">
            <a:avLst/>
          </a:prstGeom>
          <a:noFill/>
        </p:spPr>
        <p:txBody>
          <a:bodyPr wrap="square" lIns="0" tIns="9144" rIns="0" bIns="9144" anchor="ctr">
            <a:spAutoFit/>
          </a:bodyPr>
          <a:lstStyle/>
          <a:p>
            <a:pPr algn="l">
              <a:spcBef>
                <a:spcPts val="0"/>
              </a:spcBef>
              <a:spcAft>
                <a:spcPts val="0"/>
              </a:spcAft>
            </a:pPr>
            <a:r>
              <a:rPr sz="919" b="1" i="0">
                <a:solidFill>
                  <a:srgbClr val="172B46"/>
                </a:solidFill>
                <a:latin typeface="Aptos"/>
              </a:rPr>
              <a:t>Jaikkrish S</a:t>
            </a:r>
          </a:p>
        </p:txBody>
      </p:sp>
      <p:sp>
        <p:nvSpPr>
          <p:cNvPr id="74" name="TextBox 73"/>
          <p:cNvSpPr txBox="1"/>
          <p:nvPr/>
        </p:nvSpPr>
        <p:spPr>
          <a:xfrm>
            <a:off x="3803904" y="5522976"/>
            <a:ext cx="2221992" cy="146304"/>
          </a:xfrm>
          <a:prstGeom prst="rect">
            <a:avLst/>
          </a:prstGeom>
          <a:noFill/>
        </p:spPr>
        <p:txBody>
          <a:bodyPr wrap="square" lIns="0" tIns="9144" rIns="0" bIns="9144" anchor="ctr">
            <a:spAutoFit/>
          </a:bodyPr>
          <a:lstStyle/>
          <a:p>
            <a:pPr algn="l">
              <a:spcBef>
                <a:spcPts val="0"/>
              </a:spcBef>
              <a:spcAft>
                <a:spcPts val="0"/>
              </a:spcAft>
            </a:pPr>
            <a:r>
              <a:rPr sz="725" b="0" i="0">
                <a:solidFill>
                  <a:srgbClr val="5B6F86"/>
                </a:solidFill>
                <a:latin typeface="Aptos"/>
              </a:rPr>
              <a:t>CB.SC.U4CSE24513</a:t>
            </a:r>
          </a:p>
        </p:txBody>
      </p:sp>
      <p:sp>
        <p:nvSpPr>
          <p:cNvPr id="75" name="Oval 74"/>
          <p:cNvSpPr/>
          <p:nvPr/>
        </p:nvSpPr>
        <p:spPr>
          <a:xfrm>
            <a:off x="749808" y="5737860"/>
            <a:ext cx="228600" cy="228600"/>
          </a:xfrm>
          <a:prstGeom prst="ellipse">
            <a:avLst/>
          </a:prstGeom>
          <a:solidFill>
            <a:srgbClr val="E7F6F5"/>
          </a:solidFill>
          <a:ln w="127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49808" y="5737860"/>
            <a:ext cx="228600" cy="228600"/>
          </a:xfrm>
          <a:prstGeom prst="rect">
            <a:avLst/>
          </a:prstGeom>
          <a:noFill/>
        </p:spPr>
        <p:txBody>
          <a:bodyPr wrap="square" lIns="0" tIns="9144" rIns="0" bIns="9144" anchor="ctr">
            <a:spAutoFit/>
          </a:bodyPr>
          <a:lstStyle/>
          <a:p>
            <a:pPr algn="ctr">
              <a:spcBef>
                <a:spcPts val="0"/>
              </a:spcBef>
              <a:spcAft>
                <a:spcPts val="0"/>
              </a:spcAft>
            </a:pPr>
            <a:r>
              <a:rPr sz="750" b="1" i="0">
                <a:solidFill>
                  <a:srgbClr val="079AA3"/>
                </a:solidFill>
                <a:latin typeface="Aptos"/>
              </a:rPr>
              <a:t>03</a:t>
            </a:r>
          </a:p>
        </p:txBody>
      </p:sp>
      <p:sp>
        <p:nvSpPr>
          <p:cNvPr id="77" name="TextBox 76"/>
          <p:cNvSpPr txBox="1"/>
          <p:nvPr/>
        </p:nvSpPr>
        <p:spPr>
          <a:xfrm>
            <a:off x="1060704" y="5715000"/>
            <a:ext cx="2221992" cy="164592"/>
          </a:xfrm>
          <a:prstGeom prst="rect">
            <a:avLst/>
          </a:prstGeom>
          <a:noFill/>
        </p:spPr>
        <p:txBody>
          <a:bodyPr wrap="square" lIns="0" tIns="9144" rIns="0" bIns="9144" anchor="ctr">
            <a:spAutoFit/>
          </a:bodyPr>
          <a:lstStyle/>
          <a:p>
            <a:pPr algn="l">
              <a:spcBef>
                <a:spcPts val="0"/>
              </a:spcBef>
              <a:spcAft>
                <a:spcPts val="0"/>
              </a:spcAft>
            </a:pPr>
            <a:r>
              <a:rPr sz="919" b="1" i="0">
                <a:solidFill>
                  <a:srgbClr val="172B46"/>
                </a:solidFill>
                <a:latin typeface="Aptos"/>
              </a:rPr>
              <a:t>Krishanth K</a:t>
            </a:r>
          </a:p>
        </p:txBody>
      </p:sp>
      <p:sp>
        <p:nvSpPr>
          <p:cNvPr id="78" name="TextBox 77"/>
          <p:cNvSpPr txBox="1"/>
          <p:nvPr/>
        </p:nvSpPr>
        <p:spPr>
          <a:xfrm>
            <a:off x="1060704" y="5879592"/>
            <a:ext cx="2221992" cy="146304"/>
          </a:xfrm>
          <a:prstGeom prst="rect">
            <a:avLst/>
          </a:prstGeom>
          <a:noFill/>
        </p:spPr>
        <p:txBody>
          <a:bodyPr wrap="square" lIns="0" tIns="9144" rIns="0" bIns="9144" anchor="ctr">
            <a:spAutoFit/>
          </a:bodyPr>
          <a:lstStyle/>
          <a:p>
            <a:pPr algn="l">
              <a:spcBef>
                <a:spcPts val="0"/>
              </a:spcBef>
              <a:spcAft>
                <a:spcPts val="0"/>
              </a:spcAft>
            </a:pPr>
            <a:r>
              <a:rPr sz="725" b="0" i="0">
                <a:solidFill>
                  <a:srgbClr val="5B6F86"/>
                </a:solidFill>
                <a:latin typeface="Aptos"/>
              </a:rPr>
              <a:t>CB.SC.U4CSE24521</a:t>
            </a:r>
          </a:p>
        </p:txBody>
      </p:sp>
      <p:sp>
        <p:nvSpPr>
          <p:cNvPr id="79" name="Oval 78"/>
          <p:cNvSpPr/>
          <p:nvPr/>
        </p:nvSpPr>
        <p:spPr>
          <a:xfrm>
            <a:off x="3493008" y="5737860"/>
            <a:ext cx="228600" cy="228600"/>
          </a:xfrm>
          <a:prstGeom prst="ellipse">
            <a:avLst/>
          </a:prstGeom>
          <a:solidFill>
            <a:srgbClr val="E7F6F5"/>
          </a:solidFill>
          <a:ln w="127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3493008" y="5737860"/>
            <a:ext cx="228600" cy="228600"/>
          </a:xfrm>
          <a:prstGeom prst="rect">
            <a:avLst/>
          </a:prstGeom>
          <a:noFill/>
        </p:spPr>
        <p:txBody>
          <a:bodyPr wrap="square" lIns="0" tIns="9144" rIns="0" bIns="9144" anchor="ctr">
            <a:spAutoFit/>
          </a:bodyPr>
          <a:lstStyle/>
          <a:p>
            <a:pPr algn="ctr">
              <a:spcBef>
                <a:spcPts val="0"/>
              </a:spcBef>
              <a:spcAft>
                <a:spcPts val="0"/>
              </a:spcAft>
            </a:pPr>
            <a:r>
              <a:rPr sz="750" b="1" i="0">
                <a:solidFill>
                  <a:srgbClr val="079AA3"/>
                </a:solidFill>
                <a:latin typeface="Aptos"/>
              </a:rPr>
              <a:t>04</a:t>
            </a:r>
          </a:p>
        </p:txBody>
      </p:sp>
      <p:sp>
        <p:nvSpPr>
          <p:cNvPr id="81" name="TextBox 80"/>
          <p:cNvSpPr txBox="1"/>
          <p:nvPr/>
        </p:nvSpPr>
        <p:spPr>
          <a:xfrm>
            <a:off x="3803904" y="5715000"/>
            <a:ext cx="2221992" cy="164592"/>
          </a:xfrm>
          <a:prstGeom prst="rect">
            <a:avLst/>
          </a:prstGeom>
          <a:noFill/>
        </p:spPr>
        <p:txBody>
          <a:bodyPr wrap="square" lIns="0" tIns="9144" rIns="0" bIns="9144" anchor="ctr">
            <a:spAutoFit/>
          </a:bodyPr>
          <a:lstStyle/>
          <a:p>
            <a:pPr algn="l">
              <a:spcBef>
                <a:spcPts val="0"/>
              </a:spcBef>
              <a:spcAft>
                <a:spcPts val="0"/>
              </a:spcAft>
            </a:pPr>
            <a:r>
              <a:rPr sz="919" b="1" i="0">
                <a:solidFill>
                  <a:srgbClr val="172B46"/>
                </a:solidFill>
                <a:latin typeface="Aptos"/>
              </a:rPr>
              <a:t>Srisanth P A</a:t>
            </a:r>
          </a:p>
        </p:txBody>
      </p:sp>
      <p:sp>
        <p:nvSpPr>
          <p:cNvPr id="82" name="TextBox 81"/>
          <p:cNvSpPr txBox="1"/>
          <p:nvPr/>
        </p:nvSpPr>
        <p:spPr>
          <a:xfrm>
            <a:off x="3803904" y="5879592"/>
            <a:ext cx="2221992" cy="146304"/>
          </a:xfrm>
          <a:prstGeom prst="rect">
            <a:avLst/>
          </a:prstGeom>
          <a:noFill/>
        </p:spPr>
        <p:txBody>
          <a:bodyPr wrap="square" lIns="0" tIns="9144" rIns="0" bIns="9144" anchor="ctr">
            <a:spAutoFit/>
          </a:bodyPr>
          <a:lstStyle/>
          <a:p>
            <a:pPr algn="l">
              <a:spcBef>
                <a:spcPts val="0"/>
              </a:spcBef>
              <a:spcAft>
                <a:spcPts val="0"/>
              </a:spcAft>
            </a:pPr>
            <a:r>
              <a:rPr sz="725" b="0" i="0">
                <a:solidFill>
                  <a:srgbClr val="5B6F86"/>
                </a:solidFill>
                <a:latin typeface="Aptos"/>
              </a:rPr>
              <a:t>CB.SC.U4CSE24550</a:t>
            </a:r>
          </a:p>
        </p:txBody>
      </p:sp>
      <p:sp>
        <p:nvSpPr>
          <p:cNvPr id="83" name="Rounded Rectangle 82"/>
          <p:cNvSpPr/>
          <p:nvPr/>
        </p:nvSpPr>
        <p:spPr>
          <a:xfrm>
            <a:off x="6419088" y="4910328"/>
            <a:ext cx="5230368" cy="1243584"/>
          </a:xfrm>
          <a:prstGeom prst="roundRect">
            <a:avLst/>
          </a:prstGeom>
          <a:solidFill>
            <a:srgbClr val="FFFFFF"/>
          </a:solidFill>
          <a:ln w="11430">
            <a:solidFill>
              <a:srgbClr val="D7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620256" y="4992624"/>
            <a:ext cx="4791456" cy="237744"/>
          </a:xfrm>
          <a:prstGeom prst="rect">
            <a:avLst/>
          </a:prstGeom>
          <a:noFill/>
        </p:spPr>
        <p:txBody>
          <a:bodyPr wrap="square" lIns="0" tIns="9144" rIns="0" bIns="9144" anchor="ctr">
            <a:spAutoFit/>
          </a:bodyPr>
          <a:lstStyle/>
          <a:p>
            <a:pPr algn="l">
              <a:spcBef>
                <a:spcPts val="0"/>
              </a:spcBef>
              <a:spcAft>
                <a:spcPts val="0"/>
              </a:spcAft>
            </a:pPr>
            <a:r>
              <a:rPr sz="1000" b="1" i="0">
                <a:solidFill>
                  <a:srgbClr val="172B46"/>
                </a:solidFill>
                <a:latin typeface="Aptos"/>
              </a:rPr>
              <a:t>EMBEDDED SYSTEM CONCEPTS</a:t>
            </a:r>
          </a:p>
        </p:txBody>
      </p:sp>
      <p:sp>
        <p:nvSpPr>
          <p:cNvPr id="85" name="Rectangle 84"/>
          <p:cNvSpPr/>
          <p:nvPr/>
        </p:nvSpPr>
        <p:spPr>
          <a:xfrm>
            <a:off x="6629400" y="5266944"/>
            <a:ext cx="420624" cy="32004"/>
          </a:xfrm>
          <a:prstGeom prst="rect">
            <a:avLst/>
          </a:prstGeom>
          <a:solidFill>
            <a:srgbClr val="2B73C7"/>
          </a:solidFill>
          <a:ln w="1270">
            <a:solidFill>
              <a:srgbClr val="2B7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ounded Rectangle 85"/>
          <p:cNvSpPr/>
          <p:nvPr/>
        </p:nvSpPr>
        <p:spPr>
          <a:xfrm>
            <a:off x="6629400" y="5404104"/>
            <a:ext cx="713232" cy="246888"/>
          </a:xfrm>
          <a:prstGeom prst="roundRect">
            <a:avLst/>
          </a:prstGeom>
          <a:solidFill>
            <a:srgbClr val="E7F6F5"/>
          </a:solidFill>
          <a:ln w="254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629400" y="5404104"/>
            <a:ext cx="713232" cy="246888"/>
          </a:xfrm>
          <a:prstGeom prst="rect">
            <a:avLst/>
          </a:prstGeom>
          <a:noFill/>
        </p:spPr>
        <p:txBody>
          <a:bodyPr wrap="square" lIns="9144" tIns="9144" rIns="9144" bIns="9144" anchor="ctr">
            <a:spAutoFit/>
          </a:bodyPr>
          <a:lstStyle/>
          <a:p>
            <a:pPr algn="ctr">
              <a:spcBef>
                <a:spcPts val="0"/>
              </a:spcBef>
              <a:spcAft>
                <a:spcPts val="0"/>
              </a:spcAft>
            </a:pPr>
            <a:r>
              <a:rPr sz="780" b="1" i="0">
                <a:solidFill>
                  <a:srgbClr val="079AA3"/>
                </a:solidFill>
                <a:latin typeface="Aptos"/>
              </a:rPr>
              <a:t>GPIO</a:t>
            </a:r>
          </a:p>
        </p:txBody>
      </p:sp>
      <p:sp>
        <p:nvSpPr>
          <p:cNvPr id="88" name="Rounded Rectangle 87"/>
          <p:cNvSpPr/>
          <p:nvPr/>
        </p:nvSpPr>
        <p:spPr>
          <a:xfrm>
            <a:off x="7415783" y="5404104"/>
            <a:ext cx="640080" cy="246888"/>
          </a:xfrm>
          <a:prstGeom prst="roundRect">
            <a:avLst/>
          </a:prstGeom>
          <a:solidFill>
            <a:srgbClr val="E7F6F5"/>
          </a:solidFill>
          <a:ln w="254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415783" y="5404104"/>
            <a:ext cx="640080" cy="246888"/>
          </a:xfrm>
          <a:prstGeom prst="rect">
            <a:avLst/>
          </a:prstGeom>
          <a:noFill/>
        </p:spPr>
        <p:txBody>
          <a:bodyPr wrap="square" lIns="9144" tIns="9144" rIns="9144" bIns="9144" anchor="ctr">
            <a:spAutoFit/>
          </a:bodyPr>
          <a:lstStyle/>
          <a:p>
            <a:pPr algn="ctr">
              <a:spcBef>
                <a:spcPts val="0"/>
              </a:spcBef>
              <a:spcAft>
                <a:spcPts val="0"/>
              </a:spcAft>
            </a:pPr>
            <a:r>
              <a:rPr sz="780" b="1" i="0">
                <a:solidFill>
                  <a:srgbClr val="079AA3"/>
                </a:solidFill>
                <a:latin typeface="Aptos"/>
              </a:rPr>
              <a:t>I²C</a:t>
            </a:r>
          </a:p>
        </p:txBody>
      </p:sp>
      <p:sp>
        <p:nvSpPr>
          <p:cNvPr id="90" name="Rounded Rectangle 89"/>
          <p:cNvSpPr/>
          <p:nvPr/>
        </p:nvSpPr>
        <p:spPr>
          <a:xfrm>
            <a:off x="8129016" y="5404104"/>
            <a:ext cx="640080" cy="246888"/>
          </a:xfrm>
          <a:prstGeom prst="roundRect">
            <a:avLst/>
          </a:prstGeom>
          <a:solidFill>
            <a:srgbClr val="EAF2FC"/>
          </a:solidFill>
          <a:ln w="254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129016" y="5404104"/>
            <a:ext cx="640080" cy="246888"/>
          </a:xfrm>
          <a:prstGeom prst="rect">
            <a:avLst/>
          </a:prstGeom>
          <a:noFill/>
        </p:spPr>
        <p:txBody>
          <a:bodyPr wrap="square" lIns="9144" tIns="9144" rIns="9144" bIns="9144" anchor="ctr">
            <a:spAutoFit/>
          </a:bodyPr>
          <a:lstStyle/>
          <a:p>
            <a:pPr algn="ctr">
              <a:spcBef>
                <a:spcPts val="0"/>
              </a:spcBef>
              <a:spcAft>
                <a:spcPts val="0"/>
              </a:spcAft>
            </a:pPr>
            <a:r>
              <a:rPr sz="780" b="1" i="0">
                <a:solidFill>
                  <a:srgbClr val="2B73C7"/>
                </a:solidFill>
                <a:latin typeface="Aptos"/>
              </a:rPr>
              <a:t>ADC</a:t>
            </a:r>
          </a:p>
        </p:txBody>
      </p:sp>
      <p:sp>
        <p:nvSpPr>
          <p:cNvPr id="92" name="Rounded Rectangle 91"/>
          <p:cNvSpPr/>
          <p:nvPr/>
        </p:nvSpPr>
        <p:spPr>
          <a:xfrm>
            <a:off x="8842248" y="5404104"/>
            <a:ext cx="822960" cy="246888"/>
          </a:xfrm>
          <a:prstGeom prst="roundRect">
            <a:avLst/>
          </a:prstGeom>
          <a:solidFill>
            <a:srgbClr val="F0EDFB"/>
          </a:solidFill>
          <a:ln w="2540">
            <a:solidFill>
              <a:srgbClr val="F0E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842248" y="5404104"/>
            <a:ext cx="822960" cy="246888"/>
          </a:xfrm>
          <a:prstGeom prst="rect">
            <a:avLst/>
          </a:prstGeom>
          <a:noFill/>
        </p:spPr>
        <p:txBody>
          <a:bodyPr wrap="square" lIns="9144" tIns="9144" rIns="9144" bIns="9144" anchor="ctr">
            <a:spAutoFit/>
          </a:bodyPr>
          <a:lstStyle/>
          <a:p>
            <a:pPr algn="ctr">
              <a:spcBef>
                <a:spcPts val="0"/>
              </a:spcBef>
              <a:spcAft>
                <a:spcPts val="0"/>
              </a:spcAft>
            </a:pPr>
            <a:r>
              <a:rPr sz="780" b="1" i="0">
                <a:solidFill>
                  <a:srgbClr val="7860C8"/>
                </a:solidFill>
                <a:latin typeface="Aptos"/>
              </a:rPr>
              <a:t>TIMERS</a:t>
            </a:r>
          </a:p>
        </p:txBody>
      </p:sp>
      <p:sp>
        <p:nvSpPr>
          <p:cNvPr id="94" name="Rounded Rectangle 93"/>
          <p:cNvSpPr/>
          <p:nvPr/>
        </p:nvSpPr>
        <p:spPr>
          <a:xfrm>
            <a:off x="9738360" y="5404104"/>
            <a:ext cx="1024128" cy="246888"/>
          </a:xfrm>
          <a:prstGeom prst="roundRect">
            <a:avLst/>
          </a:prstGeom>
          <a:solidFill>
            <a:srgbClr val="FFF3DE"/>
          </a:solidFill>
          <a:ln w="2540">
            <a:solidFill>
              <a:srgbClr val="FFF3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9738360" y="5404104"/>
            <a:ext cx="1024128" cy="246888"/>
          </a:xfrm>
          <a:prstGeom prst="rect">
            <a:avLst/>
          </a:prstGeom>
          <a:noFill/>
        </p:spPr>
        <p:txBody>
          <a:bodyPr wrap="square" lIns="9144" tIns="9144" rIns="9144" bIns="9144" anchor="ctr">
            <a:spAutoFit/>
          </a:bodyPr>
          <a:lstStyle/>
          <a:p>
            <a:pPr algn="ctr">
              <a:spcBef>
                <a:spcPts val="0"/>
              </a:spcBef>
              <a:spcAft>
                <a:spcPts val="0"/>
              </a:spcAft>
            </a:pPr>
            <a:r>
              <a:rPr sz="780" b="1" i="0">
                <a:solidFill>
                  <a:srgbClr val="C17B16"/>
                </a:solidFill>
                <a:latin typeface="Aptos"/>
              </a:rPr>
              <a:t>EXTI / NVIC</a:t>
            </a:r>
          </a:p>
        </p:txBody>
      </p:sp>
      <p:sp>
        <p:nvSpPr>
          <p:cNvPr id="96" name="Rounded Rectangle 95"/>
          <p:cNvSpPr/>
          <p:nvPr/>
        </p:nvSpPr>
        <p:spPr>
          <a:xfrm>
            <a:off x="6629400" y="5760720"/>
            <a:ext cx="932688" cy="246888"/>
          </a:xfrm>
          <a:prstGeom prst="roundRect">
            <a:avLst/>
          </a:prstGeom>
          <a:solidFill>
            <a:srgbClr val="EAF2FC"/>
          </a:solidFill>
          <a:ln w="254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629400" y="5760720"/>
            <a:ext cx="932688" cy="246888"/>
          </a:xfrm>
          <a:prstGeom prst="rect">
            <a:avLst/>
          </a:prstGeom>
          <a:noFill/>
        </p:spPr>
        <p:txBody>
          <a:bodyPr wrap="square" lIns="9144" tIns="9144" rIns="9144" bIns="9144" anchor="ctr">
            <a:spAutoFit/>
          </a:bodyPr>
          <a:lstStyle/>
          <a:p>
            <a:pPr algn="ctr">
              <a:spcBef>
                <a:spcPts val="0"/>
              </a:spcBef>
              <a:spcAft>
                <a:spcPts val="0"/>
              </a:spcAft>
            </a:pPr>
            <a:r>
              <a:rPr sz="780" b="1" i="0">
                <a:solidFill>
                  <a:srgbClr val="2B73C7"/>
                </a:solidFill>
                <a:latin typeface="Aptos"/>
              </a:rPr>
              <a:t>SysTick</a:t>
            </a:r>
          </a:p>
        </p:txBody>
      </p:sp>
      <p:sp>
        <p:nvSpPr>
          <p:cNvPr id="98" name="Rounded Rectangle 97"/>
          <p:cNvSpPr/>
          <p:nvPr/>
        </p:nvSpPr>
        <p:spPr>
          <a:xfrm>
            <a:off x="7653527" y="5760720"/>
            <a:ext cx="1133856" cy="246888"/>
          </a:xfrm>
          <a:prstGeom prst="roundRect">
            <a:avLst/>
          </a:prstGeom>
          <a:solidFill>
            <a:srgbClr val="E7F5EF"/>
          </a:solidFill>
          <a:ln w="2540">
            <a:solidFill>
              <a:srgbClr val="E7F5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7653527" y="5760720"/>
            <a:ext cx="1133856" cy="246888"/>
          </a:xfrm>
          <a:prstGeom prst="rect">
            <a:avLst/>
          </a:prstGeom>
          <a:noFill/>
        </p:spPr>
        <p:txBody>
          <a:bodyPr wrap="square" lIns="9144" tIns="9144" rIns="9144" bIns="9144" anchor="ctr">
            <a:spAutoFit/>
          </a:bodyPr>
          <a:lstStyle/>
          <a:p>
            <a:pPr algn="ctr">
              <a:spcBef>
                <a:spcPts val="0"/>
              </a:spcBef>
              <a:spcAft>
                <a:spcPts val="0"/>
              </a:spcAft>
            </a:pPr>
            <a:r>
              <a:rPr sz="780" b="1" i="0">
                <a:solidFill>
                  <a:srgbClr val="27876F"/>
                </a:solidFill>
                <a:latin typeface="Aptos"/>
              </a:rPr>
              <a:t>UART / USART</a:t>
            </a:r>
          </a:p>
        </p:txBody>
      </p:sp>
      <p:sp>
        <p:nvSpPr>
          <p:cNvPr id="100" name="Rounded Rectangle 99"/>
          <p:cNvSpPr/>
          <p:nvPr/>
        </p:nvSpPr>
        <p:spPr>
          <a:xfrm>
            <a:off x="8878824" y="5760720"/>
            <a:ext cx="1755648" cy="246888"/>
          </a:xfrm>
          <a:prstGeom prst="roundRect">
            <a:avLst/>
          </a:prstGeom>
          <a:solidFill>
            <a:srgbClr val="E7F6F5"/>
          </a:solidFill>
          <a:ln w="2540">
            <a:solidFill>
              <a:srgbClr val="E7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8878824" y="5760720"/>
            <a:ext cx="1755648" cy="246888"/>
          </a:xfrm>
          <a:prstGeom prst="rect">
            <a:avLst/>
          </a:prstGeom>
          <a:noFill/>
        </p:spPr>
        <p:txBody>
          <a:bodyPr wrap="square" lIns="9144" tIns="9144" rIns="9144" bIns="9144" anchor="ctr">
            <a:spAutoFit/>
          </a:bodyPr>
          <a:lstStyle/>
          <a:p>
            <a:pPr algn="ctr">
              <a:spcBef>
                <a:spcPts val="0"/>
              </a:spcBef>
              <a:spcAft>
                <a:spcPts val="0"/>
              </a:spcAft>
            </a:pPr>
            <a:r>
              <a:rPr sz="780" b="1" i="0">
                <a:solidFill>
                  <a:srgbClr val="079AA3"/>
                </a:solidFill>
                <a:latin typeface="Aptos"/>
              </a:rPr>
              <a:t>Register-level I/O</a:t>
            </a:r>
          </a:p>
        </p:txBody>
      </p:sp>
      <p:sp>
        <p:nvSpPr>
          <p:cNvPr id="102" name="Rectangle 101"/>
          <p:cNvSpPr/>
          <p:nvPr/>
        </p:nvSpPr>
        <p:spPr>
          <a:xfrm>
            <a:off x="548640" y="6318504"/>
            <a:ext cx="11082528" cy="10972"/>
          </a:xfrm>
          <a:prstGeom prst="rect">
            <a:avLst/>
          </a:prstGeom>
          <a:solidFill>
            <a:srgbClr val="D7E1EC"/>
          </a:solidFill>
          <a:ln w="1270">
            <a:solidFill>
              <a:srgbClr val="D7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9464040" y="6407010"/>
            <a:ext cx="2148840" cy="133883"/>
          </a:xfrm>
          <a:prstGeom prst="rect">
            <a:avLst/>
          </a:prstGeom>
          <a:noFill/>
        </p:spPr>
        <p:txBody>
          <a:bodyPr wrap="square" lIns="0" tIns="9144" rIns="0" bIns="9144" anchor="ctr">
            <a:spAutoFit/>
          </a:bodyPr>
          <a:lstStyle/>
          <a:p>
            <a:pPr algn="r">
              <a:spcBef>
                <a:spcPts val="0"/>
              </a:spcBef>
              <a:spcAft>
                <a:spcPts val="0"/>
              </a:spcAft>
            </a:pPr>
            <a:r>
              <a:rPr sz="750" b="1" i="0" dirty="0">
                <a:solidFill>
                  <a:srgbClr val="5B6F86"/>
                </a:solidFill>
                <a:latin typeface="Aptos"/>
              </a:rPr>
              <a:t>23CSE304  •  01 / 0</a:t>
            </a:r>
            <a:r>
              <a:rPr lang="en-US" sz="750" b="1" i="0" dirty="0">
                <a:solidFill>
                  <a:srgbClr val="5B6F86"/>
                </a:solidFill>
                <a:latin typeface="Aptos"/>
              </a:rPr>
              <a:t>9</a:t>
            </a:r>
            <a:endParaRPr sz="750" b="1" i="0" dirty="0">
              <a:solidFill>
                <a:srgbClr val="5B6F86"/>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7724"/>
          </a:xfrm>
          <a:prstGeom prst="rect">
            <a:avLst/>
          </a:prstGeom>
          <a:solidFill>
            <a:srgbClr val="2D79C7"/>
          </a:solidFill>
          <a:ln>
            <a:solidFill>
              <a:srgbClr val="2D79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372600" y="246888"/>
            <a:ext cx="2240280" cy="338328"/>
          </a:xfrm>
          <a:prstGeom prst="roundRect">
            <a:avLst>
              <a:gd name="adj" fmla="val 13000"/>
            </a:avLst>
          </a:prstGeom>
          <a:solidFill>
            <a:srgbClr val="FFFFFF"/>
          </a:solidFill>
          <a:ln w="1270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464040" y="265176"/>
            <a:ext cx="2057400" cy="292608"/>
          </a:xfrm>
          <a:prstGeom prst="rect">
            <a:avLst/>
          </a:prstGeom>
          <a:noFill/>
        </p:spPr>
        <p:txBody>
          <a:bodyPr wrap="square" lIns="18288" tIns="4572" rIns="18288" bIns="4572" anchor="ctr">
            <a:spAutoFit/>
          </a:bodyPr>
          <a:lstStyle/>
          <a:p>
            <a:pPr algn="ctr">
              <a:spcBef>
                <a:spcPts val="0"/>
              </a:spcBef>
              <a:spcAft>
                <a:spcPts val="0"/>
              </a:spcAft>
            </a:pPr>
            <a:r>
              <a:rPr sz="940" b="1" i="0">
                <a:solidFill>
                  <a:srgbClr val="2D79C7"/>
                </a:solidFill>
                <a:latin typeface="Aptos"/>
              </a:rPr>
              <a:t>23CSE304  |  EMBEDDED SYSTEMS</a:t>
            </a:r>
          </a:p>
        </p:txBody>
      </p:sp>
      <p:sp>
        <p:nvSpPr>
          <p:cNvPr id="7" name="TextBox 6"/>
          <p:cNvSpPr txBox="1"/>
          <p:nvPr/>
        </p:nvSpPr>
        <p:spPr>
          <a:xfrm>
            <a:off x="566928" y="640080"/>
            <a:ext cx="8503920" cy="438912"/>
          </a:xfrm>
          <a:prstGeom prst="rect">
            <a:avLst/>
          </a:prstGeom>
          <a:noFill/>
        </p:spPr>
        <p:txBody>
          <a:bodyPr wrap="square" lIns="0" tIns="4572" rIns="0" bIns="4572" anchor="ctr">
            <a:spAutoFit/>
          </a:bodyPr>
          <a:lstStyle/>
          <a:p>
            <a:pPr algn="l">
              <a:spcBef>
                <a:spcPts val="0"/>
              </a:spcBef>
              <a:spcAft>
                <a:spcPts val="0"/>
              </a:spcAft>
            </a:pPr>
            <a:r>
              <a:rPr sz="2500" b="1" i="0">
                <a:solidFill>
                  <a:srgbClr val="1A304D"/>
                </a:solidFill>
                <a:latin typeface="Aptos"/>
              </a:rPr>
              <a:t>Project Objectives, Boundaries &amp; Validation</a:t>
            </a:r>
          </a:p>
        </p:txBody>
      </p:sp>
      <p:sp>
        <p:nvSpPr>
          <p:cNvPr id="8" name="TextBox 7"/>
          <p:cNvSpPr txBox="1"/>
          <p:nvPr/>
        </p:nvSpPr>
        <p:spPr>
          <a:xfrm>
            <a:off x="594360" y="1097280"/>
            <a:ext cx="10881360" cy="256032"/>
          </a:xfrm>
          <a:prstGeom prst="rect">
            <a:avLst/>
          </a:prstGeom>
          <a:noFill/>
        </p:spPr>
        <p:txBody>
          <a:bodyPr wrap="square" lIns="0" tIns="4572" rIns="0" bIns="4572" anchor="ctr">
            <a:spAutoFit/>
          </a:bodyPr>
          <a:lstStyle/>
          <a:p>
            <a:pPr algn="l">
              <a:spcBef>
                <a:spcPts val="0"/>
              </a:spcBef>
              <a:spcAft>
                <a:spcPts val="0"/>
              </a:spcAft>
            </a:pPr>
            <a:r>
              <a:rPr sz="1120" b="0" i="0">
                <a:solidFill>
                  <a:srgbClr val="5F7390"/>
                </a:solidFill>
                <a:latin typeface="Aptos"/>
              </a:rPr>
              <a:t>Vehicle Event Logging and Response System  •  Define the work, its limits, and how success will be verified</a:t>
            </a:r>
          </a:p>
        </p:txBody>
      </p:sp>
      <p:sp>
        <p:nvSpPr>
          <p:cNvPr id="9" name="Rounded Rectangle 8"/>
          <p:cNvSpPr/>
          <p:nvPr/>
        </p:nvSpPr>
        <p:spPr>
          <a:xfrm>
            <a:off x="530352" y="1536192"/>
            <a:ext cx="6711696" cy="2560320"/>
          </a:xfrm>
          <a:prstGeom prst="roundRect">
            <a:avLst>
              <a:gd name="adj" fmla="val 13000"/>
            </a:avLst>
          </a:prstGeom>
          <a:solidFill>
            <a:srgbClr val="FFFFFF"/>
          </a:solidFill>
          <a:ln w="1397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664208"/>
            <a:ext cx="3017520" cy="246888"/>
          </a:xfrm>
          <a:prstGeom prst="rect">
            <a:avLst/>
          </a:prstGeom>
          <a:noFill/>
        </p:spPr>
        <p:txBody>
          <a:bodyPr wrap="square" lIns="0" tIns="4572" rIns="0" bIns="4572" anchor="ctr">
            <a:spAutoFit/>
          </a:bodyPr>
          <a:lstStyle/>
          <a:p>
            <a:pPr algn="l">
              <a:spcBef>
                <a:spcPts val="0"/>
              </a:spcBef>
              <a:spcAft>
                <a:spcPts val="0"/>
              </a:spcAft>
            </a:pPr>
            <a:r>
              <a:rPr sz="1220" b="1" i="0">
                <a:solidFill>
                  <a:srgbClr val="1A304D"/>
                </a:solidFill>
                <a:latin typeface="Aptos"/>
              </a:rPr>
              <a:t>PROJECT OBJECTIVES</a:t>
            </a:r>
          </a:p>
        </p:txBody>
      </p:sp>
      <p:sp>
        <p:nvSpPr>
          <p:cNvPr id="11" name="Rectangle 10"/>
          <p:cNvSpPr/>
          <p:nvPr/>
        </p:nvSpPr>
        <p:spPr>
          <a:xfrm>
            <a:off x="749808" y="1947672"/>
            <a:ext cx="438912" cy="41148"/>
          </a:xfrm>
          <a:prstGeom prst="rect">
            <a:avLst/>
          </a:prstGeom>
          <a:solidFill>
            <a:srgbClr val="009FA8"/>
          </a:solidFill>
          <a:ln>
            <a:solidFill>
              <a:srgbClr val="009F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68096" y="2089404"/>
            <a:ext cx="283464" cy="283464"/>
          </a:xfrm>
          <a:prstGeom prst="ellipse">
            <a:avLst/>
          </a:prstGeom>
          <a:solidFill>
            <a:srgbClr val="009FA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830" b="1">
                <a:solidFill>
                  <a:srgbClr val="FFFFFF"/>
                </a:solidFill>
                <a:latin typeface="Aptos"/>
              </a:rPr>
              <a:t>01</a:t>
            </a:r>
          </a:p>
        </p:txBody>
      </p:sp>
      <p:sp>
        <p:nvSpPr>
          <p:cNvPr id="13" name="TextBox 12"/>
          <p:cNvSpPr txBox="1"/>
          <p:nvPr/>
        </p:nvSpPr>
        <p:spPr>
          <a:xfrm>
            <a:off x="1152144" y="2048256"/>
            <a:ext cx="2240280" cy="201168"/>
          </a:xfrm>
          <a:prstGeom prst="rect">
            <a:avLst/>
          </a:prstGeom>
          <a:noFill/>
        </p:spPr>
        <p:txBody>
          <a:bodyPr wrap="square" lIns="0" tIns="4572" rIns="0" bIns="4572" anchor="ctr">
            <a:spAutoFit/>
          </a:bodyPr>
          <a:lstStyle/>
          <a:p>
            <a:pPr algn="l">
              <a:spcBef>
                <a:spcPts val="0"/>
              </a:spcBef>
              <a:spcAft>
                <a:spcPts val="0"/>
              </a:spcAft>
            </a:pPr>
            <a:r>
              <a:rPr sz="1050" b="1" i="0">
                <a:solidFill>
                  <a:srgbClr val="1B314E"/>
                </a:solidFill>
                <a:latin typeface="Aptos"/>
              </a:rPr>
              <a:t>Acquire sensor measurements</a:t>
            </a:r>
          </a:p>
        </p:txBody>
      </p:sp>
      <p:sp>
        <p:nvSpPr>
          <p:cNvPr id="14" name="TextBox 13"/>
          <p:cNvSpPr txBox="1"/>
          <p:nvPr/>
        </p:nvSpPr>
        <p:spPr>
          <a:xfrm>
            <a:off x="3337560" y="2043684"/>
            <a:ext cx="3675887" cy="356616"/>
          </a:xfrm>
          <a:prstGeom prst="rect">
            <a:avLst/>
          </a:prstGeom>
          <a:noFill/>
        </p:spPr>
        <p:txBody>
          <a:bodyPr wrap="square" lIns="9144" tIns="4572" rIns="9144" bIns="4572" anchor="ctr">
            <a:spAutoFit/>
          </a:bodyPr>
          <a:lstStyle/>
          <a:p>
            <a:pPr algn="l">
              <a:spcBef>
                <a:spcPts val="0"/>
              </a:spcBef>
              <a:spcAft>
                <a:spcPts val="0"/>
              </a:spcAft>
            </a:pPr>
            <a:r>
              <a:rPr sz="919" b="0" i="0">
                <a:solidFill>
                  <a:srgbClr val="5F7390"/>
                </a:solidFill>
                <a:latin typeface="Aptos"/>
              </a:rPr>
              <a:t>MPU6050 via I²C • LM35* via ADC • Ultrasonic* via GPIO + TIMx</a:t>
            </a:r>
          </a:p>
        </p:txBody>
      </p:sp>
      <p:cxnSp>
        <p:nvCxnSpPr>
          <p:cNvPr id="15" name="Connector 14"/>
          <p:cNvCxnSpPr/>
          <p:nvPr/>
        </p:nvCxnSpPr>
        <p:spPr>
          <a:xfrm>
            <a:off x="1143000" y="2473452"/>
            <a:ext cx="5843016" cy="0"/>
          </a:xfrm>
          <a:prstGeom prst="line">
            <a:avLst/>
          </a:prstGeom>
          <a:ln w="7620">
            <a:solidFill>
              <a:srgbClr val="E9EE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68096" y="2583179"/>
            <a:ext cx="283464" cy="283464"/>
          </a:xfrm>
          <a:prstGeom prst="ellipse">
            <a:avLst/>
          </a:prstGeom>
          <a:solidFill>
            <a:srgbClr val="2D79C7"/>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830" b="1">
                <a:solidFill>
                  <a:srgbClr val="FFFFFF"/>
                </a:solidFill>
                <a:latin typeface="Aptos"/>
              </a:rPr>
              <a:t>02</a:t>
            </a:r>
          </a:p>
        </p:txBody>
      </p:sp>
      <p:sp>
        <p:nvSpPr>
          <p:cNvPr id="17" name="TextBox 16"/>
          <p:cNvSpPr txBox="1"/>
          <p:nvPr/>
        </p:nvSpPr>
        <p:spPr>
          <a:xfrm>
            <a:off x="1152144" y="2542032"/>
            <a:ext cx="2240280" cy="201168"/>
          </a:xfrm>
          <a:prstGeom prst="rect">
            <a:avLst/>
          </a:prstGeom>
          <a:noFill/>
        </p:spPr>
        <p:txBody>
          <a:bodyPr wrap="square" lIns="0" tIns="4572" rIns="0" bIns="4572" anchor="ctr">
            <a:spAutoFit/>
          </a:bodyPr>
          <a:lstStyle/>
          <a:p>
            <a:pPr algn="l">
              <a:spcBef>
                <a:spcPts val="0"/>
              </a:spcBef>
              <a:spcAft>
                <a:spcPts val="0"/>
              </a:spcAft>
            </a:pPr>
            <a:r>
              <a:rPr sz="1050" b="1" i="0">
                <a:solidFill>
                  <a:srgbClr val="1B314E"/>
                </a:solidFill>
                <a:latin typeface="Aptos"/>
              </a:rPr>
              <a:t>Interpret readings in firmware</a:t>
            </a:r>
          </a:p>
        </p:txBody>
      </p:sp>
      <p:sp>
        <p:nvSpPr>
          <p:cNvPr id="18" name="TextBox 17"/>
          <p:cNvSpPr txBox="1"/>
          <p:nvPr/>
        </p:nvSpPr>
        <p:spPr>
          <a:xfrm>
            <a:off x="3337560" y="2537460"/>
            <a:ext cx="3675887" cy="356616"/>
          </a:xfrm>
          <a:prstGeom prst="rect">
            <a:avLst/>
          </a:prstGeom>
          <a:noFill/>
        </p:spPr>
        <p:txBody>
          <a:bodyPr wrap="square" lIns="9144" tIns="4572" rIns="9144" bIns="4572" anchor="ctr">
            <a:spAutoFit/>
          </a:bodyPr>
          <a:lstStyle/>
          <a:p>
            <a:pPr algn="l">
              <a:spcBef>
                <a:spcPts val="0"/>
              </a:spcBef>
              <a:spcAft>
                <a:spcPts val="0"/>
              </a:spcAft>
            </a:pPr>
            <a:r>
              <a:rPr sz="919" b="0" i="0">
                <a:solidFill>
                  <a:srgbClr val="5F7390"/>
                </a:solidFill>
                <a:latin typeface="Aptos"/>
              </a:rPr>
              <a:t>Validate/filter data; compare configurable thresholds; classify motion, heat, or proximity events.</a:t>
            </a:r>
          </a:p>
        </p:txBody>
      </p:sp>
      <p:cxnSp>
        <p:nvCxnSpPr>
          <p:cNvPr id="19" name="Connector 18"/>
          <p:cNvCxnSpPr/>
          <p:nvPr/>
        </p:nvCxnSpPr>
        <p:spPr>
          <a:xfrm>
            <a:off x="1143000" y="2967227"/>
            <a:ext cx="5843016" cy="0"/>
          </a:xfrm>
          <a:prstGeom prst="line">
            <a:avLst/>
          </a:prstGeom>
          <a:ln w="7620">
            <a:solidFill>
              <a:srgbClr val="E9EEF5"/>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768096" y="3076956"/>
            <a:ext cx="283464" cy="283464"/>
          </a:xfrm>
          <a:prstGeom prst="ellipse">
            <a:avLst/>
          </a:prstGeom>
          <a:solidFill>
            <a:srgbClr val="7960D5"/>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830" b="1">
                <a:solidFill>
                  <a:srgbClr val="FFFFFF"/>
                </a:solidFill>
                <a:latin typeface="Aptos"/>
              </a:rPr>
              <a:t>03</a:t>
            </a:r>
          </a:p>
        </p:txBody>
      </p:sp>
      <p:sp>
        <p:nvSpPr>
          <p:cNvPr id="21" name="TextBox 20"/>
          <p:cNvSpPr txBox="1"/>
          <p:nvPr/>
        </p:nvSpPr>
        <p:spPr>
          <a:xfrm>
            <a:off x="1152144" y="3035808"/>
            <a:ext cx="2240280" cy="201168"/>
          </a:xfrm>
          <a:prstGeom prst="rect">
            <a:avLst/>
          </a:prstGeom>
          <a:noFill/>
        </p:spPr>
        <p:txBody>
          <a:bodyPr wrap="square" lIns="0" tIns="4572" rIns="0" bIns="4572" anchor="ctr">
            <a:spAutoFit/>
          </a:bodyPr>
          <a:lstStyle/>
          <a:p>
            <a:pPr algn="l">
              <a:spcBef>
                <a:spcPts val="0"/>
              </a:spcBef>
              <a:spcAft>
                <a:spcPts val="0"/>
              </a:spcAft>
            </a:pPr>
            <a:r>
              <a:rPr sz="1050" b="1" i="0">
                <a:solidFill>
                  <a:srgbClr val="1B314E"/>
                </a:solidFill>
                <a:latin typeface="Aptos"/>
              </a:rPr>
              <a:t>Respond with local alerts</a:t>
            </a:r>
          </a:p>
        </p:txBody>
      </p:sp>
      <p:sp>
        <p:nvSpPr>
          <p:cNvPr id="22" name="TextBox 21"/>
          <p:cNvSpPr txBox="1"/>
          <p:nvPr/>
        </p:nvSpPr>
        <p:spPr>
          <a:xfrm>
            <a:off x="3337560" y="3063479"/>
            <a:ext cx="3675887" cy="292131"/>
          </a:xfrm>
          <a:prstGeom prst="rect">
            <a:avLst/>
          </a:prstGeom>
          <a:noFill/>
        </p:spPr>
        <p:txBody>
          <a:bodyPr wrap="square" lIns="9144" tIns="4572" rIns="9144" bIns="4572" anchor="ctr">
            <a:spAutoFit/>
          </a:bodyPr>
          <a:lstStyle/>
          <a:p>
            <a:pPr algn="l">
              <a:spcBef>
                <a:spcPts val="0"/>
              </a:spcBef>
              <a:spcAft>
                <a:spcPts val="0"/>
              </a:spcAft>
            </a:pPr>
            <a:r>
              <a:rPr lang="en-US" sz="919" b="0" i="0" dirty="0">
                <a:solidFill>
                  <a:srgbClr val="5F7390"/>
                </a:solidFill>
                <a:latin typeface="Aptos"/>
              </a:rPr>
              <a:t>Transmit emergency alerts through UART</a:t>
            </a:r>
            <a:r>
              <a:rPr sz="919" b="0" i="0" dirty="0">
                <a:solidFill>
                  <a:srgbClr val="5F7390"/>
                </a:solidFill>
                <a:latin typeface="Aptos"/>
              </a:rPr>
              <a:t>; define and test normal, warning, and critical states.</a:t>
            </a:r>
          </a:p>
        </p:txBody>
      </p:sp>
      <p:cxnSp>
        <p:nvCxnSpPr>
          <p:cNvPr id="23" name="Connector 22"/>
          <p:cNvCxnSpPr/>
          <p:nvPr/>
        </p:nvCxnSpPr>
        <p:spPr>
          <a:xfrm>
            <a:off x="1143000" y="3461003"/>
            <a:ext cx="5843016" cy="0"/>
          </a:xfrm>
          <a:prstGeom prst="line">
            <a:avLst/>
          </a:prstGeom>
          <a:ln w="7620">
            <a:solidFill>
              <a:srgbClr val="E9EEF5"/>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68096" y="3570732"/>
            <a:ext cx="283464" cy="283464"/>
          </a:xfrm>
          <a:prstGeom prst="ellipse">
            <a:avLst/>
          </a:prstGeom>
          <a:solidFill>
            <a:srgbClr val="C98016"/>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r>
              <a:rPr sz="830" b="1">
                <a:solidFill>
                  <a:srgbClr val="FFFFFF"/>
                </a:solidFill>
                <a:latin typeface="Aptos"/>
              </a:rPr>
              <a:t>04</a:t>
            </a:r>
          </a:p>
        </p:txBody>
      </p:sp>
      <p:sp>
        <p:nvSpPr>
          <p:cNvPr id="25" name="TextBox 24"/>
          <p:cNvSpPr txBox="1"/>
          <p:nvPr/>
        </p:nvSpPr>
        <p:spPr>
          <a:xfrm>
            <a:off x="1152144" y="3529584"/>
            <a:ext cx="2240280" cy="201168"/>
          </a:xfrm>
          <a:prstGeom prst="rect">
            <a:avLst/>
          </a:prstGeom>
          <a:noFill/>
        </p:spPr>
        <p:txBody>
          <a:bodyPr wrap="square" lIns="0" tIns="4572" rIns="0" bIns="4572" anchor="ctr">
            <a:spAutoFit/>
          </a:bodyPr>
          <a:lstStyle/>
          <a:p>
            <a:pPr algn="l">
              <a:spcBef>
                <a:spcPts val="0"/>
              </a:spcBef>
              <a:spcAft>
                <a:spcPts val="0"/>
              </a:spcAft>
            </a:pPr>
            <a:r>
              <a:rPr sz="1050" b="1" i="0">
                <a:solidFill>
                  <a:srgbClr val="1B314E"/>
                </a:solidFill>
                <a:latin typeface="Aptos"/>
              </a:rPr>
              <a:t>Verify system behaviour</a:t>
            </a:r>
          </a:p>
        </p:txBody>
      </p:sp>
      <p:sp>
        <p:nvSpPr>
          <p:cNvPr id="26" name="TextBox 25"/>
          <p:cNvSpPr txBox="1"/>
          <p:nvPr/>
        </p:nvSpPr>
        <p:spPr>
          <a:xfrm>
            <a:off x="3337560" y="3525012"/>
            <a:ext cx="3675887" cy="356616"/>
          </a:xfrm>
          <a:prstGeom prst="rect">
            <a:avLst/>
          </a:prstGeom>
          <a:noFill/>
        </p:spPr>
        <p:txBody>
          <a:bodyPr wrap="square" lIns="9144" tIns="4572" rIns="9144" bIns="4572" anchor="ctr">
            <a:spAutoFit/>
          </a:bodyPr>
          <a:lstStyle/>
          <a:p>
            <a:pPr algn="l">
              <a:spcBef>
                <a:spcPts val="0"/>
              </a:spcBef>
              <a:spcAft>
                <a:spcPts val="0"/>
              </a:spcAft>
            </a:pPr>
            <a:r>
              <a:rPr sz="919" b="0" i="0">
                <a:solidFill>
                  <a:srgbClr val="5F7390"/>
                </a:solidFill>
                <a:latin typeface="Aptos"/>
              </a:rPr>
              <a:t>Test each sensor separately, then verify the complete sensor-to-alert path under controlled conditions.</a:t>
            </a:r>
          </a:p>
        </p:txBody>
      </p:sp>
      <p:sp>
        <p:nvSpPr>
          <p:cNvPr id="27" name="Rounded Rectangle 26"/>
          <p:cNvSpPr/>
          <p:nvPr/>
        </p:nvSpPr>
        <p:spPr>
          <a:xfrm>
            <a:off x="7406640" y="1536192"/>
            <a:ext cx="4242816" cy="2560320"/>
          </a:xfrm>
          <a:prstGeom prst="roundRect">
            <a:avLst>
              <a:gd name="adj" fmla="val 13000"/>
            </a:avLst>
          </a:prstGeom>
          <a:solidFill>
            <a:srgbClr val="FFFFFF"/>
          </a:solidFill>
          <a:ln w="1397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26096" y="1664208"/>
            <a:ext cx="3611880" cy="246888"/>
          </a:xfrm>
          <a:prstGeom prst="rect">
            <a:avLst/>
          </a:prstGeom>
          <a:noFill/>
        </p:spPr>
        <p:txBody>
          <a:bodyPr wrap="square" lIns="0" tIns="4572" rIns="0" bIns="4572" anchor="ctr">
            <a:spAutoFit/>
          </a:bodyPr>
          <a:lstStyle/>
          <a:p>
            <a:pPr algn="l">
              <a:spcBef>
                <a:spcPts val="0"/>
              </a:spcBef>
              <a:spcAft>
                <a:spcPts val="0"/>
              </a:spcAft>
            </a:pPr>
            <a:r>
              <a:rPr sz="1220" b="1" i="0">
                <a:solidFill>
                  <a:srgbClr val="1A304D"/>
                </a:solidFill>
                <a:latin typeface="Aptos"/>
              </a:rPr>
              <a:t>SCOPE BOUNDARIES</a:t>
            </a:r>
          </a:p>
        </p:txBody>
      </p:sp>
      <p:sp>
        <p:nvSpPr>
          <p:cNvPr id="29" name="Rectangle 28"/>
          <p:cNvSpPr/>
          <p:nvPr/>
        </p:nvSpPr>
        <p:spPr>
          <a:xfrm>
            <a:off x="7626096" y="1947672"/>
            <a:ext cx="438912" cy="41148"/>
          </a:xfrm>
          <a:prstGeom prst="rect">
            <a:avLst/>
          </a:prstGeom>
          <a:solidFill>
            <a:srgbClr val="2D79C7"/>
          </a:solidFill>
          <a:ln>
            <a:solidFill>
              <a:srgbClr val="2D79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616952" y="2084831"/>
            <a:ext cx="1783080" cy="1531474"/>
          </a:xfrm>
          <a:prstGeom prst="roundRect">
            <a:avLst>
              <a:gd name="adj" fmla="val 13000"/>
            </a:avLst>
          </a:prstGeom>
          <a:solidFill>
            <a:srgbClr val="E8F5EF"/>
          </a:solidFill>
          <a:ln w="10160">
            <a:solidFill>
              <a:srgbClr val="D6ED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44968" y="2167128"/>
            <a:ext cx="1517904" cy="228600"/>
          </a:xfrm>
          <a:prstGeom prst="rect">
            <a:avLst/>
          </a:prstGeom>
          <a:noFill/>
        </p:spPr>
        <p:txBody>
          <a:bodyPr wrap="square" lIns="0" tIns="4572" rIns="0" bIns="4572" anchor="ctr">
            <a:spAutoFit/>
          </a:bodyPr>
          <a:lstStyle/>
          <a:p>
            <a:pPr algn="l">
              <a:spcBef>
                <a:spcPts val="0"/>
              </a:spcBef>
              <a:spcAft>
                <a:spcPts val="0"/>
              </a:spcAft>
            </a:pPr>
            <a:r>
              <a:rPr sz="1019" b="1" i="0">
                <a:solidFill>
                  <a:srgbClr val="169A78"/>
                </a:solidFill>
                <a:latin typeface="Aptos"/>
              </a:rPr>
              <a:t>INCLUDED</a:t>
            </a:r>
          </a:p>
        </p:txBody>
      </p:sp>
      <p:sp>
        <p:nvSpPr>
          <p:cNvPr id="32" name="Oval 31"/>
          <p:cNvSpPr/>
          <p:nvPr/>
        </p:nvSpPr>
        <p:spPr>
          <a:xfrm>
            <a:off x="7754112" y="2478024"/>
            <a:ext cx="68580" cy="68580"/>
          </a:xfrm>
          <a:prstGeom prst="ellipse">
            <a:avLst/>
          </a:prstGeom>
          <a:solidFill>
            <a:srgbClr val="169A7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endParaRPr/>
          </a:p>
        </p:txBody>
      </p:sp>
      <p:sp>
        <p:nvSpPr>
          <p:cNvPr id="33" name="TextBox 32"/>
          <p:cNvSpPr txBox="1"/>
          <p:nvPr/>
        </p:nvSpPr>
        <p:spPr>
          <a:xfrm>
            <a:off x="7882127" y="2459736"/>
            <a:ext cx="1371600" cy="164592"/>
          </a:xfrm>
          <a:prstGeom prst="rect">
            <a:avLst/>
          </a:prstGeom>
          <a:noFill/>
        </p:spPr>
        <p:txBody>
          <a:bodyPr wrap="square" lIns="0" tIns="4572" rIns="0" bIns="4572" anchor="ctr">
            <a:spAutoFit/>
          </a:bodyPr>
          <a:lstStyle/>
          <a:p>
            <a:pPr algn="l">
              <a:spcBef>
                <a:spcPts val="0"/>
              </a:spcBef>
              <a:spcAft>
                <a:spcPts val="0"/>
              </a:spcAft>
            </a:pPr>
            <a:r>
              <a:rPr sz="880" b="0" i="0">
                <a:solidFill>
                  <a:srgbClr val="1B314E"/>
                </a:solidFill>
                <a:latin typeface="Aptos"/>
              </a:rPr>
              <a:t>Sensor acquisition</a:t>
            </a:r>
          </a:p>
        </p:txBody>
      </p:sp>
      <p:sp>
        <p:nvSpPr>
          <p:cNvPr id="34" name="Oval 33"/>
          <p:cNvSpPr/>
          <p:nvPr/>
        </p:nvSpPr>
        <p:spPr>
          <a:xfrm>
            <a:off x="7754112" y="2692908"/>
            <a:ext cx="68580" cy="68580"/>
          </a:xfrm>
          <a:prstGeom prst="ellipse">
            <a:avLst/>
          </a:prstGeom>
          <a:solidFill>
            <a:srgbClr val="169A7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endParaRPr/>
          </a:p>
        </p:txBody>
      </p:sp>
      <p:sp>
        <p:nvSpPr>
          <p:cNvPr id="35" name="TextBox 34"/>
          <p:cNvSpPr txBox="1"/>
          <p:nvPr/>
        </p:nvSpPr>
        <p:spPr>
          <a:xfrm>
            <a:off x="7882127" y="2674620"/>
            <a:ext cx="1371600" cy="164592"/>
          </a:xfrm>
          <a:prstGeom prst="rect">
            <a:avLst/>
          </a:prstGeom>
          <a:noFill/>
        </p:spPr>
        <p:txBody>
          <a:bodyPr wrap="square" lIns="0" tIns="4572" rIns="0" bIns="4572" anchor="ctr">
            <a:spAutoFit/>
          </a:bodyPr>
          <a:lstStyle/>
          <a:p>
            <a:pPr algn="l">
              <a:spcBef>
                <a:spcPts val="0"/>
              </a:spcBef>
              <a:spcAft>
                <a:spcPts val="0"/>
              </a:spcAft>
            </a:pPr>
            <a:r>
              <a:rPr sz="880" b="0" i="0">
                <a:solidFill>
                  <a:srgbClr val="1B314E"/>
                </a:solidFill>
                <a:latin typeface="Aptos"/>
              </a:rPr>
              <a:t>Threshold/event logic</a:t>
            </a:r>
          </a:p>
        </p:txBody>
      </p:sp>
      <p:sp>
        <p:nvSpPr>
          <p:cNvPr id="36" name="Oval 35"/>
          <p:cNvSpPr/>
          <p:nvPr/>
        </p:nvSpPr>
        <p:spPr>
          <a:xfrm>
            <a:off x="7754112" y="2907791"/>
            <a:ext cx="68580" cy="68580"/>
          </a:xfrm>
          <a:prstGeom prst="ellipse">
            <a:avLst/>
          </a:prstGeom>
          <a:solidFill>
            <a:srgbClr val="169A7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endParaRPr/>
          </a:p>
        </p:txBody>
      </p:sp>
      <p:sp>
        <p:nvSpPr>
          <p:cNvPr id="37" name="TextBox 36"/>
          <p:cNvSpPr txBox="1"/>
          <p:nvPr/>
        </p:nvSpPr>
        <p:spPr>
          <a:xfrm>
            <a:off x="7882127" y="2889504"/>
            <a:ext cx="1371600" cy="164592"/>
          </a:xfrm>
          <a:prstGeom prst="rect">
            <a:avLst/>
          </a:prstGeom>
          <a:noFill/>
        </p:spPr>
        <p:txBody>
          <a:bodyPr wrap="square" lIns="0" tIns="4572" rIns="0" bIns="4572" anchor="ctr">
            <a:spAutoFit/>
          </a:bodyPr>
          <a:lstStyle/>
          <a:p>
            <a:pPr algn="l">
              <a:spcBef>
                <a:spcPts val="0"/>
              </a:spcBef>
              <a:spcAft>
                <a:spcPts val="0"/>
              </a:spcAft>
            </a:pPr>
            <a:r>
              <a:rPr sz="880" b="0" i="0">
                <a:solidFill>
                  <a:srgbClr val="1B314E"/>
                </a:solidFill>
                <a:latin typeface="Aptos"/>
              </a:rPr>
              <a:t>GPIO LEDs + buzzer</a:t>
            </a:r>
          </a:p>
        </p:txBody>
      </p:sp>
      <p:sp>
        <p:nvSpPr>
          <p:cNvPr id="38" name="Oval 37"/>
          <p:cNvSpPr/>
          <p:nvPr/>
        </p:nvSpPr>
        <p:spPr>
          <a:xfrm>
            <a:off x="7754112" y="3122676"/>
            <a:ext cx="68580" cy="68580"/>
          </a:xfrm>
          <a:prstGeom prst="ellipse">
            <a:avLst/>
          </a:prstGeom>
          <a:solidFill>
            <a:srgbClr val="169A78"/>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endParaRPr/>
          </a:p>
        </p:txBody>
      </p:sp>
      <p:sp>
        <p:nvSpPr>
          <p:cNvPr id="39" name="TextBox 38"/>
          <p:cNvSpPr txBox="1"/>
          <p:nvPr/>
        </p:nvSpPr>
        <p:spPr>
          <a:xfrm>
            <a:off x="7882127" y="3104388"/>
            <a:ext cx="1371600" cy="164592"/>
          </a:xfrm>
          <a:prstGeom prst="rect">
            <a:avLst/>
          </a:prstGeom>
          <a:noFill/>
        </p:spPr>
        <p:txBody>
          <a:bodyPr wrap="square" lIns="0" tIns="4572" rIns="0" bIns="4572" anchor="ctr">
            <a:spAutoFit/>
          </a:bodyPr>
          <a:lstStyle/>
          <a:p>
            <a:pPr algn="l">
              <a:spcBef>
                <a:spcPts val="0"/>
              </a:spcBef>
              <a:spcAft>
                <a:spcPts val="0"/>
              </a:spcAft>
            </a:pPr>
            <a:r>
              <a:rPr sz="880" b="0" i="0">
                <a:solidFill>
                  <a:srgbClr val="1B314E"/>
                </a:solidFill>
                <a:latin typeface="Aptos"/>
              </a:rPr>
              <a:t>Controlled validation</a:t>
            </a:r>
          </a:p>
        </p:txBody>
      </p:sp>
      <p:sp>
        <p:nvSpPr>
          <p:cNvPr id="40" name="Rounded Rectangle 39"/>
          <p:cNvSpPr/>
          <p:nvPr/>
        </p:nvSpPr>
        <p:spPr>
          <a:xfrm>
            <a:off x="9528048" y="2084830"/>
            <a:ext cx="1901952" cy="1572769"/>
          </a:xfrm>
          <a:prstGeom prst="roundRect">
            <a:avLst>
              <a:gd name="adj" fmla="val 13000"/>
            </a:avLst>
          </a:prstGeom>
          <a:solidFill>
            <a:srgbClr val="FFF3E0"/>
          </a:solidFill>
          <a:ln w="10160">
            <a:solidFill>
              <a:srgbClr val="F4DF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56064" y="2198392"/>
            <a:ext cx="1609344" cy="166071"/>
          </a:xfrm>
          <a:prstGeom prst="rect">
            <a:avLst/>
          </a:prstGeom>
          <a:noFill/>
        </p:spPr>
        <p:txBody>
          <a:bodyPr wrap="square" lIns="0" tIns="4572" rIns="0" bIns="4572" anchor="ctr">
            <a:spAutoFit/>
          </a:bodyPr>
          <a:lstStyle/>
          <a:p>
            <a:pPr algn="l">
              <a:spcBef>
                <a:spcPts val="0"/>
              </a:spcBef>
              <a:spcAft>
                <a:spcPts val="0"/>
              </a:spcAft>
            </a:pPr>
            <a:r>
              <a:rPr lang="en-US" sz="1019" b="1" dirty="0">
                <a:solidFill>
                  <a:srgbClr val="C98016"/>
                </a:solidFill>
                <a:latin typeface="Aptos"/>
              </a:rPr>
              <a:t>FUTURE PLANS</a:t>
            </a:r>
            <a:endParaRPr sz="1019" b="1" i="0" dirty="0">
              <a:solidFill>
                <a:srgbClr val="C98016"/>
              </a:solidFill>
              <a:latin typeface="Aptos"/>
            </a:endParaRPr>
          </a:p>
        </p:txBody>
      </p:sp>
      <p:sp>
        <p:nvSpPr>
          <p:cNvPr id="42" name="Oval 41"/>
          <p:cNvSpPr/>
          <p:nvPr/>
        </p:nvSpPr>
        <p:spPr>
          <a:xfrm>
            <a:off x="9665208" y="2478024"/>
            <a:ext cx="68580" cy="68580"/>
          </a:xfrm>
          <a:prstGeom prst="ellipse">
            <a:avLst/>
          </a:prstGeom>
          <a:solidFill>
            <a:srgbClr val="C98016"/>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endParaRPr/>
          </a:p>
        </p:txBody>
      </p:sp>
      <p:sp>
        <p:nvSpPr>
          <p:cNvPr id="43" name="TextBox 42"/>
          <p:cNvSpPr txBox="1"/>
          <p:nvPr/>
        </p:nvSpPr>
        <p:spPr>
          <a:xfrm>
            <a:off x="9793224" y="2459736"/>
            <a:ext cx="1490472" cy="164592"/>
          </a:xfrm>
          <a:prstGeom prst="rect">
            <a:avLst/>
          </a:prstGeom>
          <a:noFill/>
        </p:spPr>
        <p:txBody>
          <a:bodyPr wrap="square" lIns="0" tIns="4572" rIns="0" bIns="4572" anchor="ctr">
            <a:spAutoFit/>
          </a:bodyPr>
          <a:lstStyle/>
          <a:p>
            <a:pPr algn="l">
              <a:spcBef>
                <a:spcPts val="0"/>
              </a:spcBef>
              <a:spcAft>
                <a:spcPts val="0"/>
              </a:spcAft>
            </a:pPr>
            <a:r>
              <a:rPr sz="865" b="0" i="0">
                <a:solidFill>
                  <a:srgbClr val="1B314E"/>
                </a:solidFill>
                <a:latin typeface="Aptos"/>
              </a:rPr>
              <a:t>Verified collision ID</a:t>
            </a:r>
          </a:p>
        </p:txBody>
      </p:sp>
      <p:sp>
        <p:nvSpPr>
          <p:cNvPr id="44" name="Oval 43"/>
          <p:cNvSpPr/>
          <p:nvPr/>
        </p:nvSpPr>
        <p:spPr>
          <a:xfrm>
            <a:off x="9665208" y="2692908"/>
            <a:ext cx="68580" cy="68580"/>
          </a:xfrm>
          <a:prstGeom prst="ellipse">
            <a:avLst/>
          </a:prstGeom>
          <a:solidFill>
            <a:srgbClr val="C98016"/>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endParaRPr/>
          </a:p>
        </p:txBody>
      </p:sp>
      <p:sp>
        <p:nvSpPr>
          <p:cNvPr id="45" name="TextBox 44"/>
          <p:cNvSpPr txBox="1"/>
          <p:nvPr/>
        </p:nvSpPr>
        <p:spPr>
          <a:xfrm>
            <a:off x="9793224" y="2685742"/>
            <a:ext cx="1490472" cy="142347"/>
          </a:xfrm>
          <a:prstGeom prst="rect">
            <a:avLst/>
          </a:prstGeom>
          <a:noFill/>
        </p:spPr>
        <p:txBody>
          <a:bodyPr wrap="square" lIns="0" tIns="4572" rIns="0" bIns="4572" anchor="ctr">
            <a:spAutoFit/>
          </a:bodyPr>
          <a:lstStyle/>
          <a:p>
            <a:pPr algn="l">
              <a:spcBef>
                <a:spcPts val="0"/>
              </a:spcBef>
              <a:spcAft>
                <a:spcPts val="0"/>
              </a:spcAft>
            </a:pPr>
            <a:r>
              <a:rPr lang="en-US" sz="865" b="0" i="0" dirty="0">
                <a:solidFill>
                  <a:srgbClr val="1B314E"/>
                </a:solidFill>
                <a:latin typeface="Aptos"/>
              </a:rPr>
              <a:t>Faster alerts</a:t>
            </a:r>
            <a:endParaRPr sz="865" b="0" i="0" dirty="0">
              <a:solidFill>
                <a:srgbClr val="1B314E"/>
              </a:solidFill>
              <a:latin typeface="Aptos"/>
            </a:endParaRPr>
          </a:p>
        </p:txBody>
      </p:sp>
      <p:sp>
        <p:nvSpPr>
          <p:cNvPr id="46" name="Oval 45"/>
          <p:cNvSpPr/>
          <p:nvPr/>
        </p:nvSpPr>
        <p:spPr>
          <a:xfrm>
            <a:off x="9665208" y="2907791"/>
            <a:ext cx="68580" cy="68580"/>
          </a:xfrm>
          <a:prstGeom prst="ellipse">
            <a:avLst/>
          </a:prstGeom>
          <a:solidFill>
            <a:srgbClr val="C98016"/>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endParaRPr/>
          </a:p>
        </p:txBody>
      </p:sp>
      <p:sp>
        <p:nvSpPr>
          <p:cNvPr id="47" name="TextBox 46"/>
          <p:cNvSpPr txBox="1"/>
          <p:nvPr/>
        </p:nvSpPr>
        <p:spPr>
          <a:xfrm>
            <a:off x="9793224" y="2889504"/>
            <a:ext cx="1490472" cy="164592"/>
          </a:xfrm>
          <a:prstGeom prst="rect">
            <a:avLst/>
          </a:prstGeom>
          <a:noFill/>
        </p:spPr>
        <p:txBody>
          <a:bodyPr wrap="square" lIns="0" tIns="4572" rIns="0" bIns="4572" anchor="ctr">
            <a:spAutoFit/>
          </a:bodyPr>
          <a:lstStyle/>
          <a:p>
            <a:pPr algn="l">
              <a:spcBef>
                <a:spcPts val="0"/>
              </a:spcBef>
              <a:spcAft>
                <a:spcPts val="0"/>
              </a:spcAft>
            </a:pPr>
            <a:r>
              <a:rPr sz="865" b="0" i="0">
                <a:solidFill>
                  <a:srgbClr val="1B314E"/>
                </a:solidFill>
                <a:latin typeface="Aptos"/>
              </a:rPr>
              <a:t>Permanent event logs</a:t>
            </a:r>
          </a:p>
        </p:txBody>
      </p:sp>
      <p:sp>
        <p:nvSpPr>
          <p:cNvPr id="48" name="Oval 47"/>
          <p:cNvSpPr/>
          <p:nvPr/>
        </p:nvSpPr>
        <p:spPr>
          <a:xfrm>
            <a:off x="9665208" y="3122676"/>
            <a:ext cx="68580" cy="68580"/>
          </a:xfrm>
          <a:prstGeom prst="ellipse">
            <a:avLst/>
          </a:prstGeom>
          <a:solidFill>
            <a:srgbClr val="C98016"/>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0"/>
              </a:spcAft>
            </a:pPr>
            <a:endParaRPr/>
          </a:p>
        </p:txBody>
      </p:sp>
      <p:sp>
        <p:nvSpPr>
          <p:cNvPr id="49" name="TextBox 48"/>
          <p:cNvSpPr txBox="1"/>
          <p:nvPr/>
        </p:nvSpPr>
        <p:spPr>
          <a:xfrm>
            <a:off x="9793224" y="3104388"/>
            <a:ext cx="1490472" cy="164592"/>
          </a:xfrm>
          <a:prstGeom prst="rect">
            <a:avLst/>
          </a:prstGeom>
          <a:noFill/>
        </p:spPr>
        <p:txBody>
          <a:bodyPr wrap="square" lIns="0" tIns="4572" rIns="0" bIns="4572" anchor="ctr">
            <a:spAutoFit/>
          </a:bodyPr>
          <a:lstStyle/>
          <a:p>
            <a:pPr algn="l">
              <a:spcBef>
                <a:spcPts val="0"/>
              </a:spcBef>
              <a:spcAft>
                <a:spcPts val="0"/>
              </a:spcAft>
            </a:pPr>
            <a:r>
              <a:rPr sz="865" b="0" i="0">
                <a:solidFill>
                  <a:srgbClr val="1B314E"/>
                </a:solidFill>
                <a:latin typeface="Aptos"/>
              </a:rPr>
              <a:t>Wireless notifications</a:t>
            </a:r>
          </a:p>
        </p:txBody>
      </p:sp>
      <p:sp>
        <p:nvSpPr>
          <p:cNvPr id="52" name="TextBox 51"/>
          <p:cNvSpPr txBox="1"/>
          <p:nvPr/>
        </p:nvSpPr>
        <p:spPr>
          <a:xfrm>
            <a:off x="566928" y="4261104"/>
            <a:ext cx="6126480" cy="256032"/>
          </a:xfrm>
          <a:prstGeom prst="rect">
            <a:avLst/>
          </a:prstGeom>
          <a:noFill/>
        </p:spPr>
        <p:txBody>
          <a:bodyPr wrap="square" lIns="0" tIns="4572" rIns="0" bIns="4572" anchor="ctr">
            <a:spAutoFit/>
          </a:bodyPr>
          <a:lstStyle/>
          <a:p>
            <a:pPr algn="l">
              <a:spcBef>
                <a:spcPts val="0"/>
              </a:spcBef>
              <a:spcAft>
                <a:spcPts val="0"/>
              </a:spcAft>
            </a:pPr>
            <a:r>
              <a:rPr sz="1140" b="1" i="0">
                <a:solidFill>
                  <a:srgbClr val="1A304D"/>
                </a:solidFill>
                <a:latin typeface="Aptos"/>
              </a:rPr>
              <a:t>SUCCESS CRITERIA  |  EVIDENCE TO COLLECT</a:t>
            </a:r>
          </a:p>
        </p:txBody>
      </p:sp>
      <p:sp>
        <p:nvSpPr>
          <p:cNvPr id="54" name="Rectangle 53"/>
          <p:cNvSpPr/>
          <p:nvPr/>
        </p:nvSpPr>
        <p:spPr>
          <a:xfrm>
            <a:off x="749808" y="4544568"/>
            <a:ext cx="438912" cy="36576"/>
          </a:xfrm>
          <a:prstGeom prst="rect">
            <a:avLst/>
          </a:prstGeom>
          <a:solidFill>
            <a:srgbClr val="009FA8"/>
          </a:solidFill>
          <a:ln>
            <a:solidFill>
              <a:srgbClr val="009F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530352" y="4681728"/>
            <a:ext cx="2139696" cy="1298448"/>
          </a:xfrm>
          <a:prstGeom prst="roundRect">
            <a:avLst>
              <a:gd name="adj" fmla="val 13000"/>
            </a:avLst>
          </a:prstGeom>
          <a:solidFill>
            <a:srgbClr val="FFFFFF"/>
          </a:solidFill>
          <a:ln w="1143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30352" y="4681728"/>
            <a:ext cx="2139696" cy="64008"/>
          </a:xfrm>
          <a:prstGeom prst="rect">
            <a:avLst/>
          </a:prstGeom>
          <a:solidFill>
            <a:srgbClr val="009FA8"/>
          </a:solidFill>
          <a:ln>
            <a:solidFill>
              <a:srgbClr val="009F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58368" y="4828032"/>
            <a:ext cx="1883663" cy="237744"/>
          </a:xfrm>
          <a:prstGeom prst="rect">
            <a:avLst/>
          </a:prstGeom>
          <a:noFill/>
        </p:spPr>
        <p:txBody>
          <a:bodyPr wrap="square" lIns="0" tIns="4572" rIns="0" bIns="4572" anchor="ctr">
            <a:spAutoFit/>
          </a:bodyPr>
          <a:lstStyle/>
          <a:p>
            <a:pPr algn="l">
              <a:spcBef>
                <a:spcPts val="0"/>
              </a:spcBef>
              <a:spcAft>
                <a:spcPts val="0"/>
              </a:spcAft>
            </a:pPr>
            <a:r>
              <a:rPr sz="990" b="1" i="0">
                <a:solidFill>
                  <a:srgbClr val="009FA8"/>
                </a:solidFill>
                <a:latin typeface="Aptos"/>
              </a:rPr>
              <a:t>MOTION</a:t>
            </a:r>
          </a:p>
        </p:txBody>
      </p:sp>
      <p:sp>
        <p:nvSpPr>
          <p:cNvPr id="58" name="TextBox 57"/>
          <p:cNvSpPr txBox="1"/>
          <p:nvPr/>
        </p:nvSpPr>
        <p:spPr>
          <a:xfrm>
            <a:off x="658368" y="5120640"/>
            <a:ext cx="1883663" cy="676656"/>
          </a:xfrm>
          <a:prstGeom prst="rect">
            <a:avLst/>
          </a:prstGeom>
          <a:noFill/>
        </p:spPr>
        <p:txBody>
          <a:bodyPr wrap="square" lIns="9144" tIns="4572" rIns="9144" bIns="4572" anchor="t">
            <a:spAutoFit/>
          </a:bodyPr>
          <a:lstStyle/>
          <a:p>
            <a:pPr algn="l">
              <a:spcBef>
                <a:spcPts val="0"/>
              </a:spcBef>
              <a:spcAft>
                <a:spcPts val="0"/>
              </a:spcAft>
            </a:pPr>
            <a:r>
              <a:rPr sz="919" b="0" i="0">
                <a:solidFill>
                  <a:srgbClr val="1B314E"/>
                </a:solidFill>
                <a:latin typeface="Aptos"/>
              </a:rPr>
              <a:t>Observe a configured motion anomaly during a controlled movement test.</a:t>
            </a:r>
          </a:p>
        </p:txBody>
      </p:sp>
      <p:sp>
        <p:nvSpPr>
          <p:cNvPr id="59" name="Rounded Rectangle 58"/>
          <p:cNvSpPr/>
          <p:nvPr/>
        </p:nvSpPr>
        <p:spPr>
          <a:xfrm>
            <a:off x="2779776" y="4681728"/>
            <a:ext cx="2139696" cy="1298448"/>
          </a:xfrm>
          <a:prstGeom prst="roundRect">
            <a:avLst>
              <a:gd name="adj" fmla="val 13000"/>
            </a:avLst>
          </a:prstGeom>
          <a:solidFill>
            <a:srgbClr val="FFFFFF"/>
          </a:solidFill>
          <a:ln w="1143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2779776" y="4681728"/>
            <a:ext cx="2139696" cy="64008"/>
          </a:xfrm>
          <a:prstGeom prst="rect">
            <a:avLst/>
          </a:prstGeom>
          <a:solidFill>
            <a:srgbClr val="2D79C7"/>
          </a:solidFill>
          <a:ln>
            <a:solidFill>
              <a:srgbClr val="2D79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907792" y="4828032"/>
            <a:ext cx="1883663" cy="237744"/>
          </a:xfrm>
          <a:prstGeom prst="rect">
            <a:avLst/>
          </a:prstGeom>
          <a:noFill/>
        </p:spPr>
        <p:txBody>
          <a:bodyPr wrap="square" lIns="0" tIns="4572" rIns="0" bIns="4572" anchor="ctr">
            <a:spAutoFit/>
          </a:bodyPr>
          <a:lstStyle/>
          <a:p>
            <a:pPr algn="l">
              <a:spcBef>
                <a:spcPts val="0"/>
              </a:spcBef>
              <a:spcAft>
                <a:spcPts val="0"/>
              </a:spcAft>
            </a:pPr>
            <a:r>
              <a:rPr sz="990" b="1" i="0">
                <a:solidFill>
                  <a:srgbClr val="2D79C7"/>
                </a:solidFill>
                <a:latin typeface="Aptos"/>
              </a:rPr>
              <a:t>TEMPERATURE</a:t>
            </a:r>
          </a:p>
        </p:txBody>
      </p:sp>
      <p:sp>
        <p:nvSpPr>
          <p:cNvPr id="62" name="TextBox 61"/>
          <p:cNvSpPr txBox="1"/>
          <p:nvPr/>
        </p:nvSpPr>
        <p:spPr>
          <a:xfrm>
            <a:off x="2907792" y="5120640"/>
            <a:ext cx="1883663" cy="676656"/>
          </a:xfrm>
          <a:prstGeom prst="rect">
            <a:avLst/>
          </a:prstGeom>
          <a:noFill/>
        </p:spPr>
        <p:txBody>
          <a:bodyPr wrap="square" lIns="9144" tIns="4572" rIns="9144" bIns="4572" anchor="t">
            <a:spAutoFit/>
          </a:bodyPr>
          <a:lstStyle/>
          <a:p>
            <a:pPr algn="l">
              <a:spcBef>
                <a:spcPts val="0"/>
              </a:spcBef>
              <a:spcAft>
                <a:spcPts val="0"/>
              </a:spcAft>
            </a:pPr>
            <a:r>
              <a:rPr sz="919" b="0" i="0">
                <a:solidFill>
                  <a:srgbClr val="1B314E"/>
                </a:solidFill>
                <a:latin typeface="Aptos"/>
              </a:rPr>
              <a:t>Compare reading with a reference; alert above the set threshold.</a:t>
            </a:r>
          </a:p>
        </p:txBody>
      </p:sp>
      <p:sp>
        <p:nvSpPr>
          <p:cNvPr id="63" name="Rounded Rectangle 62"/>
          <p:cNvSpPr/>
          <p:nvPr/>
        </p:nvSpPr>
        <p:spPr>
          <a:xfrm>
            <a:off x="5029200" y="4681728"/>
            <a:ext cx="2139696" cy="1298448"/>
          </a:xfrm>
          <a:prstGeom prst="roundRect">
            <a:avLst>
              <a:gd name="adj" fmla="val 13000"/>
            </a:avLst>
          </a:prstGeom>
          <a:solidFill>
            <a:srgbClr val="FFFFFF"/>
          </a:solidFill>
          <a:ln w="1143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5029200" y="4681728"/>
            <a:ext cx="2139696" cy="64008"/>
          </a:xfrm>
          <a:prstGeom prst="rect">
            <a:avLst/>
          </a:prstGeom>
          <a:solidFill>
            <a:srgbClr val="7960D5"/>
          </a:solidFill>
          <a:ln>
            <a:solidFill>
              <a:srgbClr val="7960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157216" y="4828032"/>
            <a:ext cx="1883663" cy="237744"/>
          </a:xfrm>
          <a:prstGeom prst="rect">
            <a:avLst/>
          </a:prstGeom>
          <a:noFill/>
        </p:spPr>
        <p:txBody>
          <a:bodyPr wrap="square" lIns="0" tIns="4572" rIns="0" bIns="4572" anchor="ctr">
            <a:spAutoFit/>
          </a:bodyPr>
          <a:lstStyle/>
          <a:p>
            <a:pPr algn="l">
              <a:spcBef>
                <a:spcPts val="0"/>
              </a:spcBef>
              <a:spcAft>
                <a:spcPts val="0"/>
              </a:spcAft>
            </a:pPr>
            <a:r>
              <a:rPr sz="990" b="1" i="0">
                <a:solidFill>
                  <a:srgbClr val="7960D5"/>
                </a:solidFill>
                <a:latin typeface="Aptos"/>
              </a:rPr>
              <a:t>DISTANCE</a:t>
            </a:r>
          </a:p>
        </p:txBody>
      </p:sp>
      <p:sp>
        <p:nvSpPr>
          <p:cNvPr id="66" name="TextBox 65"/>
          <p:cNvSpPr txBox="1"/>
          <p:nvPr/>
        </p:nvSpPr>
        <p:spPr>
          <a:xfrm>
            <a:off x="5157216" y="5120640"/>
            <a:ext cx="1883663" cy="676656"/>
          </a:xfrm>
          <a:prstGeom prst="rect">
            <a:avLst/>
          </a:prstGeom>
          <a:noFill/>
        </p:spPr>
        <p:txBody>
          <a:bodyPr wrap="square" lIns="9144" tIns="4572" rIns="9144" bIns="4572" anchor="t">
            <a:spAutoFit/>
          </a:bodyPr>
          <a:lstStyle/>
          <a:p>
            <a:pPr algn="l">
              <a:spcBef>
                <a:spcPts val="0"/>
              </a:spcBef>
              <a:spcAft>
                <a:spcPts val="0"/>
              </a:spcAft>
            </a:pPr>
            <a:r>
              <a:rPr sz="919" b="0" i="0">
                <a:solidFill>
                  <a:srgbClr val="1B314E"/>
                </a:solidFill>
                <a:latin typeface="Aptos"/>
              </a:rPr>
              <a:t>Check known distances; warn below the configured proximity threshold.</a:t>
            </a:r>
          </a:p>
        </p:txBody>
      </p:sp>
      <p:sp>
        <p:nvSpPr>
          <p:cNvPr id="67" name="Rounded Rectangle 66"/>
          <p:cNvSpPr/>
          <p:nvPr/>
        </p:nvSpPr>
        <p:spPr>
          <a:xfrm>
            <a:off x="7278624" y="4681728"/>
            <a:ext cx="2139696" cy="1298448"/>
          </a:xfrm>
          <a:prstGeom prst="roundRect">
            <a:avLst>
              <a:gd name="adj" fmla="val 13000"/>
            </a:avLst>
          </a:prstGeom>
          <a:solidFill>
            <a:srgbClr val="FFFFFF"/>
          </a:solidFill>
          <a:ln w="1143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7278624" y="4681728"/>
            <a:ext cx="2139696" cy="64008"/>
          </a:xfrm>
          <a:prstGeom prst="rect">
            <a:avLst/>
          </a:prstGeom>
          <a:solidFill>
            <a:srgbClr val="C98016"/>
          </a:solidFill>
          <a:ln>
            <a:solidFill>
              <a:srgbClr val="C980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06640" y="4828032"/>
            <a:ext cx="1883663" cy="237744"/>
          </a:xfrm>
          <a:prstGeom prst="rect">
            <a:avLst/>
          </a:prstGeom>
          <a:noFill/>
        </p:spPr>
        <p:txBody>
          <a:bodyPr wrap="square" lIns="0" tIns="4572" rIns="0" bIns="4572" anchor="ctr">
            <a:spAutoFit/>
          </a:bodyPr>
          <a:lstStyle/>
          <a:p>
            <a:pPr algn="l">
              <a:spcBef>
                <a:spcPts val="0"/>
              </a:spcBef>
              <a:spcAft>
                <a:spcPts val="0"/>
              </a:spcAft>
            </a:pPr>
            <a:r>
              <a:rPr sz="990" b="1" i="0">
                <a:solidFill>
                  <a:srgbClr val="C98016"/>
                </a:solidFill>
                <a:latin typeface="Aptos"/>
              </a:rPr>
              <a:t>OUTPUTS</a:t>
            </a:r>
          </a:p>
        </p:txBody>
      </p:sp>
      <p:sp>
        <p:nvSpPr>
          <p:cNvPr id="70" name="TextBox 69"/>
          <p:cNvSpPr txBox="1"/>
          <p:nvPr/>
        </p:nvSpPr>
        <p:spPr>
          <a:xfrm>
            <a:off x="7406640" y="5120640"/>
            <a:ext cx="1883663" cy="292131"/>
          </a:xfrm>
          <a:prstGeom prst="rect">
            <a:avLst/>
          </a:prstGeom>
          <a:noFill/>
        </p:spPr>
        <p:txBody>
          <a:bodyPr wrap="square" lIns="9144" tIns="4572" rIns="9144" bIns="4572" anchor="t">
            <a:spAutoFit/>
          </a:bodyPr>
          <a:lstStyle/>
          <a:p>
            <a:pPr algn="l">
              <a:spcBef>
                <a:spcPts val="0"/>
              </a:spcBef>
              <a:spcAft>
                <a:spcPts val="0"/>
              </a:spcAft>
            </a:pPr>
            <a:r>
              <a:rPr sz="919" b="0" i="0" dirty="0">
                <a:solidFill>
                  <a:srgbClr val="1B314E"/>
                </a:solidFill>
                <a:latin typeface="Aptos"/>
              </a:rPr>
              <a:t>Verify the expected </a:t>
            </a:r>
            <a:r>
              <a:rPr lang="en-US" sz="919" b="0" i="0" dirty="0">
                <a:solidFill>
                  <a:srgbClr val="1B314E"/>
                </a:solidFill>
                <a:latin typeface="Aptos"/>
              </a:rPr>
              <a:t>UART communication </a:t>
            </a:r>
            <a:r>
              <a:rPr lang="en-US" sz="919" b="0" i="0" dirty="0" err="1">
                <a:solidFill>
                  <a:srgbClr val="1B314E"/>
                </a:solidFill>
                <a:latin typeface="Aptos"/>
              </a:rPr>
              <a:t>behaviour</a:t>
            </a:r>
            <a:endParaRPr sz="919" b="0" i="0" dirty="0">
              <a:solidFill>
                <a:srgbClr val="1B314E"/>
              </a:solidFill>
              <a:latin typeface="Aptos"/>
            </a:endParaRPr>
          </a:p>
        </p:txBody>
      </p:sp>
      <p:sp>
        <p:nvSpPr>
          <p:cNvPr id="71" name="Rounded Rectangle 70"/>
          <p:cNvSpPr/>
          <p:nvPr/>
        </p:nvSpPr>
        <p:spPr>
          <a:xfrm>
            <a:off x="9528048" y="4681728"/>
            <a:ext cx="2139696" cy="1298448"/>
          </a:xfrm>
          <a:prstGeom prst="roundRect">
            <a:avLst>
              <a:gd name="adj" fmla="val 13000"/>
            </a:avLst>
          </a:prstGeom>
          <a:solidFill>
            <a:srgbClr val="FFFFFF"/>
          </a:solidFill>
          <a:ln w="11430">
            <a:solidFill>
              <a:srgbClr val="D7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9528048" y="4681728"/>
            <a:ext cx="2139696" cy="64008"/>
          </a:xfrm>
          <a:prstGeom prst="rect">
            <a:avLst/>
          </a:prstGeom>
          <a:solidFill>
            <a:srgbClr val="169A78"/>
          </a:solidFill>
          <a:ln>
            <a:solidFill>
              <a:srgbClr val="169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656064" y="4828032"/>
            <a:ext cx="1883663" cy="237744"/>
          </a:xfrm>
          <a:prstGeom prst="rect">
            <a:avLst/>
          </a:prstGeom>
          <a:noFill/>
        </p:spPr>
        <p:txBody>
          <a:bodyPr wrap="square" lIns="0" tIns="4572" rIns="0" bIns="4572" anchor="ctr">
            <a:spAutoFit/>
          </a:bodyPr>
          <a:lstStyle/>
          <a:p>
            <a:pPr algn="l">
              <a:spcBef>
                <a:spcPts val="0"/>
              </a:spcBef>
              <a:spcAft>
                <a:spcPts val="0"/>
              </a:spcAft>
            </a:pPr>
            <a:r>
              <a:rPr sz="990" b="1" i="0">
                <a:solidFill>
                  <a:srgbClr val="169A78"/>
                </a:solidFill>
                <a:latin typeface="Aptos"/>
              </a:rPr>
              <a:t>INTEGRATION</a:t>
            </a:r>
          </a:p>
        </p:txBody>
      </p:sp>
      <p:sp>
        <p:nvSpPr>
          <p:cNvPr id="74" name="TextBox 73"/>
          <p:cNvSpPr txBox="1"/>
          <p:nvPr/>
        </p:nvSpPr>
        <p:spPr>
          <a:xfrm>
            <a:off x="9656064" y="5120640"/>
            <a:ext cx="1883663" cy="676656"/>
          </a:xfrm>
          <a:prstGeom prst="rect">
            <a:avLst/>
          </a:prstGeom>
          <a:noFill/>
        </p:spPr>
        <p:txBody>
          <a:bodyPr wrap="square" lIns="9144" tIns="4572" rIns="9144" bIns="4572" anchor="t">
            <a:spAutoFit/>
          </a:bodyPr>
          <a:lstStyle/>
          <a:p>
            <a:pPr algn="l">
              <a:spcBef>
                <a:spcPts val="0"/>
              </a:spcBef>
              <a:spcAft>
                <a:spcPts val="0"/>
              </a:spcAft>
            </a:pPr>
            <a:r>
              <a:rPr sz="919" b="0" i="0">
                <a:solidFill>
                  <a:srgbClr val="1B314E"/>
                </a:solidFill>
                <a:latin typeface="Aptos"/>
              </a:rPr>
              <a:t>Demonstrate all sensor paths driving the shared event logic and alerts.</a:t>
            </a:r>
          </a:p>
        </p:txBody>
      </p:sp>
      <p:sp>
        <p:nvSpPr>
          <p:cNvPr id="75" name="Rounded Rectangle 74"/>
          <p:cNvSpPr/>
          <p:nvPr/>
        </p:nvSpPr>
        <p:spPr>
          <a:xfrm>
            <a:off x="530352" y="6099048"/>
            <a:ext cx="11119104" cy="274320"/>
          </a:xfrm>
          <a:prstGeom prst="roundRect">
            <a:avLst>
              <a:gd name="adj" fmla="val 13000"/>
            </a:avLst>
          </a:prstGeom>
          <a:solidFill>
            <a:srgbClr val="1A304D"/>
          </a:solidFill>
          <a:ln>
            <a:solidFill>
              <a:srgbClr val="1A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13232" y="6108192"/>
            <a:ext cx="10735056" cy="246888"/>
          </a:xfrm>
          <a:prstGeom prst="rect">
            <a:avLst/>
          </a:prstGeom>
          <a:noFill/>
        </p:spPr>
        <p:txBody>
          <a:bodyPr wrap="square" lIns="0" tIns="4572" rIns="0" bIns="4572" anchor="ctr">
            <a:spAutoFit/>
          </a:bodyPr>
          <a:lstStyle/>
          <a:p>
            <a:pPr algn="ctr">
              <a:spcBef>
                <a:spcPts val="0"/>
              </a:spcBef>
              <a:spcAft>
                <a:spcPts val="0"/>
              </a:spcAft>
            </a:pPr>
            <a:r>
              <a:rPr sz="950" b="1" i="0">
                <a:solidFill>
                  <a:srgbClr val="FFFFFF"/>
                </a:solidFill>
                <a:latin typeface="Aptos"/>
              </a:rPr>
              <a:t>Design principle: Monitor → Interpret → Respond  |  Validate with controlled tests; report measured results only.</a:t>
            </a:r>
          </a:p>
        </p:txBody>
      </p:sp>
      <p:cxnSp>
        <p:nvCxnSpPr>
          <p:cNvPr id="77" name="Connector 76"/>
          <p:cNvCxnSpPr/>
          <p:nvPr/>
        </p:nvCxnSpPr>
        <p:spPr>
          <a:xfrm>
            <a:off x="566928" y="6501384"/>
            <a:ext cx="11064240" cy="0"/>
          </a:xfrm>
          <a:prstGeom prst="line">
            <a:avLst/>
          </a:prstGeom>
          <a:ln w="10160">
            <a:solidFill>
              <a:srgbClr val="D7E2EE"/>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76072" y="6547104"/>
            <a:ext cx="6858000" cy="155448"/>
          </a:xfrm>
          <a:prstGeom prst="rect">
            <a:avLst/>
          </a:prstGeom>
          <a:noFill/>
        </p:spPr>
        <p:txBody>
          <a:bodyPr wrap="square" lIns="0" tIns="4572" rIns="0" bIns="4572" anchor="ctr">
            <a:spAutoFit/>
          </a:bodyPr>
          <a:lstStyle/>
          <a:p>
            <a:pPr algn="l">
              <a:spcBef>
                <a:spcPts val="0"/>
              </a:spcBef>
              <a:spcAft>
                <a:spcPts val="0"/>
              </a:spcAft>
            </a:pPr>
            <a:r>
              <a:rPr sz="750" b="0" i="0">
                <a:solidFill>
                  <a:srgbClr val="5F7390"/>
                </a:solidFill>
                <a:latin typeface="Aptos"/>
              </a:rPr>
              <a:t>23CSE304 • EMBEDDED SYSTEMS • VEHICLE EVENT LOGGING AND RESPONSE SYSTEM</a:t>
            </a:r>
          </a:p>
        </p:txBody>
      </p:sp>
      <p:sp>
        <p:nvSpPr>
          <p:cNvPr id="79" name="TextBox 78"/>
          <p:cNvSpPr txBox="1"/>
          <p:nvPr/>
        </p:nvSpPr>
        <p:spPr>
          <a:xfrm>
            <a:off x="10561320" y="6557931"/>
            <a:ext cx="1051560" cy="124650"/>
          </a:xfrm>
          <a:prstGeom prst="rect">
            <a:avLst/>
          </a:prstGeom>
          <a:noFill/>
        </p:spPr>
        <p:txBody>
          <a:bodyPr wrap="square" lIns="0" tIns="4572" rIns="0" bIns="4572" anchor="ctr">
            <a:spAutoFit/>
          </a:bodyPr>
          <a:lstStyle/>
          <a:p>
            <a:pPr algn="r">
              <a:spcBef>
                <a:spcPts val="0"/>
              </a:spcBef>
              <a:spcAft>
                <a:spcPts val="0"/>
              </a:spcAft>
            </a:pPr>
            <a:r>
              <a:rPr sz="750" b="1" i="0" dirty="0">
                <a:solidFill>
                  <a:srgbClr val="5F7390"/>
                </a:solidFill>
                <a:latin typeface="Aptos"/>
              </a:rPr>
              <a:t>02 / 0</a:t>
            </a:r>
            <a:r>
              <a:rPr lang="en-US" sz="750" b="1" i="0" dirty="0">
                <a:solidFill>
                  <a:srgbClr val="5F7390"/>
                </a:solidFill>
                <a:latin typeface="Aptos"/>
              </a:rPr>
              <a:t>9</a:t>
            </a:r>
            <a:endParaRPr sz="750" b="1" i="0" dirty="0">
              <a:solidFill>
                <a:srgbClr val="5F7390"/>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369BE"/>
          </a:solidFill>
          <a:ln>
            <a:solidFill>
              <a:srgbClr val="236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2743200" cy="182880"/>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0097A4"/>
                </a:solidFill>
                <a:latin typeface="Aptos"/>
              </a:rPr>
              <a:t>02  /  ARCHITECTURE</a:t>
            </a:r>
          </a:p>
        </p:txBody>
      </p:sp>
      <p:sp>
        <p:nvSpPr>
          <p:cNvPr id="4" name="TextBox 3"/>
          <p:cNvSpPr txBox="1"/>
          <p:nvPr/>
        </p:nvSpPr>
        <p:spPr>
          <a:xfrm>
            <a:off x="548640" y="475488"/>
            <a:ext cx="10424160" cy="438912"/>
          </a:xfrm>
          <a:prstGeom prst="rect">
            <a:avLst/>
          </a:prstGeom>
          <a:noFill/>
        </p:spPr>
        <p:txBody>
          <a:bodyPr wrap="square" lIns="36576" tIns="36576" rIns="36576" bIns="36576" anchor="t">
            <a:spAutoFit/>
          </a:bodyPr>
          <a:lstStyle/>
          <a:p>
            <a:pPr algn="l">
              <a:spcBef>
                <a:spcPts val="0"/>
              </a:spcBef>
              <a:spcAft>
                <a:spcPts val="0"/>
              </a:spcAft>
            </a:pPr>
            <a:r>
              <a:rPr sz="2400" b="1" i="0">
                <a:solidFill>
                  <a:srgbClr val="192F4B"/>
                </a:solidFill>
                <a:latin typeface="Aptos"/>
              </a:rPr>
              <a:t>System architecture &amp; component dependencies</a:t>
            </a:r>
          </a:p>
        </p:txBody>
      </p:sp>
      <p:sp>
        <p:nvSpPr>
          <p:cNvPr id="5" name="TextBox 4"/>
          <p:cNvSpPr txBox="1"/>
          <p:nvPr/>
        </p:nvSpPr>
        <p:spPr>
          <a:xfrm>
            <a:off x="566928" y="950976"/>
            <a:ext cx="10789920" cy="228600"/>
          </a:xfrm>
          <a:prstGeom prst="rect">
            <a:avLst/>
          </a:prstGeom>
          <a:noFill/>
        </p:spPr>
        <p:txBody>
          <a:bodyPr wrap="square" lIns="36576" tIns="36576" rIns="36576" bIns="36576" anchor="t">
            <a:spAutoFit/>
          </a:bodyPr>
          <a:lstStyle/>
          <a:p>
            <a:pPr algn="l">
              <a:spcBef>
                <a:spcPts val="0"/>
              </a:spcBef>
              <a:spcAft>
                <a:spcPts val="0"/>
              </a:spcAft>
            </a:pPr>
            <a:r>
              <a:rPr sz="1050" b="0" i="0">
                <a:solidFill>
                  <a:srgbClr val="536982"/>
                </a:solidFill>
                <a:latin typeface="Aptos"/>
              </a:rPr>
              <a:t>Each input uses a distinct interface; all measurements converge in the STM32 event-processing logic.</a:t>
            </a:r>
          </a:p>
        </p:txBody>
      </p:sp>
      <p:sp>
        <p:nvSpPr>
          <p:cNvPr id="6" name="Rounded Rectangle 5"/>
          <p:cNvSpPr/>
          <p:nvPr/>
        </p:nvSpPr>
        <p:spPr>
          <a:xfrm>
            <a:off x="1530588" y="1325880"/>
            <a:ext cx="3090672" cy="1261872"/>
          </a:xfrm>
          <a:prstGeom prst="roundRect">
            <a:avLst/>
          </a:prstGeom>
          <a:solidFill>
            <a:srgbClr val="FFFFFF"/>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695180" y="1490472"/>
            <a:ext cx="109728" cy="109728"/>
          </a:xfrm>
          <a:prstGeom prst="ellipse">
            <a:avLst/>
          </a:prstGeom>
          <a:solidFill>
            <a:srgbClr val="0097A4"/>
          </a:solidFill>
          <a:ln w="10160">
            <a:solidFill>
              <a:srgbClr val="0097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87204" y="1453896"/>
            <a:ext cx="2514600" cy="164592"/>
          </a:xfrm>
          <a:prstGeom prst="rect">
            <a:avLst/>
          </a:prstGeom>
          <a:noFill/>
        </p:spPr>
        <p:txBody>
          <a:bodyPr wrap="square" lIns="36576" tIns="36576" rIns="36576" bIns="36576" anchor="t">
            <a:spAutoFit/>
          </a:bodyPr>
          <a:lstStyle/>
          <a:p>
            <a:pPr algn="l">
              <a:spcBef>
                <a:spcPts val="0"/>
              </a:spcBef>
              <a:spcAft>
                <a:spcPts val="0"/>
              </a:spcAft>
            </a:pPr>
            <a:r>
              <a:rPr sz="800" b="1" i="0">
                <a:solidFill>
                  <a:srgbClr val="0097A4"/>
                </a:solidFill>
                <a:latin typeface="Aptos"/>
              </a:rPr>
              <a:t>MOTION / ROTATION</a:t>
            </a:r>
          </a:p>
        </p:txBody>
      </p:sp>
      <p:sp>
        <p:nvSpPr>
          <p:cNvPr id="9" name="TextBox 8"/>
          <p:cNvSpPr txBox="1"/>
          <p:nvPr/>
        </p:nvSpPr>
        <p:spPr>
          <a:xfrm>
            <a:off x="1695180" y="1673352"/>
            <a:ext cx="2697480" cy="219456"/>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192F4B"/>
                </a:solidFill>
                <a:latin typeface="Aptos"/>
              </a:rPr>
              <a:t>MPU6050 IMU</a:t>
            </a:r>
          </a:p>
        </p:txBody>
      </p:sp>
      <p:sp>
        <p:nvSpPr>
          <p:cNvPr id="10" name="Rounded Rectangle 9"/>
          <p:cNvSpPr/>
          <p:nvPr/>
        </p:nvSpPr>
        <p:spPr>
          <a:xfrm>
            <a:off x="3615420" y="1435608"/>
            <a:ext cx="804672" cy="256032"/>
          </a:xfrm>
          <a:prstGeom prst="roundRect">
            <a:avLst/>
          </a:prstGeom>
          <a:solidFill>
            <a:srgbClr val="E4F6F5"/>
          </a:solidFill>
          <a:ln w="10160">
            <a:solidFill>
              <a:srgbClr val="E4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1996" y="1490472"/>
            <a:ext cx="731520" cy="118872"/>
          </a:xfrm>
          <a:prstGeom prst="rect">
            <a:avLst/>
          </a:prstGeom>
          <a:noFill/>
        </p:spPr>
        <p:txBody>
          <a:bodyPr wrap="square" lIns="0" tIns="0" rIns="0" bIns="0" anchor="ctr">
            <a:spAutoFit/>
          </a:bodyPr>
          <a:lstStyle/>
          <a:p>
            <a:pPr algn="ctr">
              <a:spcBef>
                <a:spcPts val="0"/>
              </a:spcBef>
              <a:spcAft>
                <a:spcPts val="0"/>
              </a:spcAft>
            </a:pPr>
            <a:r>
              <a:rPr sz="730" b="1" i="0">
                <a:solidFill>
                  <a:srgbClr val="0097A4"/>
                </a:solidFill>
                <a:latin typeface="Aptos"/>
              </a:rPr>
              <a:t>Interface: I²C1</a:t>
            </a:r>
          </a:p>
        </p:txBody>
      </p:sp>
      <p:sp>
        <p:nvSpPr>
          <p:cNvPr id="12" name="TextBox 11"/>
          <p:cNvSpPr txBox="1"/>
          <p:nvPr/>
        </p:nvSpPr>
        <p:spPr>
          <a:xfrm>
            <a:off x="1695180" y="1947672"/>
            <a:ext cx="2743200" cy="182880"/>
          </a:xfrm>
          <a:prstGeom prst="rect">
            <a:avLst/>
          </a:prstGeom>
          <a:noFill/>
        </p:spPr>
        <p:txBody>
          <a:bodyPr wrap="square" lIns="36576" tIns="36576" rIns="36576" bIns="36576" anchor="t">
            <a:spAutoFit/>
          </a:bodyPr>
          <a:lstStyle/>
          <a:p>
            <a:pPr algn="l">
              <a:spcBef>
                <a:spcPts val="0"/>
              </a:spcBef>
              <a:spcAft>
                <a:spcPts val="0"/>
              </a:spcAft>
            </a:pPr>
            <a:r>
              <a:rPr sz="869" b="0" i="0">
                <a:solidFill>
                  <a:srgbClr val="536982"/>
                </a:solidFill>
                <a:latin typeface="Aptos"/>
              </a:rPr>
              <a:t>3-axis acceleration + 3-axis angular velocity</a:t>
            </a:r>
          </a:p>
        </p:txBody>
      </p:sp>
      <p:sp>
        <p:nvSpPr>
          <p:cNvPr id="13" name="TextBox 12"/>
          <p:cNvSpPr txBox="1"/>
          <p:nvPr/>
        </p:nvSpPr>
        <p:spPr>
          <a:xfrm>
            <a:off x="1695180" y="2221992"/>
            <a:ext cx="2770632" cy="219456"/>
          </a:xfrm>
          <a:prstGeom prst="rect">
            <a:avLst/>
          </a:prstGeom>
          <a:noFill/>
        </p:spPr>
        <p:txBody>
          <a:bodyPr wrap="square" lIns="36576" tIns="36576" rIns="36576" bIns="36576" anchor="t">
            <a:spAutoFit/>
          </a:bodyPr>
          <a:lstStyle/>
          <a:p>
            <a:pPr algn="l">
              <a:spcBef>
                <a:spcPts val="0"/>
              </a:spcBef>
              <a:spcAft>
                <a:spcPts val="0"/>
              </a:spcAft>
            </a:pPr>
            <a:r>
              <a:rPr sz="830" b="1" i="0">
                <a:solidFill>
                  <a:srgbClr val="192F4B"/>
                </a:solidFill>
                <a:latin typeface="Aptos"/>
              </a:rPr>
              <a:t>Purpose: motion anomaly / possible-impact detection</a:t>
            </a:r>
          </a:p>
        </p:txBody>
      </p:sp>
      <p:sp>
        <p:nvSpPr>
          <p:cNvPr id="14" name="Rounded Rectangle 13"/>
          <p:cNvSpPr/>
          <p:nvPr/>
        </p:nvSpPr>
        <p:spPr>
          <a:xfrm>
            <a:off x="1530588" y="2816352"/>
            <a:ext cx="3090672" cy="1261872"/>
          </a:xfrm>
          <a:prstGeom prst="roundRect">
            <a:avLst/>
          </a:prstGeom>
          <a:solidFill>
            <a:srgbClr val="FFFFFF"/>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695180" y="2980944"/>
            <a:ext cx="109728" cy="109728"/>
          </a:xfrm>
          <a:prstGeom prst="ellipse">
            <a:avLst/>
          </a:prstGeom>
          <a:solidFill>
            <a:srgbClr val="2369BE"/>
          </a:solidFill>
          <a:ln w="10160">
            <a:solidFill>
              <a:srgbClr val="236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87204" y="2944368"/>
            <a:ext cx="2514600" cy="164592"/>
          </a:xfrm>
          <a:prstGeom prst="rect">
            <a:avLst/>
          </a:prstGeom>
          <a:noFill/>
        </p:spPr>
        <p:txBody>
          <a:bodyPr wrap="square" lIns="36576" tIns="36576" rIns="36576" bIns="36576" anchor="t">
            <a:spAutoFit/>
          </a:bodyPr>
          <a:lstStyle/>
          <a:p>
            <a:pPr algn="l">
              <a:spcBef>
                <a:spcPts val="0"/>
              </a:spcBef>
              <a:spcAft>
                <a:spcPts val="0"/>
              </a:spcAft>
            </a:pPr>
            <a:r>
              <a:rPr sz="800" b="1" i="0">
                <a:solidFill>
                  <a:srgbClr val="2369BE"/>
                </a:solidFill>
                <a:latin typeface="Aptos"/>
              </a:rPr>
              <a:t>TEMPERATURE</a:t>
            </a:r>
          </a:p>
        </p:txBody>
      </p:sp>
      <p:sp>
        <p:nvSpPr>
          <p:cNvPr id="17" name="TextBox 16"/>
          <p:cNvSpPr txBox="1"/>
          <p:nvPr/>
        </p:nvSpPr>
        <p:spPr>
          <a:xfrm>
            <a:off x="1695180" y="3163824"/>
            <a:ext cx="2697480" cy="219456"/>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192F4B"/>
                </a:solidFill>
                <a:latin typeface="Aptos"/>
              </a:rPr>
              <a:t>Temperature sensor*</a:t>
            </a:r>
          </a:p>
        </p:txBody>
      </p:sp>
      <p:sp>
        <p:nvSpPr>
          <p:cNvPr id="18" name="Rounded Rectangle 17"/>
          <p:cNvSpPr/>
          <p:nvPr/>
        </p:nvSpPr>
        <p:spPr>
          <a:xfrm>
            <a:off x="3615420" y="2926080"/>
            <a:ext cx="804672" cy="256032"/>
          </a:xfrm>
          <a:prstGeom prst="roundRect">
            <a:avLst/>
          </a:prstGeom>
          <a:solidFill>
            <a:srgbClr val="EAF2FC"/>
          </a:solidFill>
          <a:ln w="1016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1996" y="2980944"/>
            <a:ext cx="731520" cy="118872"/>
          </a:xfrm>
          <a:prstGeom prst="rect">
            <a:avLst/>
          </a:prstGeom>
          <a:noFill/>
        </p:spPr>
        <p:txBody>
          <a:bodyPr wrap="square" lIns="0" tIns="0" rIns="0" bIns="0" anchor="ctr">
            <a:spAutoFit/>
          </a:bodyPr>
          <a:lstStyle/>
          <a:p>
            <a:pPr algn="ctr">
              <a:spcBef>
                <a:spcPts val="0"/>
              </a:spcBef>
              <a:spcAft>
                <a:spcPts val="0"/>
              </a:spcAft>
            </a:pPr>
            <a:r>
              <a:rPr sz="730" b="1" i="0">
                <a:solidFill>
                  <a:srgbClr val="2369BE"/>
                </a:solidFill>
                <a:latin typeface="Aptos"/>
              </a:rPr>
              <a:t>Interface: ADC1</a:t>
            </a:r>
          </a:p>
        </p:txBody>
      </p:sp>
      <p:sp>
        <p:nvSpPr>
          <p:cNvPr id="20" name="TextBox 19"/>
          <p:cNvSpPr txBox="1"/>
          <p:nvPr/>
        </p:nvSpPr>
        <p:spPr>
          <a:xfrm>
            <a:off x="1695180" y="3438144"/>
            <a:ext cx="2743200" cy="182880"/>
          </a:xfrm>
          <a:prstGeom prst="rect">
            <a:avLst/>
          </a:prstGeom>
          <a:noFill/>
        </p:spPr>
        <p:txBody>
          <a:bodyPr wrap="square" lIns="36576" tIns="36576" rIns="36576" bIns="36576" anchor="t">
            <a:spAutoFit/>
          </a:bodyPr>
          <a:lstStyle/>
          <a:p>
            <a:pPr algn="l">
              <a:spcBef>
                <a:spcPts val="0"/>
              </a:spcBef>
              <a:spcAft>
                <a:spcPts val="0"/>
              </a:spcAft>
            </a:pPr>
            <a:r>
              <a:rPr sz="869" b="0" i="0">
                <a:solidFill>
                  <a:srgbClr val="536982"/>
                </a:solidFill>
                <a:latin typeface="Aptos"/>
              </a:rPr>
              <a:t>Analog voltage → temperature estimate</a:t>
            </a:r>
          </a:p>
        </p:txBody>
      </p:sp>
      <p:sp>
        <p:nvSpPr>
          <p:cNvPr id="21" name="TextBox 20"/>
          <p:cNvSpPr txBox="1"/>
          <p:nvPr/>
        </p:nvSpPr>
        <p:spPr>
          <a:xfrm>
            <a:off x="1695180" y="3712464"/>
            <a:ext cx="2770632" cy="219456"/>
          </a:xfrm>
          <a:prstGeom prst="rect">
            <a:avLst/>
          </a:prstGeom>
          <a:noFill/>
        </p:spPr>
        <p:txBody>
          <a:bodyPr wrap="square" lIns="36576" tIns="36576" rIns="36576" bIns="36576" anchor="t">
            <a:spAutoFit/>
          </a:bodyPr>
          <a:lstStyle/>
          <a:p>
            <a:pPr algn="l">
              <a:spcBef>
                <a:spcPts val="0"/>
              </a:spcBef>
              <a:spcAft>
                <a:spcPts val="0"/>
              </a:spcAft>
            </a:pPr>
            <a:r>
              <a:rPr sz="830" b="1" i="0">
                <a:solidFill>
                  <a:srgbClr val="192F4B"/>
                </a:solidFill>
                <a:latin typeface="Aptos"/>
              </a:rPr>
              <a:t>Purpose: temperature-threshold monitoring</a:t>
            </a:r>
          </a:p>
        </p:txBody>
      </p:sp>
      <p:sp>
        <p:nvSpPr>
          <p:cNvPr id="22" name="Rounded Rectangle 21"/>
          <p:cNvSpPr/>
          <p:nvPr/>
        </p:nvSpPr>
        <p:spPr>
          <a:xfrm>
            <a:off x="1530588" y="4306824"/>
            <a:ext cx="3090672" cy="1261872"/>
          </a:xfrm>
          <a:prstGeom prst="roundRect">
            <a:avLst/>
          </a:prstGeom>
          <a:solidFill>
            <a:srgbClr val="FFFFFF"/>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695180" y="4471415"/>
            <a:ext cx="109728" cy="109728"/>
          </a:xfrm>
          <a:prstGeom prst="ellipse">
            <a:avLst/>
          </a:prstGeom>
          <a:solidFill>
            <a:srgbClr val="7056BE"/>
          </a:solidFill>
          <a:ln w="10160">
            <a:solidFill>
              <a:srgbClr val="705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887204" y="4434839"/>
            <a:ext cx="2514600" cy="164592"/>
          </a:xfrm>
          <a:prstGeom prst="rect">
            <a:avLst/>
          </a:prstGeom>
          <a:noFill/>
        </p:spPr>
        <p:txBody>
          <a:bodyPr wrap="square" lIns="36576" tIns="36576" rIns="36576" bIns="36576" anchor="t">
            <a:spAutoFit/>
          </a:bodyPr>
          <a:lstStyle/>
          <a:p>
            <a:pPr algn="l">
              <a:spcBef>
                <a:spcPts val="0"/>
              </a:spcBef>
              <a:spcAft>
                <a:spcPts val="0"/>
              </a:spcAft>
            </a:pPr>
            <a:r>
              <a:rPr sz="800" b="1" i="0">
                <a:solidFill>
                  <a:srgbClr val="7056BE"/>
                </a:solidFill>
                <a:latin typeface="Aptos"/>
              </a:rPr>
              <a:t>OBSTACLE DISTANCE</a:t>
            </a:r>
          </a:p>
        </p:txBody>
      </p:sp>
      <p:sp>
        <p:nvSpPr>
          <p:cNvPr id="25" name="TextBox 24"/>
          <p:cNvSpPr txBox="1"/>
          <p:nvPr/>
        </p:nvSpPr>
        <p:spPr>
          <a:xfrm>
            <a:off x="1695180" y="4654296"/>
            <a:ext cx="2697480" cy="219456"/>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192F4B"/>
                </a:solidFill>
                <a:latin typeface="Aptos"/>
              </a:rPr>
              <a:t>Ultrasonic sensor*</a:t>
            </a:r>
          </a:p>
        </p:txBody>
      </p:sp>
      <p:sp>
        <p:nvSpPr>
          <p:cNvPr id="26" name="Rounded Rectangle 25"/>
          <p:cNvSpPr/>
          <p:nvPr/>
        </p:nvSpPr>
        <p:spPr>
          <a:xfrm>
            <a:off x="3615420" y="4416552"/>
            <a:ext cx="804672" cy="256032"/>
          </a:xfrm>
          <a:prstGeom prst="roundRect">
            <a:avLst/>
          </a:prstGeom>
          <a:solidFill>
            <a:srgbClr val="F2EEFC"/>
          </a:solidFill>
          <a:ln w="10160">
            <a:solidFill>
              <a:srgbClr val="F2EE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1996" y="4471415"/>
            <a:ext cx="731520" cy="118872"/>
          </a:xfrm>
          <a:prstGeom prst="rect">
            <a:avLst/>
          </a:prstGeom>
          <a:noFill/>
        </p:spPr>
        <p:txBody>
          <a:bodyPr wrap="square" lIns="0" tIns="0" rIns="0" bIns="0" anchor="ctr">
            <a:spAutoFit/>
          </a:bodyPr>
          <a:lstStyle/>
          <a:p>
            <a:pPr algn="ctr">
              <a:spcBef>
                <a:spcPts val="0"/>
              </a:spcBef>
              <a:spcAft>
                <a:spcPts val="0"/>
              </a:spcAft>
            </a:pPr>
            <a:r>
              <a:rPr sz="730" b="1" i="0">
                <a:solidFill>
                  <a:srgbClr val="7056BE"/>
                </a:solidFill>
                <a:latin typeface="Aptos"/>
              </a:rPr>
              <a:t>Interface: GPIO + TIMx</a:t>
            </a:r>
          </a:p>
        </p:txBody>
      </p:sp>
      <p:sp>
        <p:nvSpPr>
          <p:cNvPr id="28" name="TextBox 27"/>
          <p:cNvSpPr txBox="1"/>
          <p:nvPr/>
        </p:nvSpPr>
        <p:spPr>
          <a:xfrm>
            <a:off x="1695180" y="4928615"/>
            <a:ext cx="2743200" cy="182880"/>
          </a:xfrm>
          <a:prstGeom prst="rect">
            <a:avLst/>
          </a:prstGeom>
          <a:noFill/>
        </p:spPr>
        <p:txBody>
          <a:bodyPr wrap="square" lIns="36576" tIns="36576" rIns="36576" bIns="36576" anchor="t">
            <a:spAutoFit/>
          </a:bodyPr>
          <a:lstStyle/>
          <a:p>
            <a:pPr algn="l">
              <a:spcBef>
                <a:spcPts val="0"/>
              </a:spcBef>
              <a:spcAft>
                <a:spcPts val="0"/>
              </a:spcAft>
            </a:pPr>
            <a:r>
              <a:rPr sz="869" b="0" i="0">
                <a:solidFill>
                  <a:srgbClr val="536982"/>
                </a:solidFill>
                <a:latin typeface="Aptos"/>
              </a:rPr>
              <a:t>Trigger pulse → Echo duration → distance</a:t>
            </a:r>
          </a:p>
        </p:txBody>
      </p:sp>
      <p:sp>
        <p:nvSpPr>
          <p:cNvPr id="29" name="TextBox 28"/>
          <p:cNvSpPr txBox="1"/>
          <p:nvPr/>
        </p:nvSpPr>
        <p:spPr>
          <a:xfrm>
            <a:off x="1695180" y="5202935"/>
            <a:ext cx="2770632" cy="219456"/>
          </a:xfrm>
          <a:prstGeom prst="rect">
            <a:avLst/>
          </a:prstGeom>
          <a:noFill/>
        </p:spPr>
        <p:txBody>
          <a:bodyPr wrap="square" lIns="36576" tIns="36576" rIns="36576" bIns="36576" anchor="t">
            <a:spAutoFit/>
          </a:bodyPr>
          <a:lstStyle/>
          <a:p>
            <a:pPr algn="l">
              <a:spcBef>
                <a:spcPts val="0"/>
              </a:spcBef>
              <a:spcAft>
                <a:spcPts val="0"/>
              </a:spcAft>
            </a:pPr>
            <a:r>
              <a:rPr sz="830" b="1" i="0">
                <a:solidFill>
                  <a:srgbClr val="192F4B"/>
                </a:solidFill>
                <a:latin typeface="Aptos"/>
              </a:rPr>
              <a:t>Purpose: obstacle-proximity warning</a:t>
            </a:r>
          </a:p>
        </p:txBody>
      </p:sp>
      <p:sp>
        <p:nvSpPr>
          <p:cNvPr id="30" name="Rounded Rectangle 29"/>
          <p:cNvSpPr/>
          <p:nvPr/>
        </p:nvSpPr>
        <p:spPr>
          <a:xfrm>
            <a:off x="6428232" y="1345053"/>
            <a:ext cx="4343400" cy="4242816"/>
          </a:xfrm>
          <a:prstGeom prst="roundRect">
            <a:avLst/>
          </a:prstGeom>
          <a:solidFill>
            <a:srgbClr val="FFFFFF"/>
          </a:solidFill>
          <a:ln w="15240">
            <a:solidFill>
              <a:srgbClr val="BBCC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656833" y="1527933"/>
            <a:ext cx="3886200" cy="530352"/>
          </a:xfrm>
          <a:prstGeom prst="roundRect">
            <a:avLst/>
          </a:prstGeom>
          <a:solidFill>
            <a:srgbClr val="193C5B"/>
          </a:solidFill>
          <a:ln w="10160">
            <a:solidFill>
              <a:srgbClr val="193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75705" y="1674237"/>
            <a:ext cx="3648456" cy="201168"/>
          </a:xfrm>
          <a:prstGeom prst="rect">
            <a:avLst/>
          </a:prstGeom>
          <a:noFill/>
        </p:spPr>
        <p:txBody>
          <a:bodyPr wrap="square" lIns="36576" tIns="36576" rIns="36576" bIns="36576" anchor="ctr">
            <a:spAutoFit/>
          </a:bodyPr>
          <a:lstStyle/>
          <a:p>
            <a:pPr algn="ctr">
              <a:spcBef>
                <a:spcPts val="0"/>
              </a:spcBef>
              <a:spcAft>
                <a:spcPts val="0"/>
              </a:spcAft>
            </a:pPr>
            <a:r>
              <a:rPr sz="1220" b="1" i="0">
                <a:solidFill>
                  <a:srgbClr val="FFFFFF"/>
                </a:solidFill>
                <a:latin typeface="Aptos"/>
              </a:rPr>
              <a:t>STM32F411CEU6  |  ACQUIRE • VALIDATE • DECIDE • RESPOND</a:t>
            </a:r>
          </a:p>
        </p:txBody>
      </p:sp>
      <p:cxnSp>
        <p:nvCxnSpPr>
          <p:cNvPr id="33" name="Connector 32"/>
          <p:cNvCxnSpPr>
            <a:cxnSpLocks/>
            <a:endCxn id="30" idx="1"/>
          </p:cNvCxnSpPr>
          <p:nvPr/>
        </p:nvCxnSpPr>
        <p:spPr>
          <a:xfrm>
            <a:off x="4648692" y="2369181"/>
            <a:ext cx="1779540" cy="1097280"/>
          </a:xfrm>
          <a:prstGeom prst="line">
            <a:avLst/>
          </a:prstGeom>
          <a:ln w="21590">
            <a:solidFill>
              <a:srgbClr val="0097A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a:cxnSpLocks/>
            <a:endCxn id="30" idx="1"/>
          </p:cNvCxnSpPr>
          <p:nvPr/>
        </p:nvCxnSpPr>
        <p:spPr>
          <a:xfrm flipV="1">
            <a:off x="4695886" y="3466461"/>
            <a:ext cx="1732346" cy="8259"/>
          </a:xfrm>
          <a:prstGeom prst="line">
            <a:avLst/>
          </a:prstGeom>
          <a:ln w="21590">
            <a:solidFill>
              <a:srgbClr val="2369B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a:cxnSpLocks/>
            <a:endCxn id="30" idx="1"/>
          </p:cNvCxnSpPr>
          <p:nvPr/>
        </p:nvCxnSpPr>
        <p:spPr>
          <a:xfrm flipV="1">
            <a:off x="4648692" y="3466461"/>
            <a:ext cx="1779540" cy="1358327"/>
          </a:xfrm>
          <a:prstGeom prst="line">
            <a:avLst/>
          </a:prstGeom>
          <a:ln w="21590">
            <a:solidFill>
              <a:srgbClr val="7056BE"/>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702553" y="2259453"/>
            <a:ext cx="1764792" cy="832104"/>
          </a:xfrm>
          <a:prstGeom prst="roundRect">
            <a:avLst/>
          </a:prstGeom>
          <a:solidFill>
            <a:srgbClr val="E4F6F5"/>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12281" y="2369181"/>
            <a:ext cx="1554480" cy="164592"/>
          </a:xfrm>
          <a:prstGeom prst="rect">
            <a:avLst/>
          </a:prstGeom>
          <a:noFill/>
        </p:spPr>
        <p:txBody>
          <a:bodyPr wrap="square" lIns="36576" tIns="36576" rIns="36576" bIns="36576" anchor="t">
            <a:spAutoFit/>
          </a:bodyPr>
          <a:lstStyle/>
          <a:p>
            <a:pPr algn="l">
              <a:spcBef>
                <a:spcPts val="0"/>
              </a:spcBef>
              <a:spcAft>
                <a:spcPts val="0"/>
              </a:spcAft>
            </a:pPr>
            <a:r>
              <a:rPr sz="919" b="1" i="0">
                <a:solidFill>
                  <a:srgbClr val="0097A4"/>
                </a:solidFill>
                <a:latin typeface="Aptos"/>
              </a:rPr>
              <a:t>1  ACQUIRE</a:t>
            </a:r>
          </a:p>
        </p:txBody>
      </p:sp>
      <p:sp>
        <p:nvSpPr>
          <p:cNvPr id="38" name="TextBox 37"/>
          <p:cNvSpPr txBox="1"/>
          <p:nvPr/>
        </p:nvSpPr>
        <p:spPr>
          <a:xfrm>
            <a:off x="6812281" y="2606924"/>
            <a:ext cx="1554480" cy="393192"/>
          </a:xfrm>
          <a:prstGeom prst="rect">
            <a:avLst/>
          </a:prstGeom>
          <a:noFill/>
        </p:spPr>
        <p:txBody>
          <a:bodyPr wrap="square" lIns="36576" tIns="36576" rIns="36576" bIns="36576" anchor="t">
            <a:spAutoFit/>
          </a:bodyPr>
          <a:lstStyle/>
          <a:p>
            <a:pPr algn="l">
              <a:spcBef>
                <a:spcPts val="0"/>
              </a:spcBef>
              <a:spcAft>
                <a:spcPts val="0"/>
              </a:spcAft>
            </a:pPr>
            <a:r>
              <a:rPr sz="810" b="0" i="0">
                <a:solidFill>
                  <a:srgbClr val="192F4B"/>
                </a:solidFill>
                <a:latin typeface="Aptos"/>
              </a:rPr>
              <a:t>I²C reads • ADC conversion
GPIO input • timer capture</a:t>
            </a:r>
          </a:p>
        </p:txBody>
      </p:sp>
      <p:sp>
        <p:nvSpPr>
          <p:cNvPr id="39" name="Rounded Rectangle 38"/>
          <p:cNvSpPr/>
          <p:nvPr/>
        </p:nvSpPr>
        <p:spPr>
          <a:xfrm>
            <a:off x="8695945" y="2259453"/>
            <a:ext cx="1764792" cy="832104"/>
          </a:xfrm>
          <a:prstGeom prst="roundRect">
            <a:avLst/>
          </a:prstGeom>
          <a:solidFill>
            <a:srgbClr val="EAF2FC"/>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805673" y="2369181"/>
            <a:ext cx="1554480" cy="164592"/>
          </a:xfrm>
          <a:prstGeom prst="rect">
            <a:avLst/>
          </a:prstGeom>
          <a:noFill/>
        </p:spPr>
        <p:txBody>
          <a:bodyPr wrap="square" lIns="36576" tIns="36576" rIns="36576" bIns="36576" anchor="t">
            <a:spAutoFit/>
          </a:bodyPr>
          <a:lstStyle/>
          <a:p>
            <a:pPr algn="l">
              <a:spcBef>
                <a:spcPts val="0"/>
              </a:spcBef>
              <a:spcAft>
                <a:spcPts val="0"/>
              </a:spcAft>
            </a:pPr>
            <a:r>
              <a:rPr sz="919" b="1" i="0">
                <a:solidFill>
                  <a:srgbClr val="2369BE"/>
                </a:solidFill>
                <a:latin typeface="Aptos"/>
              </a:rPr>
              <a:t>2  VALIDATE</a:t>
            </a:r>
          </a:p>
        </p:txBody>
      </p:sp>
      <p:sp>
        <p:nvSpPr>
          <p:cNvPr id="41" name="TextBox 40"/>
          <p:cNvSpPr txBox="1"/>
          <p:nvPr/>
        </p:nvSpPr>
        <p:spPr>
          <a:xfrm>
            <a:off x="8805673" y="2606924"/>
            <a:ext cx="1554480" cy="393192"/>
          </a:xfrm>
          <a:prstGeom prst="rect">
            <a:avLst/>
          </a:prstGeom>
          <a:noFill/>
        </p:spPr>
        <p:txBody>
          <a:bodyPr wrap="square" lIns="36576" tIns="36576" rIns="36576" bIns="36576" anchor="t">
            <a:spAutoFit/>
          </a:bodyPr>
          <a:lstStyle/>
          <a:p>
            <a:pPr algn="l">
              <a:spcBef>
                <a:spcPts val="0"/>
              </a:spcBef>
              <a:spcAft>
                <a:spcPts val="0"/>
              </a:spcAft>
            </a:pPr>
            <a:r>
              <a:rPr sz="810" b="0" i="0">
                <a:solidFill>
                  <a:srgbClr val="192F4B"/>
                </a:solidFill>
                <a:latin typeface="Aptos"/>
              </a:rPr>
              <a:t>Range checks • filtering
Timeout / invalid-data handling</a:t>
            </a:r>
          </a:p>
        </p:txBody>
      </p:sp>
      <p:sp>
        <p:nvSpPr>
          <p:cNvPr id="42" name="Rounded Rectangle 41"/>
          <p:cNvSpPr/>
          <p:nvPr/>
        </p:nvSpPr>
        <p:spPr>
          <a:xfrm>
            <a:off x="6702553" y="3292724"/>
            <a:ext cx="1764792" cy="832104"/>
          </a:xfrm>
          <a:prstGeom prst="roundRect">
            <a:avLst/>
          </a:prstGeom>
          <a:solidFill>
            <a:srgbClr val="F2EEFC"/>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12281" y="3402453"/>
            <a:ext cx="1554480" cy="164592"/>
          </a:xfrm>
          <a:prstGeom prst="rect">
            <a:avLst/>
          </a:prstGeom>
          <a:noFill/>
        </p:spPr>
        <p:txBody>
          <a:bodyPr wrap="square" lIns="36576" tIns="36576" rIns="36576" bIns="36576" anchor="t">
            <a:spAutoFit/>
          </a:bodyPr>
          <a:lstStyle/>
          <a:p>
            <a:pPr algn="l">
              <a:spcBef>
                <a:spcPts val="0"/>
              </a:spcBef>
              <a:spcAft>
                <a:spcPts val="0"/>
              </a:spcAft>
            </a:pPr>
            <a:r>
              <a:rPr sz="919" b="1" i="0">
                <a:solidFill>
                  <a:srgbClr val="7056BE"/>
                </a:solidFill>
                <a:latin typeface="Aptos"/>
              </a:rPr>
              <a:t>3  DECIDE</a:t>
            </a:r>
          </a:p>
        </p:txBody>
      </p:sp>
      <p:sp>
        <p:nvSpPr>
          <p:cNvPr id="44" name="TextBox 43"/>
          <p:cNvSpPr txBox="1"/>
          <p:nvPr/>
        </p:nvSpPr>
        <p:spPr>
          <a:xfrm>
            <a:off x="6812281" y="3640196"/>
            <a:ext cx="1554480" cy="393192"/>
          </a:xfrm>
          <a:prstGeom prst="rect">
            <a:avLst/>
          </a:prstGeom>
          <a:noFill/>
        </p:spPr>
        <p:txBody>
          <a:bodyPr wrap="square" lIns="36576" tIns="36576" rIns="36576" bIns="36576" anchor="t">
            <a:spAutoFit/>
          </a:bodyPr>
          <a:lstStyle/>
          <a:p>
            <a:pPr algn="l">
              <a:spcBef>
                <a:spcPts val="0"/>
              </a:spcBef>
              <a:spcAft>
                <a:spcPts val="0"/>
              </a:spcAft>
            </a:pPr>
            <a:r>
              <a:rPr sz="810" b="0" i="0">
                <a:solidFill>
                  <a:srgbClr val="192F4B"/>
                </a:solidFill>
                <a:latin typeface="Aptos"/>
              </a:rPr>
              <a:t>Threshold comparison
Event classification • alert state</a:t>
            </a:r>
          </a:p>
        </p:txBody>
      </p:sp>
      <p:sp>
        <p:nvSpPr>
          <p:cNvPr id="45" name="Rounded Rectangle 44"/>
          <p:cNvSpPr/>
          <p:nvPr/>
        </p:nvSpPr>
        <p:spPr>
          <a:xfrm>
            <a:off x="8695945" y="3292724"/>
            <a:ext cx="1764792" cy="832104"/>
          </a:xfrm>
          <a:prstGeom prst="roundRect">
            <a:avLst/>
          </a:prstGeom>
          <a:solidFill>
            <a:srgbClr val="E8F6EE"/>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805673" y="3402453"/>
            <a:ext cx="1554480" cy="164592"/>
          </a:xfrm>
          <a:prstGeom prst="rect">
            <a:avLst/>
          </a:prstGeom>
          <a:noFill/>
        </p:spPr>
        <p:txBody>
          <a:bodyPr wrap="square" lIns="36576" tIns="36576" rIns="36576" bIns="36576" anchor="t">
            <a:spAutoFit/>
          </a:bodyPr>
          <a:lstStyle/>
          <a:p>
            <a:pPr algn="l">
              <a:spcBef>
                <a:spcPts val="0"/>
              </a:spcBef>
              <a:spcAft>
                <a:spcPts val="0"/>
              </a:spcAft>
            </a:pPr>
            <a:r>
              <a:rPr sz="919" b="1" i="0">
                <a:solidFill>
                  <a:srgbClr val="27805B"/>
                </a:solidFill>
                <a:latin typeface="Aptos"/>
              </a:rPr>
              <a:t>4  RESPOND</a:t>
            </a:r>
          </a:p>
        </p:txBody>
      </p:sp>
      <p:sp>
        <p:nvSpPr>
          <p:cNvPr id="47" name="TextBox 46"/>
          <p:cNvSpPr txBox="1"/>
          <p:nvPr/>
        </p:nvSpPr>
        <p:spPr>
          <a:xfrm>
            <a:off x="8805673" y="3640196"/>
            <a:ext cx="1554480" cy="198516"/>
          </a:xfrm>
          <a:prstGeom prst="rect">
            <a:avLst/>
          </a:prstGeom>
          <a:noFill/>
        </p:spPr>
        <p:txBody>
          <a:bodyPr wrap="square" lIns="36576" tIns="36576" rIns="36576" bIns="36576" anchor="t">
            <a:spAutoFit/>
          </a:bodyPr>
          <a:lstStyle/>
          <a:p>
            <a:pPr algn="l">
              <a:spcBef>
                <a:spcPts val="0"/>
              </a:spcBef>
              <a:spcAft>
                <a:spcPts val="0"/>
              </a:spcAft>
            </a:pPr>
            <a:r>
              <a:rPr lang="en-US" sz="810" b="0" i="0" dirty="0">
                <a:solidFill>
                  <a:srgbClr val="192F4B"/>
                </a:solidFill>
                <a:latin typeface="Aptos"/>
              </a:rPr>
              <a:t>Alert via UART</a:t>
            </a:r>
            <a:endParaRPr sz="810" b="0" i="0" dirty="0">
              <a:solidFill>
                <a:srgbClr val="192F4B"/>
              </a:solidFill>
              <a:latin typeface="Aptos"/>
            </a:endParaRPr>
          </a:p>
        </p:txBody>
      </p:sp>
      <p:sp>
        <p:nvSpPr>
          <p:cNvPr id="48" name="Rounded Rectangle 47"/>
          <p:cNvSpPr/>
          <p:nvPr/>
        </p:nvSpPr>
        <p:spPr>
          <a:xfrm>
            <a:off x="6702553" y="4335141"/>
            <a:ext cx="3794760" cy="658368"/>
          </a:xfrm>
          <a:prstGeom prst="roundRect">
            <a:avLst/>
          </a:prstGeom>
          <a:solidFill>
            <a:srgbClr val="FFF5E0"/>
          </a:solidFill>
          <a:ln w="10160">
            <a:solidFill>
              <a:srgbClr val="FFF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30569" y="4426581"/>
            <a:ext cx="3538728" cy="164592"/>
          </a:xfrm>
          <a:prstGeom prst="rect">
            <a:avLst/>
          </a:prstGeom>
          <a:noFill/>
        </p:spPr>
        <p:txBody>
          <a:bodyPr wrap="square" lIns="36576" tIns="36576" rIns="36576" bIns="36576" anchor="t">
            <a:spAutoFit/>
          </a:bodyPr>
          <a:lstStyle/>
          <a:p>
            <a:pPr algn="l">
              <a:spcBef>
                <a:spcPts val="0"/>
              </a:spcBef>
              <a:spcAft>
                <a:spcPts val="0"/>
              </a:spcAft>
            </a:pPr>
            <a:r>
              <a:rPr sz="850" b="1" i="0">
                <a:solidFill>
                  <a:srgbClr val="B46300"/>
                </a:solidFill>
                <a:latin typeface="Aptos"/>
              </a:rPr>
              <a:t>TIMING &amp; INTERRUPTS</a:t>
            </a:r>
          </a:p>
        </p:txBody>
      </p:sp>
      <p:sp>
        <p:nvSpPr>
          <p:cNvPr id="50" name="TextBox 49"/>
          <p:cNvSpPr txBox="1"/>
          <p:nvPr/>
        </p:nvSpPr>
        <p:spPr>
          <a:xfrm>
            <a:off x="6830569" y="4636893"/>
            <a:ext cx="3538728" cy="228600"/>
          </a:xfrm>
          <a:prstGeom prst="rect">
            <a:avLst/>
          </a:prstGeom>
          <a:noFill/>
        </p:spPr>
        <p:txBody>
          <a:bodyPr wrap="square" lIns="36576" tIns="36576" rIns="36576" bIns="36576" anchor="t">
            <a:spAutoFit/>
          </a:bodyPr>
          <a:lstStyle/>
          <a:p>
            <a:pPr algn="l">
              <a:spcBef>
                <a:spcPts val="0"/>
              </a:spcBef>
              <a:spcAft>
                <a:spcPts val="0"/>
              </a:spcAft>
            </a:pPr>
            <a:r>
              <a:rPr sz="819" b="1" i="0">
                <a:solidFill>
                  <a:srgbClr val="192F4B"/>
                </a:solidFill>
                <a:latin typeface="Aptos"/>
              </a:rPr>
              <a:t>SysTick: periodic scheduling  |  TIMx: Echo timing  |  EXTI/NVIC: optional interrupts</a:t>
            </a:r>
          </a:p>
        </p:txBody>
      </p:sp>
      <p:sp>
        <p:nvSpPr>
          <p:cNvPr id="61" name="Rounded Rectangle 60"/>
          <p:cNvSpPr/>
          <p:nvPr/>
        </p:nvSpPr>
        <p:spPr>
          <a:xfrm>
            <a:off x="566928" y="5879592"/>
            <a:ext cx="11073384" cy="438912"/>
          </a:xfrm>
          <a:prstGeom prst="roundRect">
            <a:avLst/>
          </a:prstGeom>
          <a:solidFill>
            <a:srgbClr val="193C5B"/>
          </a:solidFill>
          <a:ln w="10160">
            <a:solidFill>
              <a:srgbClr val="193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86384" y="5989320"/>
            <a:ext cx="10634472" cy="182880"/>
          </a:xfrm>
          <a:prstGeom prst="rect">
            <a:avLst/>
          </a:prstGeom>
          <a:noFill/>
        </p:spPr>
        <p:txBody>
          <a:bodyPr wrap="square" lIns="36576" tIns="36576" rIns="36576" bIns="36576" anchor="ctr">
            <a:spAutoFit/>
          </a:bodyPr>
          <a:lstStyle/>
          <a:p>
            <a:pPr algn="ctr">
              <a:spcBef>
                <a:spcPts val="0"/>
              </a:spcBef>
              <a:spcAft>
                <a:spcPts val="0"/>
              </a:spcAft>
            </a:pPr>
            <a:r>
              <a:rPr sz="1019" b="1" i="0">
                <a:solidFill>
                  <a:srgbClr val="FFFFFF"/>
                </a:solidFill>
                <a:latin typeface="Aptos"/>
              </a:rPr>
              <a:t>SENSOR ACQUISITION   →   VALIDATED MEASUREMENT   →   EVENT CLASSIFICATION   →   LOCAL WARNING</a:t>
            </a:r>
          </a:p>
        </p:txBody>
      </p:sp>
      <p:sp>
        <p:nvSpPr>
          <p:cNvPr id="63" name="TextBox 62"/>
          <p:cNvSpPr txBox="1"/>
          <p:nvPr/>
        </p:nvSpPr>
        <p:spPr>
          <a:xfrm>
            <a:off x="566928" y="6510528"/>
            <a:ext cx="8686800" cy="146304"/>
          </a:xfrm>
          <a:prstGeom prst="rect">
            <a:avLst/>
          </a:prstGeom>
          <a:noFill/>
        </p:spPr>
        <p:txBody>
          <a:bodyPr wrap="square" lIns="36576" tIns="36576" rIns="36576" bIns="36576" anchor="t">
            <a:spAutoFit/>
          </a:bodyPr>
          <a:lstStyle/>
          <a:p>
            <a:pPr algn="l">
              <a:spcBef>
                <a:spcPts val="0"/>
              </a:spcBef>
              <a:spcAft>
                <a:spcPts val="0"/>
              </a:spcAft>
            </a:pPr>
            <a:r>
              <a:rPr sz="720" b="0" i="0">
                <a:solidFill>
                  <a:srgbClr val="536982"/>
                </a:solidFill>
                <a:latin typeface="Aptos"/>
              </a:rPr>
              <a:t>23CSE304 · EMBEDDED SYSTEMS  |  VEHICLE EVENT LOGGING AND RESPONSE SYSTEM</a:t>
            </a:r>
          </a:p>
        </p:txBody>
      </p:sp>
      <p:sp>
        <p:nvSpPr>
          <p:cNvPr id="64" name="TextBox 63"/>
          <p:cNvSpPr txBox="1"/>
          <p:nvPr/>
        </p:nvSpPr>
        <p:spPr>
          <a:xfrm>
            <a:off x="11000232" y="6510528"/>
            <a:ext cx="585216" cy="146304"/>
          </a:xfrm>
          <a:prstGeom prst="rect">
            <a:avLst/>
          </a:prstGeom>
          <a:noFill/>
        </p:spPr>
        <p:txBody>
          <a:bodyPr wrap="square" lIns="36576" tIns="36576" rIns="36576" bIns="36576" anchor="t">
            <a:spAutoFit/>
          </a:bodyPr>
          <a:lstStyle/>
          <a:p>
            <a:pPr algn="r">
              <a:spcBef>
                <a:spcPts val="0"/>
              </a:spcBef>
              <a:spcAft>
                <a:spcPts val="0"/>
              </a:spcAft>
            </a:pPr>
            <a:r>
              <a:rPr sz="720" b="1" i="0">
                <a:solidFill>
                  <a:srgbClr val="536982"/>
                </a:solidFill>
                <a:latin typeface="Aptos"/>
              </a:rPr>
              <a:t>03 / 09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009AA6"/>
          </a:solidFill>
          <a:ln w="127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182880"/>
            <a:ext cx="5303520" cy="228600"/>
          </a:xfrm>
          <a:prstGeom prst="rect">
            <a:avLst/>
          </a:prstGeom>
          <a:noFill/>
        </p:spPr>
        <p:txBody>
          <a:bodyPr wrap="square" lIns="0" tIns="4572" rIns="0" bIns="4572" anchor="ctr">
            <a:spAutoFit/>
          </a:bodyPr>
          <a:lstStyle/>
          <a:p>
            <a:pPr algn="l">
              <a:spcBef>
                <a:spcPts val="0"/>
              </a:spcBef>
              <a:spcAft>
                <a:spcPts val="0"/>
              </a:spcAft>
            </a:pPr>
            <a:r>
              <a:rPr sz="919" b="1">
                <a:solidFill>
                  <a:srgbClr val="009AA6"/>
                </a:solidFill>
                <a:latin typeface="Aptos"/>
              </a:rPr>
              <a:t>03  /  CONTROLLER IMPLEMENTATION</a:t>
            </a:r>
          </a:p>
        </p:txBody>
      </p:sp>
      <p:sp>
        <p:nvSpPr>
          <p:cNvPr id="4" name="TextBox 3"/>
          <p:cNvSpPr txBox="1"/>
          <p:nvPr/>
        </p:nvSpPr>
        <p:spPr>
          <a:xfrm>
            <a:off x="11018520" y="182880"/>
            <a:ext cx="594360" cy="228600"/>
          </a:xfrm>
          <a:prstGeom prst="rect">
            <a:avLst/>
          </a:prstGeom>
          <a:noFill/>
        </p:spPr>
        <p:txBody>
          <a:bodyPr wrap="square" lIns="0" tIns="4572" rIns="0" bIns="4572" anchor="ctr">
            <a:spAutoFit/>
          </a:bodyPr>
          <a:lstStyle/>
          <a:p>
            <a:pPr algn="r">
              <a:spcBef>
                <a:spcPts val="0"/>
              </a:spcBef>
              <a:spcAft>
                <a:spcPts val="0"/>
              </a:spcAft>
            </a:pPr>
            <a:r>
              <a:rPr sz="919" b="1">
                <a:solidFill>
                  <a:srgbClr val="60758F"/>
                </a:solidFill>
                <a:latin typeface="Aptos"/>
              </a:rPr>
              <a:t>04</a:t>
            </a:r>
          </a:p>
        </p:txBody>
      </p:sp>
      <p:sp>
        <p:nvSpPr>
          <p:cNvPr id="5" name="TextBox 4"/>
          <p:cNvSpPr txBox="1"/>
          <p:nvPr/>
        </p:nvSpPr>
        <p:spPr>
          <a:xfrm>
            <a:off x="530352" y="475488"/>
            <a:ext cx="10972800" cy="475488"/>
          </a:xfrm>
          <a:prstGeom prst="rect">
            <a:avLst/>
          </a:prstGeom>
          <a:noFill/>
        </p:spPr>
        <p:txBody>
          <a:bodyPr wrap="square" lIns="0" tIns="4572" rIns="0" bIns="4572" anchor="ctr">
            <a:spAutoFit/>
          </a:bodyPr>
          <a:lstStyle/>
          <a:p>
            <a:pPr algn="l">
              <a:spcBef>
                <a:spcPts val="0"/>
              </a:spcBef>
              <a:spcAft>
                <a:spcPts val="0"/>
              </a:spcAft>
            </a:pPr>
            <a:r>
              <a:rPr sz="2500" b="1">
                <a:solidFill>
                  <a:srgbClr val="1A304B"/>
                </a:solidFill>
                <a:latin typeface="Aptos"/>
              </a:rPr>
              <a:t>STM32F411CEU6: the role of the microcontroller</a:t>
            </a:r>
          </a:p>
        </p:txBody>
      </p:sp>
      <p:sp>
        <p:nvSpPr>
          <p:cNvPr id="6" name="TextBox 5"/>
          <p:cNvSpPr txBox="1"/>
          <p:nvPr/>
        </p:nvSpPr>
        <p:spPr>
          <a:xfrm>
            <a:off x="548640" y="987552"/>
            <a:ext cx="10972800" cy="256032"/>
          </a:xfrm>
          <a:prstGeom prst="rect">
            <a:avLst/>
          </a:prstGeom>
          <a:noFill/>
        </p:spPr>
        <p:txBody>
          <a:bodyPr wrap="square" lIns="0" tIns="4572" rIns="0" bIns="4572" anchor="ctr">
            <a:spAutoFit/>
          </a:bodyPr>
          <a:lstStyle/>
          <a:p>
            <a:pPr algn="l">
              <a:spcBef>
                <a:spcPts val="0"/>
              </a:spcBef>
              <a:spcAft>
                <a:spcPts val="0"/>
              </a:spcAft>
            </a:pPr>
            <a:r>
              <a:rPr sz="1120" b="0">
                <a:solidFill>
                  <a:srgbClr val="60758F"/>
                </a:solidFill>
                <a:latin typeface="Aptos"/>
              </a:rPr>
              <a:t>The MCU initializes peripherals, acquires sensor data, runs event logic, and controls warning outputs.</a:t>
            </a:r>
          </a:p>
        </p:txBody>
      </p:sp>
      <p:sp>
        <p:nvSpPr>
          <p:cNvPr id="7" name="Rounded Rectangle 6"/>
          <p:cNvSpPr/>
          <p:nvPr/>
        </p:nvSpPr>
        <p:spPr>
          <a:xfrm>
            <a:off x="530352" y="1481328"/>
            <a:ext cx="2834640" cy="4553712"/>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547872" y="1481328"/>
            <a:ext cx="4892040" cy="4553712"/>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22792" y="1481328"/>
            <a:ext cx="3035808" cy="4553712"/>
          </a:xfrm>
          <a:prstGeom prst="roundRect">
            <a:avLst>
              <a:gd name="adj" fmla="val 12000"/>
            </a:avLst>
          </a:prstGeom>
          <a:solidFill>
            <a:srgbClr val="EAF2FC"/>
          </a:solidFill>
          <a:ln w="12700">
            <a:solidFill>
              <a:srgbClr val="C9DC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19" y="1645920"/>
            <a:ext cx="2432304" cy="256032"/>
          </a:xfrm>
          <a:prstGeom prst="rect">
            <a:avLst/>
          </a:prstGeom>
          <a:noFill/>
        </p:spPr>
        <p:txBody>
          <a:bodyPr wrap="square" lIns="0" tIns="4572" rIns="0" bIns="4572" anchor="ctr">
            <a:spAutoFit/>
          </a:bodyPr>
          <a:lstStyle/>
          <a:p>
            <a:pPr algn="l">
              <a:spcBef>
                <a:spcPts val="0"/>
              </a:spcBef>
              <a:spcAft>
                <a:spcPts val="0"/>
              </a:spcAft>
            </a:pPr>
            <a:r>
              <a:rPr sz="1019" b="1">
                <a:solidFill>
                  <a:srgbClr val="1A304B"/>
                </a:solidFill>
                <a:latin typeface="Aptos"/>
              </a:rPr>
              <a:t>MICROCONTROLLER</a:t>
            </a:r>
          </a:p>
        </p:txBody>
      </p:sp>
      <p:sp>
        <p:nvSpPr>
          <p:cNvPr id="11" name="Rounded Rectangle 10"/>
          <p:cNvSpPr/>
          <p:nvPr/>
        </p:nvSpPr>
        <p:spPr>
          <a:xfrm>
            <a:off x="941832" y="2084832"/>
            <a:ext cx="2011680" cy="1042415"/>
          </a:xfrm>
          <a:prstGeom prst="roundRect">
            <a:avLst>
              <a:gd name="adj" fmla="val 12000"/>
            </a:avLst>
          </a:prstGeom>
          <a:solidFill>
            <a:srgbClr val="E6F6F4"/>
          </a:solidFill>
          <a:ln w="12700">
            <a:solidFill>
              <a:srgbClr val="B6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435608" y="22037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435608" y="28895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00200" y="22037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600200" y="28895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764792" y="22037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764792" y="28895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929384" y="22037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929384" y="28895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093976" y="22037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093976" y="28895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258568" y="22037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258568" y="28895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423160" y="22037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423160" y="2889504"/>
            <a:ext cx="41148" cy="109728"/>
          </a:xfrm>
          <a:prstGeom prst="rect">
            <a:avLst/>
          </a:prstGeom>
          <a:solidFill>
            <a:srgbClr val="91B8B0"/>
          </a:solidFill>
          <a:ln w="1270">
            <a:solidFill>
              <a:srgbClr val="91B8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371600" y="2313432"/>
            <a:ext cx="1152144" cy="576072"/>
          </a:xfrm>
          <a:prstGeom prst="rect">
            <a:avLst/>
          </a:prstGeom>
          <a:solidFill>
            <a:srgbClr val="1A304B"/>
          </a:solidFill>
          <a:ln w="3810">
            <a:solidFill>
              <a:srgbClr val="1A30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17320" y="2386584"/>
            <a:ext cx="1060704" cy="219456"/>
          </a:xfrm>
          <a:prstGeom prst="rect">
            <a:avLst/>
          </a:prstGeom>
          <a:noFill/>
        </p:spPr>
        <p:txBody>
          <a:bodyPr wrap="square" lIns="0" tIns="4572" rIns="0" bIns="4572" anchor="ctr">
            <a:spAutoFit/>
          </a:bodyPr>
          <a:lstStyle/>
          <a:p>
            <a:pPr algn="ctr">
              <a:spcBef>
                <a:spcPts val="0"/>
              </a:spcBef>
              <a:spcAft>
                <a:spcPts val="0"/>
              </a:spcAft>
            </a:pPr>
            <a:r>
              <a:rPr sz="1130" b="1">
                <a:solidFill>
                  <a:srgbClr val="FFFFFF"/>
                </a:solidFill>
                <a:latin typeface="Aptos"/>
              </a:rPr>
              <a:t>STM32</a:t>
            </a:r>
          </a:p>
        </p:txBody>
      </p:sp>
      <p:sp>
        <p:nvSpPr>
          <p:cNvPr id="28" name="TextBox 27"/>
          <p:cNvSpPr txBox="1"/>
          <p:nvPr/>
        </p:nvSpPr>
        <p:spPr>
          <a:xfrm>
            <a:off x="1417320" y="2615184"/>
            <a:ext cx="1060704" cy="173736"/>
          </a:xfrm>
          <a:prstGeom prst="rect">
            <a:avLst/>
          </a:prstGeom>
          <a:noFill/>
        </p:spPr>
        <p:txBody>
          <a:bodyPr wrap="square" lIns="0" tIns="4572" rIns="0" bIns="4572" anchor="ctr">
            <a:spAutoFit/>
          </a:bodyPr>
          <a:lstStyle/>
          <a:p>
            <a:pPr algn="ctr">
              <a:spcBef>
                <a:spcPts val="0"/>
              </a:spcBef>
              <a:spcAft>
                <a:spcPts val="0"/>
              </a:spcAft>
            </a:pPr>
            <a:r>
              <a:rPr sz="880" b="1">
                <a:solidFill>
                  <a:srgbClr val="D7E8F6"/>
                </a:solidFill>
                <a:latin typeface="Aptos"/>
              </a:rPr>
              <a:t>F411CEU6</a:t>
            </a:r>
          </a:p>
        </p:txBody>
      </p:sp>
      <p:sp>
        <p:nvSpPr>
          <p:cNvPr id="29" name="TextBox 28"/>
          <p:cNvSpPr txBox="1"/>
          <p:nvPr/>
        </p:nvSpPr>
        <p:spPr>
          <a:xfrm>
            <a:off x="713232" y="3227832"/>
            <a:ext cx="2468880" cy="274320"/>
          </a:xfrm>
          <a:prstGeom prst="rect">
            <a:avLst/>
          </a:prstGeom>
          <a:noFill/>
        </p:spPr>
        <p:txBody>
          <a:bodyPr wrap="square" lIns="0" tIns="4572" rIns="0" bIns="4572" anchor="ctr">
            <a:spAutoFit/>
          </a:bodyPr>
          <a:lstStyle/>
          <a:p>
            <a:pPr algn="ctr">
              <a:spcBef>
                <a:spcPts val="0"/>
              </a:spcBef>
              <a:spcAft>
                <a:spcPts val="0"/>
              </a:spcAft>
            </a:pPr>
            <a:r>
              <a:rPr sz="1500" b="1">
                <a:solidFill>
                  <a:srgbClr val="1A304B"/>
                </a:solidFill>
                <a:latin typeface="Aptos"/>
              </a:rPr>
              <a:t>ARM Cortex-M4 + FPU</a:t>
            </a:r>
          </a:p>
        </p:txBody>
      </p:sp>
      <p:sp>
        <p:nvSpPr>
          <p:cNvPr id="30" name="Rounded Rectangle 29"/>
          <p:cNvSpPr/>
          <p:nvPr/>
        </p:nvSpPr>
        <p:spPr>
          <a:xfrm>
            <a:off x="731519" y="3703320"/>
            <a:ext cx="1124712" cy="713232"/>
          </a:xfrm>
          <a:prstGeom prst="roundRect">
            <a:avLst>
              <a:gd name="adj" fmla="val 12000"/>
            </a:avLst>
          </a:prstGeom>
          <a:solidFill>
            <a:srgbClr val="EAF2FC"/>
          </a:solidFill>
          <a:ln w="10160">
            <a:solidFill>
              <a:srgbClr val="D7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8096" y="3813048"/>
            <a:ext cx="1051560" cy="246888"/>
          </a:xfrm>
          <a:prstGeom prst="rect">
            <a:avLst/>
          </a:prstGeom>
          <a:noFill/>
        </p:spPr>
        <p:txBody>
          <a:bodyPr wrap="square" lIns="0" tIns="4572" rIns="0" bIns="4572" anchor="ctr">
            <a:spAutoFit/>
          </a:bodyPr>
          <a:lstStyle/>
          <a:p>
            <a:pPr algn="ctr">
              <a:spcBef>
                <a:spcPts val="0"/>
              </a:spcBef>
              <a:spcAft>
                <a:spcPts val="0"/>
              </a:spcAft>
            </a:pPr>
            <a:r>
              <a:rPr sz="1110" b="1">
                <a:solidFill>
                  <a:srgbClr val="2B73C7"/>
                </a:solidFill>
                <a:latin typeface="Aptos"/>
              </a:rPr>
              <a:t>512 KB</a:t>
            </a:r>
          </a:p>
        </p:txBody>
      </p:sp>
      <p:sp>
        <p:nvSpPr>
          <p:cNvPr id="32" name="TextBox 31"/>
          <p:cNvSpPr txBox="1"/>
          <p:nvPr/>
        </p:nvSpPr>
        <p:spPr>
          <a:xfrm>
            <a:off x="768096" y="4096512"/>
            <a:ext cx="1051560" cy="182880"/>
          </a:xfrm>
          <a:prstGeom prst="rect">
            <a:avLst/>
          </a:prstGeom>
          <a:noFill/>
        </p:spPr>
        <p:txBody>
          <a:bodyPr wrap="square" lIns="0" tIns="4572" rIns="0" bIns="4572" anchor="ctr">
            <a:spAutoFit/>
          </a:bodyPr>
          <a:lstStyle/>
          <a:p>
            <a:pPr algn="ctr">
              <a:spcBef>
                <a:spcPts val="0"/>
              </a:spcBef>
              <a:spcAft>
                <a:spcPts val="0"/>
              </a:spcAft>
            </a:pPr>
            <a:r>
              <a:rPr sz="850" b="0">
                <a:solidFill>
                  <a:srgbClr val="60758F"/>
                </a:solidFill>
                <a:latin typeface="Aptos"/>
              </a:rPr>
              <a:t>Flash</a:t>
            </a:r>
          </a:p>
        </p:txBody>
      </p:sp>
      <p:sp>
        <p:nvSpPr>
          <p:cNvPr id="33" name="Rounded Rectangle 32"/>
          <p:cNvSpPr/>
          <p:nvPr/>
        </p:nvSpPr>
        <p:spPr>
          <a:xfrm>
            <a:off x="2039112" y="3703320"/>
            <a:ext cx="1124712" cy="713232"/>
          </a:xfrm>
          <a:prstGeom prst="roundRect">
            <a:avLst>
              <a:gd name="adj" fmla="val 12000"/>
            </a:avLst>
          </a:prstGeom>
          <a:solidFill>
            <a:srgbClr val="EAF2FC"/>
          </a:solidFill>
          <a:ln w="10160">
            <a:solidFill>
              <a:srgbClr val="D7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075688" y="3813048"/>
            <a:ext cx="1051560" cy="246888"/>
          </a:xfrm>
          <a:prstGeom prst="rect">
            <a:avLst/>
          </a:prstGeom>
          <a:noFill/>
        </p:spPr>
        <p:txBody>
          <a:bodyPr wrap="square" lIns="0" tIns="4572" rIns="0" bIns="4572" anchor="ctr">
            <a:spAutoFit/>
          </a:bodyPr>
          <a:lstStyle/>
          <a:p>
            <a:pPr algn="ctr">
              <a:spcBef>
                <a:spcPts val="0"/>
              </a:spcBef>
              <a:spcAft>
                <a:spcPts val="0"/>
              </a:spcAft>
            </a:pPr>
            <a:r>
              <a:rPr sz="1110" b="1">
                <a:solidFill>
                  <a:srgbClr val="2B73C7"/>
                </a:solidFill>
                <a:latin typeface="Aptos"/>
              </a:rPr>
              <a:t>128 KB</a:t>
            </a:r>
          </a:p>
        </p:txBody>
      </p:sp>
      <p:sp>
        <p:nvSpPr>
          <p:cNvPr id="35" name="TextBox 34"/>
          <p:cNvSpPr txBox="1"/>
          <p:nvPr/>
        </p:nvSpPr>
        <p:spPr>
          <a:xfrm>
            <a:off x="2075688" y="4096512"/>
            <a:ext cx="1051560" cy="182880"/>
          </a:xfrm>
          <a:prstGeom prst="rect">
            <a:avLst/>
          </a:prstGeom>
          <a:noFill/>
        </p:spPr>
        <p:txBody>
          <a:bodyPr wrap="square" lIns="0" tIns="4572" rIns="0" bIns="4572" anchor="ctr">
            <a:spAutoFit/>
          </a:bodyPr>
          <a:lstStyle/>
          <a:p>
            <a:pPr algn="ctr">
              <a:spcBef>
                <a:spcPts val="0"/>
              </a:spcBef>
              <a:spcAft>
                <a:spcPts val="0"/>
              </a:spcAft>
            </a:pPr>
            <a:r>
              <a:rPr sz="850" b="0">
                <a:solidFill>
                  <a:srgbClr val="60758F"/>
                </a:solidFill>
                <a:latin typeface="Aptos"/>
              </a:rPr>
              <a:t>SRAM</a:t>
            </a:r>
          </a:p>
        </p:txBody>
      </p:sp>
      <p:sp>
        <p:nvSpPr>
          <p:cNvPr id="36" name="Rounded Rectangle 35"/>
          <p:cNvSpPr/>
          <p:nvPr/>
        </p:nvSpPr>
        <p:spPr>
          <a:xfrm>
            <a:off x="731519" y="4562856"/>
            <a:ext cx="1124712" cy="713232"/>
          </a:xfrm>
          <a:prstGeom prst="roundRect">
            <a:avLst>
              <a:gd name="adj" fmla="val 12000"/>
            </a:avLst>
          </a:prstGeom>
          <a:solidFill>
            <a:srgbClr val="E6F6F4"/>
          </a:solidFill>
          <a:ln w="10160">
            <a:solidFill>
              <a:srgbClr val="D7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68096" y="4672584"/>
            <a:ext cx="1051560" cy="246888"/>
          </a:xfrm>
          <a:prstGeom prst="rect">
            <a:avLst/>
          </a:prstGeom>
          <a:noFill/>
        </p:spPr>
        <p:txBody>
          <a:bodyPr wrap="square" lIns="0" tIns="4572" rIns="0" bIns="4572" anchor="ctr">
            <a:spAutoFit/>
          </a:bodyPr>
          <a:lstStyle/>
          <a:p>
            <a:pPr algn="ctr">
              <a:spcBef>
                <a:spcPts val="0"/>
              </a:spcBef>
              <a:spcAft>
                <a:spcPts val="0"/>
              </a:spcAft>
            </a:pPr>
            <a:r>
              <a:rPr sz="1110" b="1">
                <a:solidFill>
                  <a:srgbClr val="009AA6"/>
                </a:solidFill>
                <a:latin typeface="Aptos"/>
              </a:rPr>
              <a:t>12-bit</a:t>
            </a:r>
          </a:p>
        </p:txBody>
      </p:sp>
      <p:sp>
        <p:nvSpPr>
          <p:cNvPr id="38" name="TextBox 37"/>
          <p:cNvSpPr txBox="1"/>
          <p:nvPr/>
        </p:nvSpPr>
        <p:spPr>
          <a:xfrm>
            <a:off x="768096" y="4956048"/>
            <a:ext cx="1051560" cy="182880"/>
          </a:xfrm>
          <a:prstGeom prst="rect">
            <a:avLst/>
          </a:prstGeom>
          <a:noFill/>
        </p:spPr>
        <p:txBody>
          <a:bodyPr wrap="square" lIns="0" tIns="4572" rIns="0" bIns="4572" anchor="ctr">
            <a:spAutoFit/>
          </a:bodyPr>
          <a:lstStyle/>
          <a:p>
            <a:pPr algn="ctr">
              <a:spcBef>
                <a:spcPts val="0"/>
              </a:spcBef>
              <a:spcAft>
                <a:spcPts val="0"/>
              </a:spcAft>
            </a:pPr>
            <a:r>
              <a:rPr sz="850" b="0">
                <a:solidFill>
                  <a:srgbClr val="60758F"/>
                </a:solidFill>
                <a:latin typeface="Aptos"/>
              </a:rPr>
              <a:t>ADC</a:t>
            </a:r>
          </a:p>
        </p:txBody>
      </p:sp>
      <p:sp>
        <p:nvSpPr>
          <p:cNvPr id="39" name="Rounded Rectangle 38"/>
          <p:cNvSpPr/>
          <p:nvPr/>
        </p:nvSpPr>
        <p:spPr>
          <a:xfrm>
            <a:off x="2039112" y="4562856"/>
            <a:ext cx="1124712" cy="713232"/>
          </a:xfrm>
          <a:prstGeom prst="roundRect">
            <a:avLst>
              <a:gd name="adj" fmla="val 12000"/>
            </a:avLst>
          </a:prstGeom>
          <a:solidFill>
            <a:srgbClr val="E6F6F4"/>
          </a:solidFill>
          <a:ln w="10160">
            <a:solidFill>
              <a:srgbClr val="D7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075688" y="4672584"/>
            <a:ext cx="1051560" cy="246888"/>
          </a:xfrm>
          <a:prstGeom prst="rect">
            <a:avLst/>
          </a:prstGeom>
          <a:noFill/>
        </p:spPr>
        <p:txBody>
          <a:bodyPr wrap="square" lIns="0" tIns="4572" rIns="0" bIns="4572" anchor="ctr">
            <a:spAutoFit/>
          </a:bodyPr>
          <a:lstStyle/>
          <a:p>
            <a:pPr algn="ctr">
              <a:spcBef>
                <a:spcPts val="0"/>
              </a:spcBef>
              <a:spcAft>
                <a:spcPts val="0"/>
              </a:spcAft>
            </a:pPr>
            <a:r>
              <a:rPr sz="1110" b="1">
                <a:solidFill>
                  <a:srgbClr val="009AA6"/>
                </a:solidFill>
                <a:latin typeface="Aptos"/>
              </a:rPr>
              <a:t>GPIO / I²C</a:t>
            </a:r>
          </a:p>
        </p:txBody>
      </p:sp>
      <p:sp>
        <p:nvSpPr>
          <p:cNvPr id="41" name="TextBox 40"/>
          <p:cNvSpPr txBox="1"/>
          <p:nvPr/>
        </p:nvSpPr>
        <p:spPr>
          <a:xfrm>
            <a:off x="2075688" y="4956048"/>
            <a:ext cx="1051560" cy="182880"/>
          </a:xfrm>
          <a:prstGeom prst="rect">
            <a:avLst/>
          </a:prstGeom>
          <a:noFill/>
        </p:spPr>
        <p:txBody>
          <a:bodyPr wrap="square" lIns="0" tIns="4572" rIns="0" bIns="4572" anchor="ctr">
            <a:spAutoFit/>
          </a:bodyPr>
          <a:lstStyle/>
          <a:p>
            <a:pPr algn="ctr">
              <a:spcBef>
                <a:spcPts val="0"/>
              </a:spcBef>
              <a:spcAft>
                <a:spcPts val="0"/>
              </a:spcAft>
            </a:pPr>
            <a:r>
              <a:rPr sz="850" b="0">
                <a:solidFill>
                  <a:srgbClr val="60758F"/>
                </a:solidFill>
                <a:latin typeface="Aptos"/>
              </a:rPr>
              <a:t>TIM / USART</a:t>
            </a:r>
          </a:p>
        </p:txBody>
      </p:sp>
      <p:sp>
        <p:nvSpPr>
          <p:cNvPr id="42" name="TextBox 41"/>
          <p:cNvSpPr txBox="1"/>
          <p:nvPr/>
        </p:nvSpPr>
        <p:spPr>
          <a:xfrm>
            <a:off x="731519" y="5486400"/>
            <a:ext cx="2432304" cy="256032"/>
          </a:xfrm>
          <a:prstGeom prst="rect">
            <a:avLst/>
          </a:prstGeom>
          <a:noFill/>
        </p:spPr>
        <p:txBody>
          <a:bodyPr wrap="square" lIns="0" tIns="4572" rIns="0" bIns="4572" anchor="ctr">
            <a:spAutoFit/>
          </a:bodyPr>
          <a:lstStyle/>
          <a:p>
            <a:pPr algn="ctr">
              <a:spcBef>
                <a:spcPts val="0"/>
              </a:spcBef>
              <a:spcAft>
                <a:spcPts val="0"/>
              </a:spcAft>
            </a:pPr>
            <a:r>
              <a:rPr sz="890" b="0">
                <a:solidFill>
                  <a:srgbClr val="60758F"/>
                </a:solidFill>
                <a:latin typeface="Aptos"/>
              </a:rPr>
              <a:t>Peripheral setup + event logic</a:t>
            </a:r>
          </a:p>
        </p:txBody>
      </p:sp>
      <p:sp>
        <p:nvSpPr>
          <p:cNvPr id="43" name="TextBox 42"/>
          <p:cNvSpPr txBox="1"/>
          <p:nvPr/>
        </p:nvSpPr>
        <p:spPr>
          <a:xfrm>
            <a:off x="3749039" y="1645920"/>
            <a:ext cx="4489703" cy="256032"/>
          </a:xfrm>
          <a:prstGeom prst="rect">
            <a:avLst/>
          </a:prstGeom>
          <a:noFill/>
        </p:spPr>
        <p:txBody>
          <a:bodyPr wrap="square" lIns="0" tIns="4572" rIns="0" bIns="4572" anchor="ctr">
            <a:spAutoFit/>
          </a:bodyPr>
          <a:lstStyle/>
          <a:p>
            <a:pPr algn="l">
              <a:spcBef>
                <a:spcPts val="0"/>
              </a:spcBef>
              <a:spcAft>
                <a:spcPts val="0"/>
              </a:spcAft>
            </a:pPr>
            <a:r>
              <a:rPr sz="1019" b="1">
                <a:solidFill>
                  <a:srgbClr val="009AA6"/>
                </a:solidFill>
                <a:latin typeface="Aptos"/>
              </a:rPr>
              <a:t>FEATURE  →  STM32 PERIPHERAL</a:t>
            </a:r>
          </a:p>
        </p:txBody>
      </p:sp>
      <p:sp>
        <p:nvSpPr>
          <p:cNvPr id="44" name="Rounded Rectangle 43"/>
          <p:cNvSpPr/>
          <p:nvPr/>
        </p:nvSpPr>
        <p:spPr>
          <a:xfrm>
            <a:off x="3712463" y="2039112"/>
            <a:ext cx="4562855" cy="484632"/>
          </a:xfrm>
          <a:prstGeom prst="roundRect">
            <a:avLst>
              <a:gd name="adj" fmla="val 12000"/>
            </a:avLst>
          </a:prstGeom>
          <a:solidFill>
            <a:srgbClr val="E6F6F4"/>
          </a:solidFill>
          <a:ln w="698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3822191" y="2148840"/>
            <a:ext cx="1298448" cy="265176"/>
          </a:xfrm>
          <a:prstGeom prst="roundRect">
            <a:avLst>
              <a:gd name="adj" fmla="val 12000"/>
            </a:avLst>
          </a:prstGeom>
          <a:solidFill>
            <a:srgbClr val="E6F6F4"/>
          </a:solidFill>
          <a:ln w="2540">
            <a:solidFill>
              <a:srgbClr val="E6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858768" y="2148840"/>
            <a:ext cx="1225296" cy="256032"/>
          </a:xfrm>
          <a:prstGeom prst="rect">
            <a:avLst/>
          </a:prstGeom>
          <a:noFill/>
        </p:spPr>
        <p:txBody>
          <a:bodyPr wrap="square" lIns="9144" tIns="4572" rIns="9144" bIns="4572" anchor="ctr">
            <a:spAutoFit/>
          </a:bodyPr>
          <a:lstStyle/>
          <a:p>
            <a:pPr algn="ctr">
              <a:spcBef>
                <a:spcPts val="0"/>
              </a:spcBef>
              <a:spcAft>
                <a:spcPts val="0"/>
              </a:spcAft>
            </a:pPr>
            <a:r>
              <a:rPr sz="919" b="1">
                <a:solidFill>
                  <a:srgbClr val="1A304B"/>
                </a:solidFill>
                <a:latin typeface="Aptos"/>
              </a:rPr>
              <a:t>MPU6050</a:t>
            </a:r>
          </a:p>
        </p:txBody>
      </p:sp>
      <p:sp>
        <p:nvSpPr>
          <p:cNvPr id="47" name="TextBox 46"/>
          <p:cNvSpPr txBox="1"/>
          <p:nvPr/>
        </p:nvSpPr>
        <p:spPr>
          <a:xfrm>
            <a:off x="5248656" y="2103120"/>
            <a:ext cx="2834639" cy="356616"/>
          </a:xfrm>
          <a:prstGeom prst="rect">
            <a:avLst/>
          </a:prstGeom>
          <a:noFill/>
        </p:spPr>
        <p:txBody>
          <a:bodyPr wrap="square" lIns="9144" tIns="4572" rIns="9144" bIns="4572" anchor="ctr">
            <a:spAutoFit/>
          </a:bodyPr>
          <a:lstStyle/>
          <a:p>
            <a:pPr algn="l">
              <a:spcBef>
                <a:spcPts val="0"/>
              </a:spcBef>
              <a:spcAft>
                <a:spcPts val="0"/>
              </a:spcAft>
            </a:pPr>
            <a:r>
              <a:rPr sz="910" b="0">
                <a:solidFill>
                  <a:srgbClr val="60758F"/>
                </a:solidFill>
                <a:latin typeface="Aptos"/>
              </a:rPr>
              <a:t>I²C1; GPIO alternate-function setup</a:t>
            </a:r>
          </a:p>
        </p:txBody>
      </p:sp>
      <p:sp>
        <p:nvSpPr>
          <p:cNvPr id="48" name="Rounded Rectangle 47"/>
          <p:cNvSpPr/>
          <p:nvPr/>
        </p:nvSpPr>
        <p:spPr>
          <a:xfrm>
            <a:off x="3712463" y="2606040"/>
            <a:ext cx="4562855" cy="484632"/>
          </a:xfrm>
          <a:prstGeom prst="roundRect">
            <a:avLst>
              <a:gd name="adj" fmla="val 12000"/>
            </a:avLst>
          </a:prstGeom>
          <a:solidFill>
            <a:srgbClr val="FFFFFF"/>
          </a:solidFill>
          <a:ln w="698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3822191" y="2715768"/>
            <a:ext cx="1298448" cy="265176"/>
          </a:xfrm>
          <a:prstGeom prst="roundRect">
            <a:avLst>
              <a:gd name="adj" fmla="val 12000"/>
            </a:avLst>
          </a:prstGeom>
          <a:solidFill>
            <a:srgbClr val="EAF2FC"/>
          </a:solidFill>
          <a:ln w="254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858768" y="2715768"/>
            <a:ext cx="1225296" cy="256032"/>
          </a:xfrm>
          <a:prstGeom prst="rect">
            <a:avLst/>
          </a:prstGeom>
          <a:noFill/>
        </p:spPr>
        <p:txBody>
          <a:bodyPr wrap="square" lIns="9144" tIns="4572" rIns="9144" bIns="4572" anchor="ctr">
            <a:spAutoFit/>
          </a:bodyPr>
          <a:lstStyle/>
          <a:p>
            <a:pPr algn="ctr">
              <a:spcBef>
                <a:spcPts val="0"/>
              </a:spcBef>
              <a:spcAft>
                <a:spcPts val="0"/>
              </a:spcAft>
            </a:pPr>
            <a:r>
              <a:rPr sz="919" b="1">
                <a:solidFill>
                  <a:srgbClr val="1A304B"/>
                </a:solidFill>
                <a:latin typeface="Aptos"/>
              </a:rPr>
              <a:t>LM35*</a:t>
            </a:r>
          </a:p>
        </p:txBody>
      </p:sp>
      <p:sp>
        <p:nvSpPr>
          <p:cNvPr id="51" name="TextBox 50"/>
          <p:cNvSpPr txBox="1"/>
          <p:nvPr/>
        </p:nvSpPr>
        <p:spPr>
          <a:xfrm>
            <a:off x="5248656" y="2670048"/>
            <a:ext cx="2834639" cy="356616"/>
          </a:xfrm>
          <a:prstGeom prst="rect">
            <a:avLst/>
          </a:prstGeom>
          <a:noFill/>
        </p:spPr>
        <p:txBody>
          <a:bodyPr wrap="square" lIns="9144" tIns="4572" rIns="9144" bIns="4572" anchor="ctr">
            <a:spAutoFit/>
          </a:bodyPr>
          <a:lstStyle/>
          <a:p>
            <a:pPr algn="l">
              <a:spcBef>
                <a:spcPts val="0"/>
              </a:spcBef>
              <a:spcAft>
                <a:spcPts val="0"/>
              </a:spcAft>
            </a:pPr>
            <a:r>
              <a:rPr sz="910" b="0">
                <a:solidFill>
                  <a:srgbClr val="60758F"/>
                </a:solidFill>
                <a:latin typeface="Aptos"/>
              </a:rPr>
              <a:t>ADC1; analog input configuration</a:t>
            </a:r>
          </a:p>
        </p:txBody>
      </p:sp>
      <p:sp>
        <p:nvSpPr>
          <p:cNvPr id="52" name="Rounded Rectangle 51"/>
          <p:cNvSpPr/>
          <p:nvPr/>
        </p:nvSpPr>
        <p:spPr>
          <a:xfrm>
            <a:off x="3712463" y="3172968"/>
            <a:ext cx="4562855" cy="484632"/>
          </a:xfrm>
          <a:prstGeom prst="roundRect">
            <a:avLst>
              <a:gd name="adj" fmla="val 12000"/>
            </a:avLst>
          </a:prstGeom>
          <a:solidFill>
            <a:srgbClr val="E6F6F4"/>
          </a:solidFill>
          <a:ln w="698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3822191" y="3282696"/>
            <a:ext cx="1298448" cy="265176"/>
          </a:xfrm>
          <a:prstGeom prst="roundRect">
            <a:avLst>
              <a:gd name="adj" fmla="val 12000"/>
            </a:avLst>
          </a:prstGeom>
          <a:solidFill>
            <a:srgbClr val="E6F6F4"/>
          </a:solidFill>
          <a:ln w="2540">
            <a:solidFill>
              <a:srgbClr val="E6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858768" y="3282696"/>
            <a:ext cx="1225296" cy="256032"/>
          </a:xfrm>
          <a:prstGeom prst="rect">
            <a:avLst/>
          </a:prstGeom>
          <a:noFill/>
        </p:spPr>
        <p:txBody>
          <a:bodyPr wrap="square" lIns="9144" tIns="4572" rIns="9144" bIns="4572" anchor="ctr">
            <a:spAutoFit/>
          </a:bodyPr>
          <a:lstStyle/>
          <a:p>
            <a:pPr algn="ctr">
              <a:spcBef>
                <a:spcPts val="0"/>
              </a:spcBef>
              <a:spcAft>
                <a:spcPts val="0"/>
              </a:spcAft>
            </a:pPr>
            <a:r>
              <a:rPr sz="919" b="1">
                <a:solidFill>
                  <a:srgbClr val="1A304B"/>
                </a:solidFill>
                <a:latin typeface="Aptos"/>
              </a:rPr>
              <a:t>HC-SR04*</a:t>
            </a:r>
          </a:p>
        </p:txBody>
      </p:sp>
      <p:sp>
        <p:nvSpPr>
          <p:cNvPr id="55" name="TextBox 54"/>
          <p:cNvSpPr txBox="1"/>
          <p:nvPr/>
        </p:nvSpPr>
        <p:spPr>
          <a:xfrm>
            <a:off x="5248656" y="3236975"/>
            <a:ext cx="2834639" cy="356616"/>
          </a:xfrm>
          <a:prstGeom prst="rect">
            <a:avLst/>
          </a:prstGeom>
          <a:noFill/>
        </p:spPr>
        <p:txBody>
          <a:bodyPr wrap="square" lIns="9144" tIns="4572" rIns="9144" bIns="4572" anchor="ctr">
            <a:spAutoFit/>
          </a:bodyPr>
          <a:lstStyle/>
          <a:p>
            <a:pPr algn="l">
              <a:spcBef>
                <a:spcPts val="0"/>
              </a:spcBef>
              <a:spcAft>
                <a:spcPts val="0"/>
              </a:spcAft>
            </a:pPr>
            <a:r>
              <a:rPr sz="910" b="0">
                <a:solidFill>
                  <a:srgbClr val="60758F"/>
                </a:solidFill>
                <a:latin typeface="Aptos"/>
              </a:rPr>
              <a:t>GPIO trigger + timer input capture</a:t>
            </a:r>
          </a:p>
        </p:txBody>
      </p:sp>
      <p:sp>
        <p:nvSpPr>
          <p:cNvPr id="56" name="Rounded Rectangle 55"/>
          <p:cNvSpPr/>
          <p:nvPr/>
        </p:nvSpPr>
        <p:spPr>
          <a:xfrm>
            <a:off x="3712463" y="3739896"/>
            <a:ext cx="4562855" cy="484632"/>
          </a:xfrm>
          <a:prstGeom prst="roundRect">
            <a:avLst>
              <a:gd name="adj" fmla="val 12000"/>
            </a:avLst>
          </a:prstGeom>
          <a:solidFill>
            <a:srgbClr val="FFFFFF"/>
          </a:solidFill>
          <a:ln w="698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3822191" y="3849624"/>
            <a:ext cx="1298448" cy="265176"/>
          </a:xfrm>
          <a:prstGeom prst="roundRect">
            <a:avLst>
              <a:gd name="adj" fmla="val 12000"/>
            </a:avLst>
          </a:prstGeom>
          <a:solidFill>
            <a:srgbClr val="EAF2FC"/>
          </a:solidFill>
          <a:ln w="254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858768" y="3849624"/>
            <a:ext cx="1225296" cy="256032"/>
          </a:xfrm>
          <a:prstGeom prst="rect">
            <a:avLst/>
          </a:prstGeom>
          <a:noFill/>
        </p:spPr>
        <p:txBody>
          <a:bodyPr wrap="square" lIns="9144" tIns="4572" rIns="9144" bIns="4572" anchor="ctr">
            <a:spAutoFit/>
          </a:bodyPr>
          <a:lstStyle/>
          <a:p>
            <a:pPr algn="ctr">
              <a:spcBef>
                <a:spcPts val="0"/>
              </a:spcBef>
              <a:spcAft>
                <a:spcPts val="0"/>
              </a:spcAft>
            </a:pPr>
            <a:r>
              <a:rPr sz="919" b="1">
                <a:solidFill>
                  <a:srgbClr val="1A304B"/>
                </a:solidFill>
                <a:latin typeface="Aptos"/>
              </a:rPr>
              <a:t>Buzzer / LEDs</a:t>
            </a:r>
          </a:p>
        </p:txBody>
      </p:sp>
      <p:sp>
        <p:nvSpPr>
          <p:cNvPr id="59" name="TextBox 58"/>
          <p:cNvSpPr txBox="1"/>
          <p:nvPr/>
        </p:nvSpPr>
        <p:spPr>
          <a:xfrm>
            <a:off x="5248656" y="3803904"/>
            <a:ext cx="2834639" cy="356616"/>
          </a:xfrm>
          <a:prstGeom prst="rect">
            <a:avLst/>
          </a:prstGeom>
          <a:noFill/>
        </p:spPr>
        <p:txBody>
          <a:bodyPr wrap="square" lIns="9144" tIns="4572" rIns="9144" bIns="4572" anchor="ctr">
            <a:spAutoFit/>
          </a:bodyPr>
          <a:lstStyle/>
          <a:p>
            <a:pPr algn="l">
              <a:spcBef>
                <a:spcPts val="0"/>
              </a:spcBef>
              <a:spcAft>
                <a:spcPts val="0"/>
              </a:spcAft>
            </a:pPr>
            <a:r>
              <a:rPr sz="910" b="0">
                <a:solidFill>
                  <a:srgbClr val="60758F"/>
                </a:solidFill>
                <a:latin typeface="Aptos"/>
              </a:rPr>
              <a:t>GPIO output; timer optional for patterns</a:t>
            </a:r>
          </a:p>
        </p:txBody>
      </p:sp>
      <p:sp>
        <p:nvSpPr>
          <p:cNvPr id="60" name="Rounded Rectangle 59"/>
          <p:cNvSpPr/>
          <p:nvPr/>
        </p:nvSpPr>
        <p:spPr>
          <a:xfrm>
            <a:off x="3712463" y="4306824"/>
            <a:ext cx="4562855" cy="484632"/>
          </a:xfrm>
          <a:prstGeom prst="roundRect">
            <a:avLst>
              <a:gd name="adj" fmla="val 12000"/>
            </a:avLst>
          </a:prstGeom>
          <a:solidFill>
            <a:srgbClr val="E6F6F4"/>
          </a:solidFill>
          <a:ln w="698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3822191" y="4416552"/>
            <a:ext cx="1298448" cy="265176"/>
          </a:xfrm>
          <a:prstGeom prst="roundRect">
            <a:avLst>
              <a:gd name="adj" fmla="val 12000"/>
            </a:avLst>
          </a:prstGeom>
          <a:solidFill>
            <a:srgbClr val="E6F6F4"/>
          </a:solidFill>
          <a:ln w="2540">
            <a:solidFill>
              <a:srgbClr val="E6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3858768" y="4416552"/>
            <a:ext cx="1225296" cy="256032"/>
          </a:xfrm>
          <a:prstGeom prst="rect">
            <a:avLst/>
          </a:prstGeom>
          <a:noFill/>
        </p:spPr>
        <p:txBody>
          <a:bodyPr wrap="square" lIns="9144" tIns="4572" rIns="9144" bIns="4572" anchor="ctr">
            <a:spAutoFit/>
          </a:bodyPr>
          <a:lstStyle/>
          <a:p>
            <a:pPr algn="ctr">
              <a:spcBef>
                <a:spcPts val="0"/>
              </a:spcBef>
              <a:spcAft>
                <a:spcPts val="0"/>
              </a:spcAft>
            </a:pPr>
            <a:r>
              <a:rPr sz="919" b="1">
                <a:solidFill>
                  <a:srgbClr val="1A304B"/>
                </a:solidFill>
                <a:latin typeface="Aptos"/>
              </a:rPr>
              <a:t>Periodic tasks</a:t>
            </a:r>
          </a:p>
        </p:txBody>
      </p:sp>
      <p:sp>
        <p:nvSpPr>
          <p:cNvPr id="63" name="TextBox 62"/>
          <p:cNvSpPr txBox="1"/>
          <p:nvPr/>
        </p:nvSpPr>
        <p:spPr>
          <a:xfrm>
            <a:off x="5248656" y="4370832"/>
            <a:ext cx="2834639" cy="356616"/>
          </a:xfrm>
          <a:prstGeom prst="rect">
            <a:avLst/>
          </a:prstGeom>
          <a:noFill/>
        </p:spPr>
        <p:txBody>
          <a:bodyPr wrap="square" lIns="9144" tIns="4572" rIns="9144" bIns="4572" anchor="ctr">
            <a:spAutoFit/>
          </a:bodyPr>
          <a:lstStyle/>
          <a:p>
            <a:pPr algn="l">
              <a:spcBef>
                <a:spcPts val="0"/>
              </a:spcBef>
              <a:spcAft>
                <a:spcPts val="0"/>
              </a:spcAft>
            </a:pPr>
            <a:r>
              <a:rPr sz="910" b="0">
                <a:solidFill>
                  <a:srgbClr val="60758F"/>
                </a:solidFill>
                <a:latin typeface="Aptos"/>
              </a:rPr>
              <a:t>SysTick or a general-purpose timer</a:t>
            </a:r>
          </a:p>
        </p:txBody>
      </p:sp>
      <p:sp>
        <p:nvSpPr>
          <p:cNvPr id="64" name="Rounded Rectangle 63"/>
          <p:cNvSpPr/>
          <p:nvPr/>
        </p:nvSpPr>
        <p:spPr>
          <a:xfrm>
            <a:off x="3712463" y="4873752"/>
            <a:ext cx="4562855" cy="484632"/>
          </a:xfrm>
          <a:prstGeom prst="roundRect">
            <a:avLst>
              <a:gd name="adj" fmla="val 12000"/>
            </a:avLst>
          </a:prstGeom>
          <a:solidFill>
            <a:srgbClr val="FFFFFF"/>
          </a:solidFill>
          <a:ln w="698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3822191" y="4983480"/>
            <a:ext cx="1298448" cy="265176"/>
          </a:xfrm>
          <a:prstGeom prst="roundRect">
            <a:avLst>
              <a:gd name="adj" fmla="val 12000"/>
            </a:avLst>
          </a:prstGeom>
          <a:solidFill>
            <a:srgbClr val="EAF2FC"/>
          </a:solidFill>
          <a:ln w="254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858768" y="4983480"/>
            <a:ext cx="1225296" cy="256032"/>
          </a:xfrm>
          <a:prstGeom prst="rect">
            <a:avLst/>
          </a:prstGeom>
          <a:noFill/>
        </p:spPr>
        <p:txBody>
          <a:bodyPr wrap="square" lIns="9144" tIns="4572" rIns="9144" bIns="4572" anchor="ctr">
            <a:spAutoFit/>
          </a:bodyPr>
          <a:lstStyle/>
          <a:p>
            <a:pPr algn="ctr">
              <a:spcBef>
                <a:spcPts val="0"/>
              </a:spcBef>
              <a:spcAft>
                <a:spcPts val="0"/>
              </a:spcAft>
            </a:pPr>
            <a:r>
              <a:rPr sz="919" b="1">
                <a:solidFill>
                  <a:srgbClr val="1A304B"/>
                </a:solidFill>
                <a:latin typeface="Aptos"/>
              </a:rPr>
              <a:t>Hardware events</a:t>
            </a:r>
          </a:p>
        </p:txBody>
      </p:sp>
      <p:sp>
        <p:nvSpPr>
          <p:cNvPr id="67" name="TextBox 66"/>
          <p:cNvSpPr txBox="1"/>
          <p:nvPr/>
        </p:nvSpPr>
        <p:spPr>
          <a:xfrm>
            <a:off x="5248656" y="4937760"/>
            <a:ext cx="2834639" cy="356616"/>
          </a:xfrm>
          <a:prstGeom prst="rect">
            <a:avLst/>
          </a:prstGeom>
          <a:noFill/>
        </p:spPr>
        <p:txBody>
          <a:bodyPr wrap="square" lIns="9144" tIns="4572" rIns="9144" bIns="4572" anchor="ctr">
            <a:spAutoFit/>
          </a:bodyPr>
          <a:lstStyle/>
          <a:p>
            <a:pPr algn="l">
              <a:spcBef>
                <a:spcPts val="0"/>
              </a:spcBef>
              <a:spcAft>
                <a:spcPts val="0"/>
              </a:spcAft>
            </a:pPr>
            <a:r>
              <a:rPr sz="910" b="0">
                <a:solidFill>
                  <a:srgbClr val="60758F"/>
                </a:solidFill>
                <a:latin typeface="Aptos"/>
              </a:rPr>
              <a:t>EXTI + NVIC, if interrupt-driven</a:t>
            </a:r>
          </a:p>
        </p:txBody>
      </p:sp>
      <p:sp>
        <p:nvSpPr>
          <p:cNvPr id="68" name="Rounded Rectangle 67"/>
          <p:cNvSpPr/>
          <p:nvPr/>
        </p:nvSpPr>
        <p:spPr>
          <a:xfrm>
            <a:off x="3712463" y="5440679"/>
            <a:ext cx="4562855" cy="484632"/>
          </a:xfrm>
          <a:prstGeom prst="roundRect">
            <a:avLst>
              <a:gd name="adj" fmla="val 12000"/>
            </a:avLst>
          </a:prstGeom>
          <a:solidFill>
            <a:srgbClr val="E6F6F4"/>
          </a:solidFill>
          <a:ln w="698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3822191" y="5550407"/>
            <a:ext cx="1298448" cy="265176"/>
          </a:xfrm>
          <a:prstGeom prst="roundRect">
            <a:avLst>
              <a:gd name="adj" fmla="val 12000"/>
            </a:avLst>
          </a:prstGeom>
          <a:solidFill>
            <a:srgbClr val="E6F6F4"/>
          </a:solidFill>
          <a:ln w="2540">
            <a:solidFill>
              <a:srgbClr val="E6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858768" y="5550407"/>
            <a:ext cx="1225296" cy="256032"/>
          </a:xfrm>
          <a:prstGeom prst="rect">
            <a:avLst/>
          </a:prstGeom>
          <a:noFill/>
        </p:spPr>
        <p:txBody>
          <a:bodyPr wrap="square" lIns="9144" tIns="4572" rIns="9144" bIns="4572" anchor="ctr">
            <a:spAutoFit/>
          </a:bodyPr>
          <a:lstStyle/>
          <a:p>
            <a:pPr algn="ctr">
              <a:spcBef>
                <a:spcPts val="0"/>
              </a:spcBef>
              <a:spcAft>
                <a:spcPts val="0"/>
              </a:spcAft>
            </a:pPr>
            <a:r>
              <a:rPr sz="919" b="1">
                <a:solidFill>
                  <a:srgbClr val="1A304B"/>
                </a:solidFill>
                <a:latin typeface="Aptos"/>
              </a:rPr>
              <a:t>PC debug stream</a:t>
            </a:r>
          </a:p>
        </p:txBody>
      </p:sp>
      <p:sp>
        <p:nvSpPr>
          <p:cNvPr id="71" name="TextBox 70"/>
          <p:cNvSpPr txBox="1"/>
          <p:nvPr/>
        </p:nvSpPr>
        <p:spPr>
          <a:xfrm>
            <a:off x="5248656" y="5504688"/>
            <a:ext cx="2834639" cy="356616"/>
          </a:xfrm>
          <a:prstGeom prst="rect">
            <a:avLst/>
          </a:prstGeom>
          <a:noFill/>
        </p:spPr>
        <p:txBody>
          <a:bodyPr wrap="square" lIns="9144" tIns="4572" rIns="9144" bIns="4572" anchor="ctr">
            <a:spAutoFit/>
          </a:bodyPr>
          <a:lstStyle/>
          <a:p>
            <a:pPr algn="l">
              <a:spcBef>
                <a:spcPts val="0"/>
              </a:spcBef>
              <a:spcAft>
                <a:spcPts val="0"/>
              </a:spcAft>
            </a:pPr>
            <a:r>
              <a:rPr sz="910" b="0">
                <a:solidFill>
                  <a:srgbClr val="60758F"/>
                </a:solidFill>
                <a:latin typeface="Aptos"/>
              </a:rPr>
              <a:t>USART asynchronous mode, if available</a:t>
            </a:r>
          </a:p>
        </p:txBody>
      </p:sp>
      <p:sp>
        <p:nvSpPr>
          <p:cNvPr id="72" name="TextBox 71"/>
          <p:cNvSpPr txBox="1"/>
          <p:nvPr/>
        </p:nvSpPr>
        <p:spPr>
          <a:xfrm>
            <a:off x="8823960" y="1645920"/>
            <a:ext cx="2633472" cy="256032"/>
          </a:xfrm>
          <a:prstGeom prst="rect">
            <a:avLst/>
          </a:prstGeom>
          <a:noFill/>
        </p:spPr>
        <p:txBody>
          <a:bodyPr wrap="square" lIns="0" tIns="4572" rIns="0" bIns="4572" anchor="ctr">
            <a:spAutoFit/>
          </a:bodyPr>
          <a:lstStyle/>
          <a:p>
            <a:pPr algn="l">
              <a:spcBef>
                <a:spcPts val="0"/>
              </a:spcBef>
              <a:spcAft>
                <a:spcPts val="0"/>
              </a:spcAft>
            </a:pPr>
            <a:r>
              <a:rPr sz="1000" b="1">
                <a:solidFill>
                  <a:srgbClr val="2B73C7"/>
                </a:solidFill>
                <a:latin typeface="Aptos"/>
              </a:rPr>
              <a:t>REGISTER CONCEPTS USED</a:t>
            </a:r>
          </a:p>
        </p:txBody>
      </p:sp>
      <p:sp>
        <p:nvSpPr>
          <p:cNvPr id="73" name="TextBox 72"/>
          <p:cNvSpPr txBox="1"/>
          <p:nvPr/>
        </p:nvSpPr>
        <p:spPr>
          <a:xfrm>
            <a:off x="8842248" y="2075688"/>
            <a:ext cx="2596896" cy="210312"/>
          </a:xfrm>
          <a:prstGeom prst="rect">
            <a:avLst/>
          </a:prstGeom>
          <a:noFill/>
        </p:spPr>
        <p:txBody>
          <a:bodyPr wrap="square" lIns="0" tIns="4572" rIns="0" bIns="4572" anchor="ctr">
            <a:spAutoFit/>
          </a:bodyPr>
          <a:lstStyle/>
          <a:p>
            <a:pPr algn="l">
              <a:spcBef>
                <a:spcPts val="0"/>
              </a:spcBef>
              <a:spcAft>
                <a:spcPts val="0"/>
              </a:spcAft>
            </a:pPr>
            <a:r>
              <a:rPr sz="930" b="1">
                <a:solidFill>
                  <a:srgbClr val="1A304B"/>
                </a:solidFill>
                <a:latin typeface="Aptos"/>
              </a:rPr>
              <a:t>RCC_AHB1ENR</a:t>
            </a:r>
          </a:p>
        </p:txBody>
      </p:sp>
      <p:sp>
        <p:nvSpPr>
          <p:cNvPr id="74" name="TextBox 73"/>
          <p:cNvSpPr txBox="1"/>
          <p:nvPr/>
        </p:nvSpPr>
        <p:spPr>
          <a:xfrm>
            <a:off x="8842248" y="2295144"/>
            <a:ext cx="2596896" cy="201168"/>
          </a:xfrm>
          <a:prstGeom prst="rect">
            <a:avLst/>
          </a:prstGeom>
          <a:noFill/>
        </p:spPr>
        <p:txBody>
          <a:bodyPr wrap="square" lIns="0" tIns="4572" rIns="0" bIns="4572" anchor="ctr">
            <a:spAutoFit/>
          </a:bodyPr>
          <a:lstStyle/>
          <a:p>
            <a:pPr algn="l">
              <a:spcBef>
                <a:spcPts val="0"/>
              </a:spcBef>
              <a:spcAft>
                <a:spcPts val="0"/>
              </a:spcAft>
            </a:pPr>
            <a:r>
              <a:rPr sz="840" b="0">
                <a:solidFill>
                  <a:srgbClr val="60758F"/>
                </a:solidFill>
                <a:latin typeface="Aptos"/>
              </a:rPr>
              <a:t>Enable the GPIO peripheral clock</a:t>
            </a:r>
          </a:p>
        </p:txBody>
      </p:sp>
      <p:cxnSp>
        <p:nvCxnSpPr>
          <p:cNvPr id="75" name="Connector 74"/>
          <p:cNvCxnSpPr/>
          <p:nvPr/>
        </p:nvCxnSpPr>
        <p:spPr>
          <a:xfrm>
            <a:off x="8842248" y="2542032"/>
            <a:ext cx="2596896" cy="0"/>
          </a:xfrm>
          <a:prstGeom prst="line">
            <a:avLst/>
          </a:prstGeom>
          <a:ln w="6985">
            <a:solidFill>
              <a:srgbClr val="D8E3EF"/>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8842248" y="2615184"/>
            <a:ext cx="2596896" cy="210312"/>
          </a:xfrm>
          <a:prstGeom prst="rect">
            <a:avLst/>
          </a:prstGeom>
          <a:noFill/>
        </p:spPr>
        <p:txBody>
          <a:bodyPr wrap="square" lIns="0" tIns="4572" rIns="0" bIns="4572" anchor="ctr">
            <a:spAutoFit/>
          </a:bodyPr>
          <a:lstStyle/>
          <a:p>
            <a:pPr algn="l">
              <a:spcBef>
                <a:spcPts val="0"/>
              </a:spcBef>
              <a:spcAft>
                <a:spcPts val="0"/>
              </a:spcAft>
            </a:pPr>
            <a:r>
              <a:rPr sz="930" b="1">
                <a:solidFill>
                  <a:srgbClr val="1A304B"/>
                </a:solidFill>
                <a:latin typeface="Aptos"/>
              </a:rPr>
              <a:t>GPIOx_MODER / BSRR</a:t>
            </a:r>
          </a:p>
        </p:txBody>
      </p:sp>
      <p:sp>
        <p:nvSpPr>
          <p:cNvPr id="77" name="TextBox 76"/>
          <p:cNvSpPr txBox="1"/>
          <p:nvPr/>
        </p:nvSpPr>
        <p:spPr>
          <a:xfrm>
            <a:off x="8842248" y="2834639"/>
            <a:ext cx="2596896" cy="201168"/>
          </a:xfrm>
          <a:prstGeom prst="rect">
            <a:avLst/>
          </a:prstGeom>
          <a:noFill/>
        </p:spPr>
        <p:txBody>
          <a:bodyPr wrap="square" lIns="0" tIns="4572" rIns="0" bIns="4572" anchor="ctr">
            <a:spAutoFit/>
          </a:bodyPr>
          <a:lstStyle/>
          <a:p>
            <a:pPr algn="l">
              <a:spcBef>
                <a:spcPts val="0"/>
              </a:spcBef>
              <a:spcAft>
                <a:spcPts val="0"/>
              </a:spcAft>
            </a:pPr>
            <a:r>
              <a:rPr sz="840" b="0">
                <a:solidFill>
                  <a:srgbClr val="60758F"/>
                </a:solidFill>
                <a:latin typeface="Aptos"/>
              </a:rPr>
              <a:t>Configure pins and drive outputs</a:t>
            </a:r>
          </a:p>
        </p:txBody>
      </p:sp>
      <p:cxnSp>
        <p:nvCxnSpPr>
          <p:cNvPr id="78" name="Connector 77"/>
          <p:cNvCxnSpPr/>
          <p:nvPr/>
        </p:nvCxnSpPr>
        <p:spPr>
          <a:xfrm>
            <a:off x="8842248" y="3081528"/>
            <a:ext cx="2596896" cy="0"/>
          </a:xfrm>
          <a:prstGeom prst="line">
            <a:avLst/>
          </a:prstGeom>
          <a:ln w="6985">
            <a:solidFill>
              <a:srgbClr val="D8E3EF"/>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8842248" y="3154680"/>
            <a:ext cx="2596896" cy="210312"/>
          </a:xfrm>
          <a:prstGeom prst="rect">
            <a:avLst/>
          </a:prstGeom>
          <a:noFill/>
        </p:spPr>
        <p:txBody>
          <a:bodyPr wrap="square" lIns="0" tIns="4572" rIns="0" bIns="4572" anchor="ctr">
            <a:spAutoFit/>
          </a:bodyPr>
          <a:lstStyle/>
          <a:p>
            <a:pPr algn="l">
              <a:spcBef>
                <a:spcPts val="0"/>
              </a:spcBef>
              <a:spcAft>
                <a:spcPts val="0"/>
              </a:spcAft>
            </a:pPr>
            <a:r>
              <a:rPr sz="930" b="1">
                <a:solidFill>
                  <a:srgbClr val="1A304B"/>
                </a:solidFill>
                <a:latin typeface="Aptos"/>
              </a:rPr>
              <a:t>I2C_CR1 / SR / DR</a:t>
            </a:r>
          </a:p>
        </p:txBody>
      </p:sp>
      <p:sp>
        <p:nvSpPr>
          <p:cNvPr id="80" name="TextBox 79"/>
          <p:cNvSpPr txBox="1"/>
          <p:nvPr/>
        </p:nvSpPr>
        <p:spPr>
          <a:xfrm>
            <a:off x="8842248" y="3374136"/>
            <a:ext cx="2596896" cy="201168"/>
          </a:xfrm>
          <a:prstGeom prst="rect">
            <a:avLst/>
          </a:prstGeom>
          <a:noFill/>
        </p:spPr>
        <p:txBody>
          <a:bodyPr wrap="square" lIns="0" tIns="4572" rIns="0" bIns="4572" anchor="ctr">
            <a:spAutoFit/>
          </a:bodyPr>
          <a:lstStyle/>
          <a:p>
            <a:pPr algn="l">
              <a:spcBef>
                <a:spcPts val="0"/>
              </a:spcBef>
              <a:spcAft>
                <a:spcPts val="0"/>
              </a:spcAft>
            </a:pPr>
            <a:r>
              <a:rPr sz="840" b="0">
                <a:solidFill>
                  <a:srgbClr val="60758F"/>
                </a:solidFill>
                <a:latin typeface="Aptos"/>
              </a:rPr>
              <a:t>Control I²C and transfer data</a:t>
            </a:r>
          </a:p>
        </p:txBody>
      </p:sp>
      <p:cxnSp>
        <p:nvCxnSpPr>
          <p:cNvPr id="81" name="Connector 80"/>
          <p:cNvCxnSpPr/>
          <p:nvPr/>
        </p:nvCxnSpPr>
        <p:spPr>
          <a:xfrm>
            <a:off x="8842248" y="3621024"/>
            <a:ext cx="2596896" cy="0"/>
          </a:xfrm>
          <a:prstGeom prst="line">
            <a:avLst/>
          </a:prstGeom>
          <a:ln w="6985">
            <a:solidFill>
              <a:srgbClr val="D8E3EF"/>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842248" y="3694176"/>
            <a:ext cx="2596896" cy="210312"/>
          </a:xfrm>
          <a:prstGeom prst="rect">
            <a:avLst/>
          </a:prstGeom>
          <a:noFill/>
        </p:spPr>
        <p:txBody>
          <a:bodyPr wrap="square" lIns="0" tIns="4572" rIns="0" bIns="4572" anchor="ctr">
            <a:spAutoFit/>
          </a:bodyPr>
          <a:lstStyle/>
          <a:p>
            <a:pPr algn="l">
              <a:spcBef>
                <a:spcPts val="0"/>
              </a:spcBef>
              <a:spcAft>
                <a:spcPts val="0"/>
              </a:spcAft>
            </a:pPr>
            <a:r>
              <a:rPr sz="930" b="1">
                <a:solidFill>
                  <a:srgbClr val="1A304B"/>
                </a:solidFill>
                <a:latin typeface="Aptos"/>
              </a:rPr>
              <a:t>ADC_CR2 / SQRx / DR</a:t>
            </a:r>
          </a:p>
        </p:txBody>
      </p:sp>
      <p:sp>
        <p:nvSpPr>
          <p:cNvPr id="83" name="TextBox 82"/>
          <p:cNvSpPr txBox="1"/>
          <p:nvPr/>
        </p:nvSpPr>
        <p:spPr>
          <a:xfrm>
            <a:off x="8842248" y="3913632"/>
            <a:ext cx="2596896" cy="201168"/>
          </a:xfrm>
          <a:prstGeom prst="rect">
            <a:avLst/>
          </a:prstGeom>
          <a:noFill/>
        </p:spPr>
        <p:txBody>
          <a:bodyPr wrap="square" lIns="0" tIns="4572" rIns="0" bIns="4572" anchor="ctr">
            <a:spAutoFit/>
          </a:bodyPr>
          <a:lstStyle/>
          <a:p>
            <a:pPr algn="l">
              <a:spcBef>
                <a:spcPts val="0"/>
              </a:spcBef>
              <a:spcAft>
                <a:spcPts val="0"/>
              </a:spcAft>
            </a:pPr>
            <a:r>
              <a:rPr sz="840" b="0">
                <a:solidFill>
                  <a:srgbClr val="60758F"/>
                </a:solidFill>
                <a:latin typeface="Aptos"/>
              </a:rPr>
              <a:t>Configure conversion and read result</a:t>
            </a:r>
          </a:p>
        </p:txBody>
      </p:sp>
      <p:cxnSp>
        <p:nvCxnSpPr>
          <p:cNvPr id="84" name="Connector 83"/>
          <p:cNvCxnSpPr/>
          <p:nvPr/>
        </p:nvCxnSpPr>
        <p:spPr>
          <a:xfrm>
            <a:off x="8842248" y="4160520"/>
            <a:ext cx="2596896" cy="0"/>
          </a:xfrm>
          <a:prstGeom prst="line">
            <a:avLst/>
          </a:prstGeom>
          <a:ln w="6985">
            <a:solidFill>
              <a:srgbClr val="D8E3EF"/>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842248" y="4233672"/>
            <a:ext cx="2596896" cy="210312"/>
          </a:xfrm>
          <a:prstGeom prst="rect">
            <a:avLst/>
          </a:prstGeom>
          <a:noFill/>
        </p:spPr>
        <p:txBody>
          <a:bodyPr wrap="square" lIns="0" tIns="4572" rIns="0" bIns="4572" anchor="ctr">
            <a:spAutoFit/>
          </a:bodyPr>
          <a:lstStyle/>
          <a:p>
            <a:pPr algn="l">
              <a:spcBef>
                <a:spcPts val="0"/>
              </a:spcBef>
              <a:spcAft>
                <a:spcPts val="0"/>
              </a:spcAft>
            </a:pPr>
            <a:r>
              <a:rPr sz="930" b="1">
                <a:solidFill>
                  <a:srgbClr val="1A304B"/>
                </a:solidFill>
                <a:latin typeface="Aptos"/>
              </a:rPr>
              <a:t>TIMx_PSC / CNT / CCRx</a:t>
            </a:r>
          </a:p>
        </p:txBody>
      </p:sp>
      <p:sp>
        <p:nvSpPr>
          <p:cNvPr id="86" name="TextBox 85"/>
          <p:cNvSpPr txBox="1"/>
          <p:nvPr/>
        </p:nvSpPr>
        <p:spPr>
          <a:xfrm>
            <a:off x="8842248" y="4453128"/>
            <a:ext cx="2596896" cy="201168"/>
          </a:xfrm>
          <a:prstGeom prst="rect">
            <a:avLst/>
          </a:prstGeom>
          <a:noFill/>
        </p:spPr>
        <p:txBody>
          <a:bodyPr wrap="square" lIns="0" tIns="4572" rIns="0" bIns="4572" anchor="ctr">
            <a:spAutoFit/>
          </a:bodyPr>
          <a:lstStyle/>
          <a:p>
            <a:pPr algn="l">
              <a:spcBef>
                <a:spcPts val="0"/>
              </a:spcBef>
              <a:spcAft>
                <a:spcPts val="0"/>
              </a:spcAft>
            </a:pPr>
            <a:r>
              <a:rPr sz="840" b="0">
                <a:solidFill>
                  <a:srgbClr val="60758F"/>
                </a:solidFill>
                <a:latin typeface="Aptos"/>
              </a:rPr>
              <a:t>Set timer timing and capture</a:t>
            </a:r>
          </a:p>
        </p:txBody>
      </p:sp>
      <p:cxnSp>
        <p:nvCxnSpPr>
          <p:cNvPr id="87" name="Connector 86"/>
          <p:cNvCxnSpPr/>
          <p:nvPr/>
        </p:nvCxnSpPr>
        <p:spPr>
          <a:xfrm>
            <a:off x="8842248" y="4700016"/>
            <a:ext cx="2596896" cy="0"/>
          </a:xfrm>
          <a:prstGeom prst="line">
            <a:avLst/>
          </a:prstGeom>
          <a:ln w="6985">
            <a:solidFill>
              <a:srgbClr val="D8E3EF"/>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8842248" y="4773168"/>
            <a:ext cx="2596896" cy="210312"/>
          </a:xfrm>
          <a:prstGeom prst="rect">
            <a:avLst/>
          </a:prstGeom>
          <a:noFill/>
        </p:spPr>
        <p:txBody>
          <a:bodyPr wrap="square" lIns="0" tIns="4572" rIns="0" bIns="4572" anchor="ctr">
            <a:spAutoFit/>
          </a:bodyPr>
          <a:lstStyle/>
          <a:p>
            <a:pPr algn="l">
              <a:spcBef>
                <a:spcPts val="0"/>
              </a:spcBef>
              <a:spcAft>
                <a:spcPts val="0"/>
              </a:spcAft>
            </a:pPr>
            <a:r>
              <a:rPr sz="930" b="1">
                <a:solidFill>
                  <a:srgbClr val="1A304B"/>
                </a:solidFill>
                <a:latin typeface="Aptos"/>
              </a:rPr>
              <a:t>SysTick / EXTI / NVIC</a:t>
            </a:r>
          </a:p>
        </p:txBody>
      </p:sp>
      <p:sp>
        <p:nvSpPr>
          <p:cNvPr id="89" name="TextBox 88"/>
          <p:cNvSpPr txBox="1"/>
          <p:nvPr/>
        </p:nvSpPr>
        <p:spPr>
          <a:xfrm>
            <a:off x="8842248" y="4992624"/>
            <a:ext cx="2596896" cy="201168"/>
          </a:xfrm>
          <a:prstGeom prst="rect">
            <a:avLst/>
          </a:prstGeom>
          <a:noFill/>
        </p:spPr>
        <p:txBody>
          <a:bodyPr wrap="square" lIns="0" tIns="4572" rIns="0" bIns="4572" anchor="ctr">
            <a:spAutoFit/>
          </a:bodyPr>
          <a:lstStyle/>
          <a:p>
            <a:pPr algn="l">
              <a:spcBef>
                <a:spcPts val="0"/>
              </a:spcBef>
              <a:spcAft>
                <a:spcPts val="0"/>
              </a:spcAft>
            </a:pPr>
            <a:r>
              <a:rPr sz="840" b="0">
                <a:solidFill>
                  <a:srgbClr val="60758F"/>
                </a:solidFill>
                <a:latin typeface="Aptos"/>
              </a:rPr>
              <a:t>Periodic scheduling / optional IRQs</a:t>
            </a:r>
          </a:p>
        </p:txBody>
      </p:sp>
      <p:sp>
        <p:nvSpPr>
          <p:cNvPr id="90" name="Rounded Rectangle 89"/>
          <p:cNvSpPr/>
          <p:nvPr/>
        </p:nvSpPr>
        <p:spPr>
          <a:xfrm>
            <a:off x="8787384" y="5413248"/>
            <a:ext cx="2706624" cy="438912"/>
          </a:xfrm>
          <a:prstGeom prst="roundRect">
            <a:avLst>
              <a:gd name="adj" fmla="val 12000"/>
            </a:avLst>
          </a:prstGeom>
          <a:solidFill>
            <a:srgbClr val="FFFFFF"/>
          </a:solidFill>
          <a:ln w="10160">
            <a:solidFill>
              <a:srgbClr val="D3E1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8897112" y="5440680"/>
            <a:ext cx="2487168" cy="365760"/>
          </a:xfrm>
          <a:prstGeom prst="rect">
            <a:avLst/>
          </a:prstGeom>
          <a:noFill/>
        </p:spPr>
        <p:txBody>
          <a:bodyPr wrap="square" lIns="9144" tIns="4572" rIns="9144" bIns="4572" anchor="ctr">
            <a:spAutoFit/>
          </a:bodyPr>
          <a:lstStyle/>
          <a:p>
            <a:pPr algn="ctr">
              <a:spcBef>
                <a:spcPts val="0"/>
              </a:spcBef>
              <a:spcAft>
                <a:spcPts val="0"/>
              </a:spcAft>
            </a:pPr>
            <a:r>
              <a:rPr sz="830" b="1">
                <a:solidFill>
                  <a:srgbClr val="1A304B"/>
                </a:solidFill>
                <a:latin typeface="Aptos"/>
              </a:rPr>
              <a:t>STM32 registers configure the MCU; MPU6050 registers configure the external sensor over I²C.</a:t>
            </a:r>
          </a:p>
        </p:txBody>
      </p:sp>
      <p:cxnSp>
        <p:nvCxnSpPr>
          <p:cNvPr id="92" name="Connector 91"/>
          <p:cNvCxnSpPr/>
          <p:nvPr/>
        </p:nvCxnSpPr>
        <p:spPr>
          <a:xfrm>
            <a:off x="530352" y="6254496"/>
            <a:ext cx="11128248" cy="0"/>
          </a:xfrm>
          <a:prstGeom prst="line">
            <a:avLst/>
          </a:prstGeom>
          <a:ln w="11430">
            <a:solidFill>
              <a:srgbClr val="D8E2EC"/>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48640" y="6318504"/>
            <a:ext cx="7772400" cy="201168"/>
          </a:xfrm>
          <a:prstGeom prst="rect">
            <a:avLst/>
          </a:prstGeom>
          <a:noFill/>
        </p:spPr>
        <p:txBody>
          <a:bodyPr wrap="square" lIns="0" tIns="4572" rIns="0" bIns="4572" anchor="ctr">
            <a:spAutoFit/>
          </a:bodyPr>
          <a:lstStyle/>
          <a:p>
            <a:pPr algn="l">
              <a:spcBef>
                <a:spcPts val="0"/>
              </a:spcBef>
              <a:spcAft>
                <a:spcPts val="0"/>
              </a:spcAft>
            </a:pPr>
            <a:r>
              <a:rPr sz="760" b="0">
                <a:solidFill>
                  <a:srgbClr val="60758F"/>
                </a:solidFill>
                <a:latin typeface="Aptos"/>
              </a:rPr>
              <a:t>STM32F411CEU6  ·  VEHICLE SAFETY MONITORING PROTOTYPE</a:t>
            </a:r>
          </a:p>
        </p:txBody>
      </p:sp>
      <p:sp>
        <p:nvSpPr>
          <p:cNvPr id="94" name="TextBox 93"/>
          <p:cNvSpPr txBox="1"/>
          <p:nvPr/>
        </p:nvSpPr>
        <p:spPr>
          <a:xfrm>
            <a:off x="10469880" y="6318504"/>
            <a:ext cx="1143000" cy="201168"/>
          </a:xfrm>
          <a:prstGeom prst="rect">
            <a:avLst/>
          </a:prstGeom>
          <a:noFill/>
        </p:spPr>
        <p:txBody>
          <a:bodyPr wrap="square" lIns="0" tIns="4572" rIns="0" bIns="4572" anchor="ctr">
            <a:spAutoFit/>
          </a:bodyPr>
          <a:lstStyle/>
          <a:p>
            <a:pPr algn="r">
              <a:spcBef>
                <a:spcPts val="0"/>
              </a:spcBef>
              <a:spcAft>
                <a:spcPts val="0"/>
              </a:spcAft>
            </a:pPr>
            <a:r>
              <a:rPr sz="760" b="1">
                <a:solidFill>
                  <a:srgbClr val="60758F"/>
                </a:solidFill>
                <a:latin typeface="Aptos"/>
              </a:rPr>
              <a:t>04 / 09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2369BE"/>
          </a:solidFill>
          <a:ln w="12700">
            <a:solidFill>
              <a:srgbClr val="236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256032"/>
            <a:ext cx="2743200" cy="182880"/>
          </a:xfrm>
          <a:prstGeom prst="rect">
            <a:avLst/>
          </a:prstGeom>
          <a:noFill/>
        </p:spPr>
        <p:txBody>
          <a:bodyPr wrap="square" lIns="45720" rIns="45720" anchor="t">
            <a:spAutoFit/>
          </a:bodyPr>
          <a:lstStyle/>
          <a:p>
            <a:pPr algn="l">
              <a:spcBef>
                <a:spcPts val="0"/>
              </a:spcBef>
              <a:spcAft>
                <a:spcPts val="0"/>
              </a:spcAft>
            </a:pPr>
            <a:r>
              <a:rPr sz="900" b="1" i="0">
                <a:solidFill>
                  <a:srgbClr val="0097A4"/>
                </a:solidFill>
                <a:latin typeface="Aptos"/>
              </a:rPr>
              <a:t>04  /  SENSOR INTERFACE</a:t>
            </a:r>
          </a:p>
        </p:txBody>
      </p:sp>
      <p:sp>
        <p:nvSpPr>
          <p:cNvPr id="4" name="TextBox 3"/>
          <p:cNvSpPr txBox="1"/>
          <p:nvPr/>
        </p:nvSpPr>
        <p:spPr>
          <a:xfrm>
            <a:off x="530352" y="475488"/>
            <a:ext cx="10789920" cy="438912"/>
          </a:xfrm>
          <a:prstGeom prst="rect">
            <a:avLst/>
          </a:prstGeom>
          <a:noFill/>
        </p:spPr>
        <p:txBody>
          <a:bodyPr wrap="square" lIns="45720" rIns="45720" anchor="t">
            <a:spAutoFit/>
          </a:bodyPr>
          <a:lstStyle/>
          <a:p>
            <a:pPr algn="l">
              <a:spcBef>
                <a:spcPts val="0"/>
              </a:spcBef>
              <a:spcAft>
                <a:spcPts val="0"/>
              </a:spcAft>
            </a:pPr>
            <a:r>
              <a:rPr sz="2400" b="1" i="0">
                <a:solidFill>
                  <a:srgbClr val="192F4B"/>
                </a:solidFill>
                <a:latin typeface="Aptos"/>
              </a:rPr>
              <a:t>MPU6050 | Motion sensing and event classification</a:t>
            </a:r>
          </a:p>
        </p:txBody>
      </p:sp>
      <p:sp>
        <p:nvSpPr>
          <p:cNvPr id="5" name="TextBox 4"/>
          <p:cNvSpPr txBox="1"/>
          <p:nvPr/>
        </p:nvSpPr>
        <p:spPr>
          <a:xfrm>
            <a:off x="548640" y="950976"/>
            <a:ext cx="10972800" cy="256032"/>
          </a:xfrm>
          <a:prstGeom prst="rect">
            <a:avLst/>
          </a:prstGeom>
          <a:noFill/>
        </p:spPr>
        <p:txBody>
          <a:bodyPr wrap="square" lIns="45720" rIns="45720" anchor="t">
            <a:spAutoFit/>
          </a:bodyPr>
          <a:lstStyle/>
          <a:p>
            <a:pPr algn="l">
              <a:spcBef>
                <a:spcPts val="0"/>
              </a:spcBef>
              <a:spcAft>
                <a:spcPts val="0"/>
              </a:spcAft>
            </a:pPr>
            <a:r>
              <a:rPr sz="1100" b="0" i="0">
                <a:solidFill>
                  <a:srgbClr val="536982"/>
                </a:solidFill>
                <a:latin typeface="Aptos"/>
              </a:rPr>
              <a:t>Six-axis IMU • I²C data acquisition • calibrated motion features • threshold-based event flags</a:t>
            </a:r>
          </a:p>
        </p:txBody>
      </p:sp>
      <p:sp>
        <p:nvSpPr>
          <p:cNvPr id="6" name="Rounded Rectangle 5"/>
          <p:cNvSpPr/>
          <p:nvPr/>
        </p:nvSpPr>
        <p:spPr>
          <a:xfrm>
            <a:off x="530352" y="1353312"/>
            <a:ext cx="2907792" cy="4407408"/>
          </a:xfrm>
          <a:prstGeom prst="roundRect">
            <a:avLst/>
          </a:prstGeom>
          <a:solidFill>
            <a:srgbClr val="FFFFFF"/>
          </a:solidFill>
          <a:ln w="1270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575304" y="1353312"/>
            <a:ext cx="4114800" cy="4407408"/>
          </a:xfrm>
          <a:prstGeom prst="roundRect">
            <a:avLst/>
          </a:prstGeom>
          <a:solidFill>
            <a:srgbClr val="FFFFFF"/>
          </a:solidFill>
          <a:ln w="1270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827264" y="1353312"/>
            <a:ext cx="3822191" cy="4407408"/>
          </a:xfrm>
          <a:prstGeom prst="roundRect">
            <a:avLst/>
          </a:prstGeom>
          <a:solidFill>
            <a:srgbClr val="FFFFFF"/>
          </a:solidFill>
          <a:ln w="1270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572768"/>
            <a:ext cx="2286000" cy="201168"/>
          </a:xfrm>
          <a:prstGeom prst="rect">
            <a:avLst/>
          </a:prstGeom>
          <a:noFill/>
        </p:spPr>
        <p:txBody>
          <a:bodyPr wrap="square" lIns="45720" rIns="45720" anchor="t">
            <a:spAutoFit/>
          </a:bodyPr>
          <a:lstStyle/>
          <a:p>
            <a:pPr algn="l">
              <a:spcBef>
                <a:spcPts val="0"/>
              </a:spcBef>
              <a:spcAft>
                <a:spcPts val="0"/>
              </a:spcAft>
            </a:pPr>
            <a:r>
              <a:rPr sz="900" b="1" i="0">
                <a:solidFill>
                  <a:srgbClr val="0097A4"/>
                </a:solidFill>
                <a:latin typeface="Aptos"/>
              </a:rPr>
              <a:t>01 / SENSOR OUTPUT</a:t>
            </a:r>
          </a:p>
        </p:txBody>
      </p:sp>
      <p:sp>
        <p:nvSpPr>
          <p:cNvPr id="10" name="Rounded Rectangle 9"/>
          <p:cNvSpPr/>
          <p:nvPr/>
        </p:nvSpPr>
        <p:spPr>
          <a:xfrm>
            <a:off x="804672" y="1874519"/>
            <a:ext cx="749808" cy="566928"/>
          </a:xfrm>
          <a:prstGeom prst="roundRect">
            <a:avLst/>
          </a:prstGeom>
          <a:solidFill>
            <a:srgbClr val="2A829C"/>
          </a:solidFill>
          <a:ln w="12700">
            <a:solidFill>
              <a:srgbClr val="2A829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24128" y="2029968"/>
            <a:ext cx="310896" cy="256032"/>
          </a:xfrm>
          <a:prstGeom prst="rect">
            <a:avLst/>
          </a:prstGeom>
          <a:solidFill>
            <a:srgbClr val="223040"/>
          </a:solidFill>
          <a:ln w="12700">
            <a:solidFill>
              <a:srgbClr val="223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33271" y="2093976"/>
            <a:ext cx="292608" cy="91440"/>
          </a:xfrm>
          <a:prstGeom prst="rect">
            <a:avLst/>
          </a:prstGeom>
          <a:noFill/>
        </p:spPr>
        <p:txBody>
          <a:bodyPr wrap="square" lIns="0" tIns="0" rIns="0" bIns="0" anchor="ctr">
            <a:spAutoFit/>
          </a:bodyPr>
          <a:lstStyle/>
          <a:p>
            <a:pPr algn="ctr">
              <a:spcBef>
                <a:spcPts val="0"/>
              </a:spcBef>
              <a:spcAft>
                <a:spcPts val="0"/>
              </a:spcAft>
            </a:pPr>
            <a:r>
              <a:rPr sz="680" b="1" i="0">
                <a:solidFill>
                  <a:srgbClr val="FFFFFF"/>
                </a:solidFill>
                <a:latin typeface="Aptos"/>
              </a:rPr>
              <a:t>IMU</a:t>
            </a:r>
          </a:p>
        </p:txBody>
      </p:sp>
      <p:sp>
        <p:nvSpPr>
          <p:cNvPr id="13" name="TextBox 12"/>
          <p:cNvSpPr txBox="1"/>
          <p:nvPr/>
        </p:nvSpPr>
        <p:spPr>
          <a:xfrm>
            <a:off x="1700784" y="1901952"/>
            <a:ext cx="1417320" cy="210312"/>
          </a:xfrm>
          <a:prstGeom prst="rect">
            <a:avLst/>
          </a:prstGeom>
          <a:noFill/>
        </p:spPr>
        <p:txBody>
          <a:bodyPr wrap="square" lIns="45720" rIns="45720" anchor="t">
            <a:spAutoFit/>
          </a:bodyPr>
          <a:lstStyle/>
          <a:p>
            <a:pPr algn="l">
              <a:spcBef>
                <a:spcPts val="0"/>
              </a:spcBef>
              <a:spcAft>
                <a:spcPts val="0"/>
              </a:spcAft>
            </a:pPr>
            <a:r>
              <a:rPr sz="1100" b="1" i="0">
                <a:solidFill>
                  <a:srgbClr val="192F4B"/>
                </a:solidFill>
                <a:latin typeface="Aptos"/>
              </a:rPr>
              <a:t>Accelerometer</a:t>
            </a:r>
          </a:p>
        </p:txBody>
      </p:sp>
      <p:sp>
        <p:nvSpPr>
          <p:cNvPr id="14" name="TextBox 13"/>
          <p:cNvSpPr txBox="1"/>
          <p:nvPr/>
        </p:nvSpPr>
        <p:spPr>
          <a:xfrm>
            <a:off x="1700784" y="2139696"/>
            <a:ext cx="1417320" cy="292608"/>
          </a:xfrm>
          <a:prstGeom prst="rect">
            <a:avLst/>
          </a:prstGeom>
          <a:noFill/>
        </p:spPr>
        <p:txBody>
          <a:bodyPr wrap="square" lIns="45720" rIns="45720" anchor="t">
            <a:spAutoFit/>
          </a:bodyPr>
          <a:lstStyle/>
          <a:p>
            <a:pPr algn="l">
              <a:spcBef>
                <a:spcPts val="0"/>
              </a:spcBef>
              <a:spcAft>
                <a:spcPts val="0"/>
              </a:spcAft>
            </a:pPr>
            <a:r>
              <a:rPr sz="850" b="0" i="0">
                <a:solidFill>
                  <a:srgbClr val="536982"/>
                </a:solidFill>
                <a:latin typeface="Aptos"/>
              </a:rPr>
              <a:t>X / Y / Z linear acceleration</a:t>
            </a:r>
          </a:p>
        </p:txBody>
      </p:sp>
      <p:sp>
        <p:nvSpPr>
          <p:cNvPr id="15" name="TextBox 14"/>
          <p:cNvSpPr txBox="1"/>
          <p:nvPr/>
        </p:nvSpPr>
        <p:spPr>
          <a:xfrm>
            <a:off x="768096" y="2587752"/>
            <a:ext cx="2468880" cy="201168"/>
          </a:xfrm>
          <a:prstGeom prst="rect">
            <a:avLst/>
          </a:prstGeom>
          <a:noFill/>
        </p:spPr>
        <p:txBody>
          <a:bodyPr wrap="square" lIns="45720" rIns="45720" anchor="t">
            <a:spAutoFit/>
          </a:bodyPr>
          <a:lstStyle/>
          <a:p>
            <a:pPr algn="l">
              <a:spcBef>
                <a:spcPts val="0"/>
              </a:spcBef>
              <a:spcAft>
                <a:spcPts val="0"/>
              </a:spcAft>
            </a:pPr>
            <a:r>
              <a:rPr sz="1100" b="1" i="0">
                <a:solidFill>
                  <a:srgbClr val="192F4B"/>
                </a:solidFill>
                <a:latin typeface="Aptos"/>
              </a:rPr>
              <a:t>Gyroscope</a:t>
            </a:r>
          </a:p>
        </p:txBody>
      </p:sp>
      <p:sp>
        <p:nvSpPr>
          <p:cNvPr id="16" name="TextBox 15"/>
          <p:cNvSpPr txBox="1"/>
          <p:nvPr/>
        </p:nvSpPr>
        <p:spPr>
          <a:xfrm>
            <a:off x="768096" y="2816352"/>
            <a:ext cx="2468880" cy="219456"/>
          </a:xfrm>
          <a:prstGeom prst="rect">
            <a:avLst/>
          </a:prstGeom>
          <a:noFill/>
        </p:spPr>
        <p:txBody>
          <a:bodyPr wrap="square" lIns="45720" rIns="45720" anchor="t">
            <a:spAutoFit/>
          </a:bodyPr>
          <a:lstStyle/>
          <a:p>
            <a:pPr algn="l">
              <a:spcBef>
                <a:spcPts val="0"/>
              </a:spcBef>
              <a:spcAft>
                <a:spcPts val="0"/>
              </a:spcAft>
            </a:pPr>
            <a:r>
              <a:rPr sz="850" b="0" i="0">
                <a:solidFill>
                  <a:srgbClr val="536982"/>
                </a:solidFill>
                <a:latin typeface="Aptos"/>
              </a:rPr>
              <a:t>X / Y / Z angular velocity</a:t>
            </a:r>
          </a:p>
        </p:txBody>
      </p:sp>
      <p:sp>
        <p:nvSpPr>
          <p:cNvPr id="17" name="Rounded Rectangle 16"/>
          <p:cNvSpPr/>
          <p:nvPr/>
        </p:nvSpPr>
        <p:spPr>
          <a:xfrm>
            <a:off x="749808" y="3154680"/>
            <a:ext cx="2468880" cy="713232"/>
          </a:xfrm>
          <a:prstGeom prst="roundRect">
            <a:avLst/>
          </a:prstGeom>
          <a:solidFill>
            <a:srgbClr val="EAF2FC"/>
          </a:solidFill>
          <a:ln w="1270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 y="3246120"/>
            <a:ext cx="2194560" cy="164592"/>
          </a:xfrm>
          <a:prstGeom prst="rect">
            <a:avLst/>
          </a:prstGeom>
          <a:noFill/>
        </p:spPr>
        <p:txBody>
          <a:bodyPr wrap="square" lIns="45720" rIns="45720" anchor="t">
            <a:spAutoFit/>
          </a:bodyPr>
          <a:lstStyle/>
          <a:p>
            <a:pPr algn="l">
              <a:spcBef>
                <a:spcPts val="0"/>
              </a:spcBef>
              <a:spcAft>
                <a:spcPts val="0"/>
              </a:spcAft>
            </a:pPr>
            <a:r>
              <a:rPr sz="800" b="1" i="0">
                <a:solidFill>
                  <a:srgbClr val="2369BE"/>
                </a:solidFill>
                <a:latin typeface="Aptos"/>
              </a:rPr>
              <a:t>SELECTABLE FULL-SCALE RANGES</a:t>
            </a:r>
          </a:p>
        </p:txBody>
      </p:sp>
      <p:sp>
        <p:nvSpPr>
          <p:cNvPr id="19" name="TextBox 18"/>
          <p:cNvSpPr txBox="1"/>
          <p:nvPr/>
        </p:nvSpPr>
        <p:spPr>
          <a:xfrm>
            <a:off x="877824" y="3474720"/>
            <a:ext cx="2194560" cy="246888"/>
          </a:xfrm>
          <a:prstGeom prst="rect">
            <a:avLst/>
          </a:prstGeom>
          <a:noFill/>
        </p:spPr>
        <p:txBody>
          <a:bodyPr wrap="square" lIns="45720" rIns="45720" anchor="t">
            <a:spAutoFit/>
          </a:bodyPr>
          <a:lstStyle/>
          <a:p>
            <a:pPr algn="l">
              <a:spcBef>
                <a:spcPts val="0"/>
              </a:spcBef>
              <a:spcAft>
                <a:spcPts val="0"/>
              </a:spcAft>
            </a:pPr>
            <a:r>
              <a:rPr sz="950" b="1" i="0">
                <a:solidFill>
                  <a:srgbClr val="192F4B"/>
                </a:solidFill>
                <a:latin typeface="Aptos"/>
              </a:rPr>
              <a:t>Accel: ±2 / ±4 / ±8 / ±16 g</a:t>
            </a:r>
          </a:p>
        </p:txBody>
      </p:sp>
      <p:sp>
        <p:nvSpPr>
          <p:cNvPr id="20" name="TextBox 19"/>
          <p:cNvSpPr txBox="1"/>
          <p:nvPr/>
        </p:nvSpPr>
        <p:spPr>
          <a:xfrm>
            <a:off x="768096" y="4014215"/>
            <a:ext cx="2423160" cy="182880"/>
          </a:xfrm>
          <a:prstGeom prst="rect">
            <a:avLst/>
          </a:prstGeom>
          <a:noFill/>
        </p:spPr>
        <p:txBody>
          <a:bodyPr wrap="square" lIns="45720" rIns="45720" anchor="t">
            <a:spAutoFit/>
          </a:bodyPr>
          <a:lstStyle/>
          <a:p>
            <a:pPr algn="l">
              <a:spcBef>
                <a:spcPts val="0"/>
              </a:spcBef>
              <a:spcAft>
                <a:spcPts val="0"/>
              </a:spcAft>
            </a:pPr>
            <a:r>
              <a:rPr sz="950" b="1" i="0">
                <a:solidFill>
                  <a:srgbClr val="0097A4"/>
                </a:solidFill>
                <a:latin typeface="Aptos"/>
              </a:rPr>
              <a:t>Raw data → physical units</a:t>
            </a:r>
          </a:p>
        </p:txBody>
      </p:sp>
      <p:sp>
        <p:nvSpPr>
          <p:cNvPr id="21" name="TextBox 20"/>
          <p:cNvSpPr txBox="1"/>
          <p:nvPr/>
        </p:nvSpPr>
        <p:spPr>
          <a:xfrm>
            <a:off x="768096" y="4261104"/>
            <a:ext cx="2395728" cy="621792"/>
          </a:xfrm>
          <a:prstGeom prst="rect">
            <a:avLst/>
          </a:prstGeom>
          <a:noFill/>
        </p:spPr>
        <p:txBody>
          <a:bodyPr wrap="square" lIns="45720" rIns="45720" anchor="t">
            <a:spAutoFit/>
          </a:bodyPr>
          <a:lstStyle/>
          <a:p>
            <a:pPr algn="l">
              <a:spcBef>
                <a:spcPts val="0"/>
              </a:spcBef>
              <a:spcAft>
                <a:spcPts val="0"/>
              </a:spcAft>
            </a:pPr>
            <a:r>
              <a:rPr sz="900" b="0" i="0">
                <a:solidFill>
                  <a:srgbClr val="192F4B"/>
                </a:solidFill>
                <a:latin typeface="Aptos"/>
              </a:rPr>
              <a:t>At ±2 g: 16,384 LSB/g
At ±4 g: 8,192 LSB/g
Scale using the configured range.</a:t>
            </a:r>
          </a:p>
        </p:txBody>
      </p:sp>
      <p:sp>
        <p:nvSpPr>
          <p:cNvPr id="22" name="Rounded Rectangle 21"/>
          <p:cNvSpPr/>
          <p:nvPr/>
        </p:nvSpPr>
        <p:spPr>
          <a:xfrm>
            <a:off x="749808" y="5047488"/>
            <a:ext cx="2468880" cy="475488"/>
          </a:xfrm>
          <a:prstGeom prst="roundRect">
            <a:avLst/>
          </a:prstGeom>
          <a:solidFill>
            <a:srgbClr val="FFF5E0"/>
          </a:solidFill>
          <a:ln w="12700">
            <a:solidFill>
              <a:srgbClr val="FFF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9536" y="5129784"/>
            <a:ext cx="2240280" cy="274320"/>
          </a:xfrm>
          <a:prstGeom prst="rect">
            <a:avLst/>
          </a:prstGeom>
          <a:noFill/>
        </p:spPr>
        <p:txBody>
          <a:bodyPr wrap="square" lIns="45720" rIns="45720" anchor="ctr">
            <a:spAutoFit/>
          </a:bodyPr>
          <a:lstStyle/>
          <a:p>
            <a:pPr algn="ctr">
              <a:spcBef>
                <a:spcPts val="0"/>
              </a:spcBef>
              <a:spcAft>
                <a:spcPts val="0"/>
              </a:spcAft>
            </a:pPr>
            <a:r>
              <a:rPr sz="880" b="1" i="0">
                <a:solidFill>
                  <a:srgbClr val="B46300"/>
                </a:solidFill>
                <a:latin typeface="Aptos"/>
              </a:rPr>
              <a:t>Motion anomaly ≠ confirmed collision</a:t>
            </a:r>
          </a:p>
        </p:txBody>
      </p:sp>
      <p:sp>
        <p:nvSpPr>
          <p:cNvPr id="24" name="TextBox 23"/>
          <p:cNvSpPr txBox="1"/>
          <p:nvPr/>
        </p:nvSpPr>
        <p:spPr>
          <a:xfrm>
            <a:off x="3803904" y="1572768"/>
            <a:ext cx="3474720" cy="201168"/>
          </a:xfrm>
          <a:prstGeom prst="rect">
            <a:avLst/>
          </a:prstGeom>
          <a:noFill/>
        </p:spPr>
        <p:txBody>
          <a:bodyPr wrap="square" lIns="45720" rIns="45720" anchor="t">
            <a:spAutoFit/>
          </a:bodyPr>
          <a:lstStyle/>
          <a:p>
            <a:pPr algn="l">
              <a:spcBef>
                <a:spcPts val="0"/>
              </a:spcBef>
              <a:spcAft>
                <a:spcPts val="0"/>
              </a:spcAft>
            </a:pPr>
            <a:r>
              <a:rPr sz="900" b="1" i="0">
                <a:solidFill>
                  <a:srgbClr val="2369BE"/>
                </a:solidFill>
                <a:latin typeface="Aptos"/>
              </a:rPr>
              <a:t>02 / STM32 I²C INTERFACE</a:t>
            </a:r>
          </a:p>
        </p:txBody>
      </p:sp>
      <p:sp>
        <p:nvSpPr>
          <p:cNvPr id="25" name="Rounded Rectangle 24"/>
          <p:cNvSpPr/>
          <p:nvPr/>
        </p:nvSpPr>
        <p:spPr>
          <a:xfrm>
            <a:off x="3813048" y="1865376"/>
            <a:ext cx="1170432" cy="566928"/>
          </a:xfrm>
          <a:prstGeom prst="roundRect">
            <a:avLst/>
          </a:prstGeom>
          <a:solidFill>
            <a:srgbClr val="E4F6F5"/>
          </a:solidFill>
          <a:ln w="12700">
            <a:solidFill>
              <a:srgbClr val="E4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95344" y="1993392"/>
            <a:ext cx="1005840" cy="155448"/>
          </a:xfrm>
          <a:prstGeom prst="rect">
            <a:avLst/>
          </a:prstGeom>
          <a:noFill/>
        </p:spPr>
        <p:txBody>
          <a:bodyPr wrap="square" lIns="45720" rIns="45720" anchor="t">
            <a:spAutoFit/>
          </a:bodyPr>
          <a:lstStyle/>
          <a:p>
            <a:pPr algn="ctr">
              <a:spcBef>
                <a:spcPts val="0"/>
              </a:spcBef>
              <a:spcAft>
                <a:spcPts val="0"/>
              </a:spcAft>
            </a:pPr>
            <a:r>
              <a:rPr sz="1000" b="1" i="0">
                <a:solidFill>
                  <a:srgbClr val="192F4B"/>
                </a:solidFill>
                <a:latin typeface="Aptos"/>
              </a:rPr>
              <a:t>MPU6050</a:t>
            </a:r>
          </a:p>
        </p:txBody>
      </p:sp>
      <p:sp>
        <p:nvSpPr>
          <p:cNvPr id="27" name="TextBox 26"/>
          <p:cNvSpPr txBox="1"/>
          <p:nvPr/>
        </p:nvSpPr>
        <p:spPr>
          <a:xfrm>
            <a:off x="3895344" y="2185416"/>
            <a:ext cx="1005840" cy="128016"/>
          </a:xfrm>
          <a:prstGeom prst="rect">
            <a:avLst/>
          </a:prstGeom>
          <a:noFill/>
        </p:spPr>
        <p:txBody>
          <a:bodyPr wrap="square" lIns="45720" rIns="45720" anchor="t">
            <a:spAutoFit/>
          </a:bodyPr>
          <a:lstStyle/>
          <a:p>
            <a:pPr algn="ctr">
              <a:spcBef>
                <a:spcPts val="0"/>
              </a:spcBef>
              <a:spcAft>
                <a:spcPts val="0"/>
              </a:spcAft>
            </a:pPr>
            <a:r>
              <a:rPr sz="800" b="1" i="0">
                <a:solidFill>
                  <a:srgbClr val="0097A4"/>
                </a:solidFill>
                <a:latin typeface="Aptos"/>
              </a:rPr>
              <a:t>I²C slave</a:t>
            </a:r>
          </a:p>
        </p:txBody>
      </p:sp>
      <p:sp>
        <p:nvSpPr>
          <p:cNvPr id="28" name="Chevron 27"/>
          <p:cNvSpPr/>
          <p:nvPr/>
        </p:nvSpPr>
        <p:spPr>
          <a:xfrm>
            <a:off x="5102352" y="1993392"/>
            <a:ext cx="365760" cy="274320"/>
          </a:xfrm>
          <a:prstGeom prst="chevron">
            <a:avLst/>
          </a:prstGeom>
          <a:solidFill>
            <a:srgbClr val="0097A4"/>
          </a:solidFill>
          <a:ln w="12700">
            <a:solidFill>
              <a:srgbClr val="0097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596128" y="1865376"/>
            <a:ext cx="1554480" cy="566928"/>
          </a:xfrm>
          <a:prstGeom prst="roundRect">
            <a:avLst/>
          </a:prstGeom>
          <a:solidFill>
            <a:srgbClr val="EAF2FC"/>
          </a:solidFill>
          <a:ln w="1270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87568" y="1993392"/>
            <a:ext cx="1371600" cy="155448"/>
          </a:xfrm>
          <a:prstGeom prst="rect">
            <a:avLst/>
          </a:prstGeom>
          <a:noFill/>
        </p:spPr>
        <p:txBody>
          <a:bodyPr wrap="square" lIns="45720" rIns="45720" anchor="t">
            <a:spAutoFit/>
          </a:bodyPr>
          <a:lstStyle/>
          <a:p>
            <a:pPr algn="ctr">
              <a:spcBef>
                <a:spcPts val="0"/>
              </a:spcBef>
              <a:spcAft>
                <a:spcPts val="0"/>
              </a:spcAft>
            </a:pPr>
            <a:r>
              <a:rPr sz="1000" b="1" i="0">
                <a:solidFill>
                  <a:srgbClr val="192F4B"/>
                </a:solidFill>
                <a:latin typeface="Aptos"/>
              </a:rPr>
              <a:t>STM32F411</a:t>
            </a:r>
          </a:p>
        </p:txBody>
      </p:sp>
      <p:sp>
        <p:nvSpPr>
          <p:cNvPr id="31" name="TextBox 30"/>
          <p:cNvSpPr txBox="1"/>
          <p:nvPr/>
        </p:nvSpPr>
        <p:spPr>
          <a:xfrm>
            <a:off x="5687568" y="2185416"/>
            <a:ext cx="1371600" cy="128016"/>
          </a:xfrm>
          <a:prstGeom prst="rect">
            <a:avLst/>
          </a:prstGeom>
          <a:noFill/>
        </p:spPr>
        <p:txBody>
          <a:bodyPr wrap="square" lIns="45720" rIns="45720" anchor="t">
            <a:spAutoFit/>
          </a:bodyPr>
          <a:lstStyle/>
          <a:p>
            <a:pPr algn="ctr">
              <a:spcBef>
                <a:spcPts val="0"/>
              </a:spcBef>
              <a:spcAft>
                <a:spcPts val="0"/>
              </a:spcAft>
            </a:pPr>
            <a:r>
              <a:rPr sz="800" b="1" i="0">
                <a:solidFill>
                  <a:srgbClr val="2369BE"/>
                </a:solidFill>
                <a:latin typeface="Aptos"/>
              </a:rPr>
              <a:t>I²C master</a:t>
            </a:r>
          </a:p>
        </p:txBody>
      </p:sp>
      <p:sp>
        <p:nvSpPr>
          <p:cNvPr id="32" name="TextBox 31"/>
          <p:cNvSpPr txBox="1"/>
          <p:nvPr/>
        </p:nvSpPr>
        <p:spPr>
          <a:xfrm>
            <a:off x="3813048" y="2596896"/>
            <a:ext cx="3429000" cy="393192"/>
          </a:xfrm>
          <a:prstGeom prst="rect">
            <a:avLst/>
          </a:prstGeom>
          <a:noFill/>
        </p:spPr>
        <p:txBody>
          <a:bodyPr wrap="square" lIns="45720" rIns="45720" anchor="t">
            <a:spAutoFit/>
          </a:bodyPr>
          <a:lstStyle/>
          <a:p>
            <a:pPr algn="l">
              <a:spcBef>
                <a:spcPts val="0"/>
              </a:spcBef>
              <a:spcAft>
                <a:spcPts val="0"/>
              </a:spcAft>
            </a:pPr>
            <a:r>
              <a:rPr sz="910" b="0" i="0">
                <a:solidFill>
                  <a:srgbClr val="192F4B"/>
                </a:solidFill>
                <a:latin typeface="Aptos"/>
              </a:rPr>
              <a:t>SDA + SCL • 7-bit address 0x68 (AD0 low) or 0x69 (AD0 high)</a:t>
            </a:r>
          </a:p>
        </p:txBody>
      </p:sp>
      <p:sp>
        <p:nvSpPr>
          <p:cNvPr id="33" name="TextBox 32"/>
          <p:cNvSpPr txBox="1"/>
          <p:nvPr/>
        </p:nvSpPr>
        <p:spPr>
          <a:xfrm>
            <a:off x="3813048" y="3026664"/>
            <a:ext cx="3429000" cy="201168"/>
          </a:xfrm>
          <a:prstGeom prst="rect">
            <a:avLst/>
          </a:prstGeom>
          <a:noFill/>
        </p:spPr>
        <p:txBody>
          <a:bodyPr wrap="square" lIns="45720" rIns="45720" anchor="t">
            <a:spAutoFit/>
          </a:bodyPr>
          <a:lstStyle/>
          <a:p>
            <a:pPr algn="l">
              <a:spcBef>
                <a:spcPts val="0"/>
              </a:spcBef>
              <a:spcAft>
                <a:spcPts val="0"/>
              </a:spcAft>
            </a:pPr>
            <a:r>
              <a:rPr sz="900" b="1" i="0">
                <a:solidFill>
                  <a:srgbClr val="0097A4"/>
                </a:solidFill>
                <a:latin typeface="Aptos"/>
              </a:rPr>
              <a:t>KEY SENSOR REGISTERS</a:t>
            </a:r>
          </a:p>
        </p:txBody>
      </p:sp>
      <p:sp>
        <p:nvSpPr>
          <p:cNvPr id="34" name="Rectangle 33"/>
          <p:cNvSpPr/>
          <p:nvPr/>
        </p:nvSpPr>
        <p:spPr>
          <a:xfrm>
            <a:off x="3813048" y="3273552"/>
            <a:ext cx="1307592" cy="256032"/>
          </a:xfrm>
          <a:prstGeom prst="rect">
            <a:avLst/>
          </a:prstGeom>
          <a:solidFill>
            <a:srgbClr val="EAF2FC"/>
          </a:solidFill>
          <a:ln w="1270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9624" y="3328416"/>
            <a:ext cx="1234439" cy="128016"/>
          </a:xfrm>
          <a:prstGeom prst="rect">
            <a:avLst/>
          </a:prstGeom>
          <a:noFill/>
        </p:spPr>
        <p:txBody>
          <a:bodyPr wrap="square" lIns="45720" rIns="45720" anchor="t">
            <a:spAutoFit/>
          </a:bodyPr>
          <a:lstStyle/>
          <a:p>
            <a:pPr algn="l">
              <a:spcBef>
                <a:spcPts val="0"/>
              </a:spcBef>
              <a:spcAft>
                <a:spcPts val="0"/>
              </a:spcAft>
            </a:pPr>
            <a:r>
              <a:rPr sz="750" b="1" i="0">
                <a:solidFill>
                  <a:srgbClr val="2369BE"/>
                </a:solidFill>
                <a:latin typeface="Aptos"/>
              </a:rPr>
              <a:t>REGISTER</a:t>
            </a:r>
          </a:p>
        </p:txBody>
      </p:sp>
      <p:sp>
        <p:nvSpPr>
          <p:cNvPr id="36" name="Rectangle 35"/>
          <p:cNvSpPr/>
          <p:nvPr/>
        </p:nvSpPr>
        <p:spPr>
          <a:xfrm>
            <a:off x="5120640" y="3273552"/>
            <a:ext cx="502920" cy="256032"/>
          </a:xfrm>
          <a:prstGeom prst="rect">
            <a:avLst/>
          </a:prstGeom>
          <a:solidFill>
            <a:srgbClr val="EAF2FC"/>
          </a:solidFill>
          <a:ln w="1270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157216" y="3328416"/>
            <a:ext cx="429768" cy="128016"/>
          </a:xfrm>
          <a:prstGeom prst="rect">
            <a:avLst/>
          </a:prstGeom>
          <a:noFill/>
        </p:spPr>
        <p:txBody>
          <a:bodyPr wrap="square" lIns="45720" rIns="45720" anchor="t">
            <a:spAutoFit/>
          </a:bodyPr>
          <a:lstStyle/>
          <a:p>
            <a:pPr algn="l">
              <a:spcBef>
                <a:spcPts val="0"/>
              </a:spcBef>
              <a:spcAft>
                <a:spcPts val="0"/>
              </a:spcAft>
            </a:pPr>
            <a:r>
              <a:rPr sz="750" b="1" i="0">
                <a:solidFill>
                  <a:srgbClr val="2369BE"/>
                </a:solidFill>
                <a:latin typeface="Aptos"/>
              </a:rPr>
              <a:t>ADDR</a:t>
            </a:r>
          </a:p>
        </p:txBody>
      </p:sp>
      <p:sp>
        <p:nvSpPr>
          <p:cNvPr id="38" name="Rectangle 37"/>
          <p:cNvSpPr/>
          <p:nvPr/>
        </p:nvSpPr>
        <p:spPr>
          <a:xfrm>
            <a:off x="5623560" y="3273552"/>
            <a:ext cx="1645920" cy="256032"/>
          </a:xfrm>
          <a:prstGeom prst="rect">
            <a:avLst/>
          </a:prstGeom>
          <a:solidFill>
            <a:srgbClr val="EAF2FC"/>
          </a:solidFill>
          <a:ln w="1270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660136" y="3328416"/>
            <a:ext cx="1572768" cy="128016"/>
          </a:xfrm>
          <a:prstGeom prst="rect">
            <a:avLst/>
          </a:prstGeom>
          <a:noFill/>
        </p:spPr>
        <p:txBody>
          <a:bodyPr wrap="square" lIns="45720" rIns="45720" anchor="t">
            <a:spAutoFit/>
          </a:bodyPr>
          <a:lstStyle/>
          <a:p>
            <a:pPr algn="l">
              <a:spcBef>
                <a:spcPts val="0"/>
              </a:spcBef>
              <a:spcAft>
                <a:spcPts val="0"/>
              </a:spcAft>
            </a:pPr>
            <a:r>
              <a:rPr sz="750" b="1" i="0">
                <a:solidFill>
                  <a:srgbClr val="2369BE"/>
                </a:solidFill>
                <a:latin typeface="Aptos"/>
              </a:rPr>
              <a:t>PURPOSE</a:t>
            </a:r>
          </a:p>
        </p:txBody>
      </p:sp>
      <p:sp>
        <p:nvSpPr>
          <p:cNvPr id="40" name="Rectangle 39"/>
          <p:cNvSpPr/>
          <p:nvPr/>
        </p:nvSpPr>
        <p:spPr>
          <a:xfrm>
            <a:off x="3813048" y="3538728"/>
            <a:ext cx="1307592"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849624" y="3602736"/>
            <a:ext cx="1234439" cy="146304"/>
          </a:xfrm>
          <a:prstGeom prst="rect">
            <a:avLst/>
          </a:prstGeom>
          <a:noFill/>
        </p:spPr>
        <p:txBody>
          <a:bodyPr wrap="square" lIns="45720" rIns="45720" anchor="t">
            <a:spAutoFit/>
          </a:bodyPr>
          <a:lstStyle/>
          <a:p>
            <a:pPr algn="l">
              <a:spcBef>
                <a:spcPts val="0"/>
              </a:spcBef>
              <a:spcAft>
                <a:spcPts val="0"/>
              </a:spcAft>
            </a:pPr>
            <a:r>
              <a:rPr sz="760" b="1" i="0">
                <a:solidFill>
                  <a:srgbClr val="192F4B"/>
                </a:solidFill>
                <a:latin typeface="Aptos"/>
              </a:rPr>
              <a:t>PWR_MGMT_1</a:t>
            </a:r>
          </a:p>
        </p:txBody>
      </p:sp>
      <p:sp>
        <p:nvSpPr>
          <p:cNvPr id="42" name="Rectangle 41"/>
          <p:cNvSpPr/>
          <p:nvPr/>
        </p:nvSpPr>
        <p:spPr>
          <a:xfrm>
            <a:off x="5120640" y="3538728"/>
            <a:ext cx="502920"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57216" y="3602736"/>
            <a:ext cx="429768" cy="146304"/>
          </a:xfrm>
          <a:prstGeom prst="rect">
            <a:avLst/>
          </a:prstGeom>
          <a:noFill/>
        </p:spPr>
        <p:txBody>
          <a:bodyPr wrap="square" lIns="45720" rIns="45720" anchor="t">
            <a:spAutoFit/>
          </a:bodyPr>
          <a:lstStyle/>
          <a:p>
            <a:pPr algn="l">
              <a:spcBef>
                <a:spcPts val="0"/>
              </a:spcBef>
              <a:spcAft>
                <a:spcPts val="0"/>
              </a:spcAft>
            </a:pPr>
            <a:r>
              <a:rPr sz="760" b="0" i="0">
                <a:solidFill>
                  <a:srgbClr val="7056BE"/>
                </a:solidFill>
                <a:latin typeface="Aptos"/>
              </a:rPr>
              <a:t>0x6B</a:t>
            </a:r>
          </a:p>
        </p:txBody>
      </p:sp>
      <p:sp>
        <p:nvSpPr>
          <p:cNvPr id="44" name="Rectangle 43"/>
          <p:cNvSpPr/>
          <p:nvPr/>
        </p:nvSpPr>
        <p:spPr>
          <a:xfrm>
            <a:off x="5623560" y="3538728"/>
            <a:ext cx="1645920"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60136" y="3602736"/>
            <a:ext cx="1572768" cy="146304"/>
          </a:xfrm>
          <a:prstGeom prst="rect">
            <a:avLst/>
          </a:prstGeom>
          <a:noFill/>
        </p:spPr>
        <p:txBody>
          <a:bodyPr wrap="square" lIns="45720" rIns="45720" anchor="t">
            <a:spAutoFit/>
          </a:bodyPr>
          <a:lstStyle/>
          <a:p>
            <a:pPr algn="l">
              <a:spcBef>
                <a:spcPts val="0"/>
              </a:spcBef>
              <a:spcAft>
                <a:spcPts val="0"/>
              </a:spcAft>
            </a:pPr>
            <a:r>
              <a:rPr sz="760" b="0" i="0">
                <a:solidFill>
                  <a:srgbClr val="192F4B"/>
                </a:solidFill>
                <a:latin typeface="Aptos"/>
              </a:rPr>
              <a:t>Wake sensor</a:t>
            </a:r>
          </a:p>
        </p:txBody>
      </p:sp>
      <p:sp>
        <p:nvSpPr>
          <p:cNvPr id="46" name="Rectangle 45"/>
          <p:cNvSpPr/>
          <p:nvPr/>
        </p:nvSpPr>
        <p:spPr>
          <a:xfrm>
            <a:off x="3813048" y="3822191"/>
            <a:ext cx="1307592" cy="283464"/>
          </a:xfrm>
          <a:prstGeom prst="rect">
            <a:avLst/>
          </a:prstGeom>
          <a:solidFill>
            <a:srgbClr val="F6F9FC"/>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849624" y="3886200"/>
            <a:ext cx="1234439" cy="146304"/>
          </a:xfrm>
          <a:prstGeom prst="rect">
            <a:avLst/>
          </a:prstGeom>
          <a:noFill/>
        </p:spPr>
        <p:txBody>
          <a:bodyPr wrap="square" lIns="45720" rIns="45720" anchor="t">
            <a:spAutoFit/>
          </a:bodyPr>
          <a:lstStyle/>
          <a:p>
            <a:pPr algn="l">
              <a:spcBef>
                <a:spcPts val="0"/>
              </a:spcBef>
              <a:spcAft>
                <a:spcPts val="0"/>
              </a:spcAft>
            </a:pPr>
            <a:r>
              <a:rPr sz="760" b="1" i="0">
                <a:solidFill>
                  <a:srgbClr val="192F4B"/>
                </a:solidFill>
                <a:latin typeface="Aptos"/>
              </a:rPr>
              <a:t>SMPLRT_DIV</a:t>
            </a:r>
          </a:p>
        </p:txBody>
      </p:sp>
      <p:sp>
        <p:nvSpPr>
          <p:cNvPr id="48" name="Rectangle 47"/>
          <p:cNvSpPr/>
          <p:nvPr/>
        </p:nvSpPr>
        <p:spPr>
          <a:xfrm>
            <a:off x="5120640" y="3822191"/>
            <a:ext cx="502920" cy="283464"/>
          </a:xfrm>
          <a:prstGeom prst="rect">
            <a:avLst/>
          </a:prstGeom>
          <a:solidFill>
            <a:srgbClr val="F6F9FC"/>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57216" y="3886200"/>
            <a:ext cx="429768" cy="146304"/>
          </a:xfrm>
          <a:prstGeom prst="rect">
            <a:avLst/>
          </a:prstGeom>
          <a:noFill/>
        </p:spPr>
        <p:txBody>
          <a:bodyPr wrap="square" lIns="45720" rIns="45720" anchor="t">
            <a:spAutoFit/>
          </a:bodyPr>
          <a:lstStyle/>
          <a:p>
            <a:pPr algn="l">
              <a:spcBef>
                <a:spcPts val="0"/>
              </a:spcBef>
              <a:spcAft>
                <a:spcPts val="0"/>
              </a:spcAft>
            </a:pPr>
            <a:r>
              <a:rPr sz="760" b="0" i="0">
                <a:solidFill>
                  <a:srgbClr val="7056BE"/>
                </a:solidFill>
                <a:latin typeface="Aptos"/>
              </a:rPr>
              <a:t>0x19</a:t>
            </a:r>
          </a:p>
        </p:txBody>
      </p:sp>
      <p:sp>
        <p:nvSpPr>
          <p:cNvPr id="50" name="Rectangle 49"/>
          <p:cNvSpPr/>
          <p:nvPr/>
        </p:nvSpPr>
        <p:spPr>
          <a:xfrm>
            <a:off x="5623560" y="3822191"/>
            <a:ext cx="1645920" cy="283464"/>
          </a:xfrm>
          <a:prstGeom prst="rect">
            <a:avLst/>
          </a:prstGeom>
          <a:solidFill>
            <a:srgbClr val="F6F9FC"/>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660136" y="3886200"/>
            <a:ext cx="1572768" cy="146304"/>
          </a:xfrm>
          <a:prstGeom prst="rect">
            <a:avLst/>
          </a:prstGeom>
          <a:noFill/>
        </p:spPr>
        <p:txBody>
          <a:bodyPr wrap="square" lIns="45720" rIns="45720" anchor="t">
            <a:spAutoFit/>
          </a:bodyPr>
          <a:lstStyle/>
          <a:p>
            <a:pPr algn="l">
              <a:spcBef>
                <a:spcPts val="0"/>
              </a:spcBef>
              <a:spcAft>
                <a:spcPts val="0"/>
              </a:spcAft>
            </a:pPr>
            <a:r>
              <a:rPr sz="760" b="0" i="0">
                <a:solidFill>
                  <a:srgbClr val="192F4B"/>
                </a:solidFill>
                <a:latin typeface="Aptos"/>
              </a:rPr>
              <a:t>Sample-rate divider</a:t>
            </a:r>
          </a:p>
        </p:txBody>
      </p:sp>
      <p:sp>
        <p:nvSpPr>
          <p:cNvPr id="52" name="Rectangle 51"/>
          <p:cNvSpPr/>
          <p:nvPr/>
        </p:nvSpPr>
        <p:spPr>
          <a:xfrm>
            <a:off x="3813048" y="4105656"/>
            <a:ext cx="1307592"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9624" y="4169664"/>
            <a:ext cx="1234439" cy="146304"/>
          </a:xfrm>
          <a:prstGeom prst="rect">
            <a:avLst/>
          </a:prstGeom>
          <a:noFill/>
        </p:spPr>
        <p:txBody>
          <a:bodyPr wrap="square" lIns="45720" rIns="45720" anchor="t">
            <a:spAutoFit/>
          </a:bodyPr>
          <a:lstStyle/>
          <a:p>
            <a:pPr algn="l">
              <a:spcBef>
                <a:spcPts val="0"/>
              </a:spcBef>
              <a:spcAft>
                <a:spcPts val="0"/>
              </a:spcAft>
            </a:pPr>
            <a:r>
              <a:rPr sz="760" b="1" i="0">
                <a:solidFill>
                  <a:srgbClr val="192F4B"/>
                </a:solidFill>
                <a:latin typeface="Aptos"/>
              </a:rPr>
              <a:t>CONFIG</a:t>
            </a:r>
          </a:p>
        </p:txBody>
      </p:sp>
      <p:sp>
        <p:nvSpPr>
          <p:cNvPr id="54" name="Rectangle 53"/>
          <p:cNvSpPr/>
          <p:nvPr/>
        </p:nvSpPr>
        <p:spPr>
          <a:xfrm>
            <a:off x="5120640" y="4105656"/>
            <a:ext cx="502920"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157216" y="4169664"/>
            <a:ext cx="429768" cy="146304"/>
          </a:xfrm>
          <a:prstGeom prst="rect">
            <a:avLst/>
          </a:prstGeom>
          <a:noFill/>
        </p:spPr>
        <p:txBody>
          <a:bodyPr wrap="square" lIns="45720" rIns="45720" anchor="t">
            <a:spAutoFit/>
          </a:bodyPr>
          <a:lstStyle/>
          <a:p>
            <a:pPr algn="l">
              <a:spcBef>
                <a:spcPts val="0"/>
              </a:spcBef>
              <a:spcAft>
                <a:spcPts val="0"/>
              </a:spcAft>
            </a:pPr>
            <a:r>
              <a:rPr sz="760" b="0" i="0">
                <a:solidFill>
                  <a:srgbClr val="7056BE"/>
                </a:solidFill>
                <a:latin typeface="Aptos"/>
              </a:rPr>
              <a:t>0x1A</a:t>
            </a:r>
          </a:p>
        </p:txBody>
      </p:sp>
      <p:sp>
        <p:nvSpPr>
          <p:cNvPr id="56" name="Rectangle 55"/>
          <p:cNvSpPr/>
          <p:nvPr/>
        </p:nvSpPr>
        <p:spPr>
          <a:xfrm>
            <a:off x="5623560" y="4105656"/>
            <a:ext cx="1645920"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660136" y="4169664"/>
            <a:ext cx="1572768" cy="146304"/>
          </a:xfrm>
          <a:prstGeom prst="rect">
            <a:avLst/>
          </a:prstGeom>
          <a:noFill/>
        </p:spPr>
        <p:txBody>
          <a:bodyPr wrap="square" lIns="45720" rIns="45720" anchor="t">
            <a:spAutoFit/>
          </a:bodyPr>
          <a:lstStyle/>
          <a:p>
            <a:pPr algn="l">
              <a:spcBef>
                <a:spcPts val="0"/>
              </a:spcBef>
              <a:spcAft>
                <a:spcPts val="0"/>
              </a:spcAft>
            </a:pPr>
            <a:r>
              <a:rPr sz="760" b="0" i="0">
                <a:solidFill>
                  <a:srgbClr val="192F4B"/>
                </a:solidFill>
                <a:latin typeface="Aptos"/>
              </a:rPr>
              <a:t>Digital low-pass filter</a:t>
            </a:r>
          </a:p>
        </p:txBody>
      </p:sp>
      <p:sp>
        <p:nvSpPr>
          <p:cNvPr id="58" name="Rectangle 57"/>
          <p:cNvSpPr/>
          <p:nvPr/>
        </p:nvSpPr>
        <p:spPr>
          <a:xfrm>
            <a:off x="3813048" y="4389120"/>
            <a:ext cx="1307592" cy="283464"/>
          </a:xfrm>
          <a:prstGeom prst="rect">
            <a:avLst/>
          </a:prstGeom>
          <a:solidFill>
            <a:srgbClr val="F6F9FC"/>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849624" y="4453128"/>
            <a:ext cx="1234439" cy="146304"/>
          </a:xfrm>
          <a:prstGeom prst="rect">
            <a:avLst/>
          </a:prstGeom>
          <a:noFill/>
        </p:spPr>
        <p:txBody>
          <a:bodyPr wrap="square" lIns="45720" rIns="45720" anchor="t">
            <a:spAutoFit/>
          </a:bodyPr>
          <a:lstStyle/>
          <a:p>
            <a:pPr algn="l">
              <a:spcBef>
                <a:spcPts val="0"/>
              </a:spcBef>
              <a:spcAft>
                <a:spcPts val="0"/>
              </a:spcAft>
            </a:pPr>
            <a:r>
              <a:rPr sz="760" b="1" i="0">
                <a:solidFill>
                  <a:srgbClr val="192F4B"/>
                </a:solidFill>
                <a:latin typeface="Aptos"/>
              </a:rPr>
              <a:t>ACCEL_CONFIG</a:t>
            </a:r>
          </a:p>
        </p:txBody>
      </p:sp>
      <p:sp>
        <p:nvSpPr>
          <p:cNvPr id="60" name="Rectangle 59"/>
          <p:cNvSpPr/>
          <p:nvPr/>
        </p:nvSpPr>
        <p:spPr>
          <a:xfrm>
            <a:off x="5120640" y="4389120"/>
            <a:ext cx="502920" cy="283464"/>
          </a:xfrm>
          <a:prstGeom prst="rect">
            <a:avLst/>
          </a:prstGeom>
          <a:solidFill>
            <a:srgbClr val="F6F9FC"/>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157216" y="4453128"/>
            <a:ext cx="429768" cy="146304"/>
          </a:xfrm>
          <a:prstGeom prst="rect">
            <a:avLst/>
          </a:prstGeom>
          <a:noFill/>
        </p:spPr>
        <p:txBody>
          <a:bodyPr wrap="square" lIns="45720" rIns="45720" anchor="t">
            <a:spAutoFit/>
          </a:bodyPr>
          <a:lstStyle/>
          <a:p>
            <a:pPr algn="l">
              <a:spcBef>
                <a:spcPts val="0"/>
              </a:spcBef>
              <a:spcAft>
                <a:spcPts val="0"/>
              </a:spcAft>
            </a:pPr>
            <a:r>
              <a:rPr sz="760" b="0" i="0">
                <a:solidFill>
                  <a:srgbClr val="7056BE"/>
                </a:solidFill>
                <a:latin typeface="Aptos"/>
              </a:rPr>
              <a:t>0x1C</a:t>
            </a:r>
          </a:p>
        </p:txBody>
      </p:sp>
      <p:sp>
        <p:nvSpPr>
          <p:cNvPr id="62" name="Rectangle 61"/>
          <p:cNvSpPr/>
          <p:nvPr/>
        </p:nvSpPr>
        <p:spPr>
          <a:xfrm>
            <a:off x="5623560" y="4389120"/>
            <a:ext cx="1645920" cy="283464"/>
          </a:xfrm>
          <a:prstGeom prst="rect">
            <a:avLst/>
          </a:prstGeom>
          <a:solidFill>
            <a:srgbClr val="F6F9FC"/>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660136" y="4453128"/>
            <a:ext cx="1572768" cy="146304"/>
          </a:xfrm>
          <a:prstGeom prst="rect">
            <a:avLst/>
          </a:prstGeom>
          <a:noFill/>
        </p:spPr>
        <p:txBody>
          <a:bodyPr wrap="square" lIns="45720" rIns="45720" anchor="t">
            <a:spAutoFit/>
          </a:bodyPr>
          <a:lstStyle/>
          <a:p>
            <a:pPr algn="l">
              <a:spcBef>
                <a:spcPts val="0"/>
              </a:spcBef>
              <a:spcAft>
                <a:spcPts val="0"/>
              </a:spcAft>
            </a:pPr>
            <a:r>
              <a:rPr sz="760" b="0" i="0">
                <a:solidFill>
                  <a:srgbClr val="192F4B"/>
                </a:solidFill>
                <a:latin typeface="Aptos"/>
              </a:rPr>
              <a:t>Accelerometer range</a:t>
            </a:r>
          </a:p>
        </p:txBody>
      </p:sp>
      <p:sp>
        <p:nvSpPr>
          <p:cNvPr id="64" name="Rectangle 63"/>
          <p:cNvSpPr/>
          <p:nvPr/>
        </p:nvSpPr>
        <p:spPr>
          <a:xfrm>
            <a:off x="3813048" y="4672584"/>
            <a:ext cx="1307592"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9624" y="4736592"/>
            <a:ext cx="1234439" cy="146304"/>
          </a:xfrm>
          <a:prstGeom prst="rect">
            <a:avLst/>
          </a:prstGeom>
          <a:noFill/>
        </p:spPr>
        <p:txBody>
          <a:bodyPr wrap="square" lIns="45720" rIns="45720" anchor="t">
            <a:spAutoFit/>
          </a:bodyPr>
          <a:lstStyle/>
          <a:p>
            <a:pPr algn="l">
              <a:spcBef>
                <a:spcPts val="0"/>
              </a:spcBef>
              <a:spcAft>
                <a:spcPts val="0"/>
              </a:spcAft>
            </a:pPr>
            <a:r>
              <a:rPr sz="760" b="1" i="0">
                <a:solidFill>
                  <a:srgbClr val="192F4B"/>
                </a:solidFill>
                <a:latin typeface="Aptos"/>
              </a:rPr>
              <a:t>ACCEL_XOUT_H</a:t>
            </a:r>
          </a:p>
        </p:txBody>
      </p:sp>
      <p:sp>
        <p:nvSpPr>
          <p:cNvPr id="66" name="Rectangle 65"/>
          <p:cNvSpPr/>
          <p:nvPr/>
        </p:nvSpPr>
        <p:spPr>
          <a:xfrm>
            <a:off x="5120640" y="4672584"/>
            <a:ext cx="502920"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157216" y="4736592"/>
            <a:ext cx="429768" cy="146304"/>
          </a:xfrm>
          <a:prstGeom prst="rect">
            <a:avLst/>
          </a:prstGeom>
          <a:noFill/>
        </p:spPr>
        <p:txBody>
          <a:bodyPr wrap="square" lIns="45720" rIns="45720" anchor="t">
            <a:spAutoFit/>
          </a:bodyPr>
          <a:lstStyle/>
          <a:p>
            <a:pPr algn="l">
              <a:spcBef>
                <a:spcPts val="0"/>
              </a:spcBef>
              <a:spcAft>
                <a:spcPts val="0"/>
              </a:spcAft>
            </a:pPr>
            <a:r>
              <a:rPr sz="760" b="0" i="0">
                <a:solidFill>
                  <a:srgbClr val="7056BE"/>
                </a:solidFill>
                <a:latin typeface="Aptos"/>
              </a:rPr>
              <a:t>0x3B</a:t>
            </a:r>
          </a:p>
        </p:txBody>
      </p:sp>
      <p:sp>
        <p:nvSpPr>
          <p:cNvPr id="68" name="Rectangle 67"/>
          <p:cNvSpPr/>
          <p:nvPr/>
        </p:nvSpPr>
        <p:spPr>
          <a:xfrm>
            <a:off x="5623560" y="4672584"/>
            <a:ext cx="1645920" cy="283464"/>
          </a:xfrm>
          <a:prstGeom prst="rect">
            <a:avLst/>
          </a:prstGeom>
          <a:solidFill>
            <a:srgbClr val="FFFFFF"/>
          </a:solidFill>
          <a:ln w="508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660136" y="4736592"/>
            <a:ext cx="1572768" cy="146304"/>
          </a:xfrm>
          <a:prstGeom prst="rect">
            <a:avLst/>
          </a:prstGeom>
          <a:noFill/>
        </p:spPr>
        <p:txBody>
          <a:bodyPr wrap="square" lIns="45720" rIns="45720" anchor="t">
            <a:spAutoFit/>
          </a:bodyPr>
          <a:lstStyle/>
          <a:p>
            <a:pPr algn="l">
              <a:spcBef>
                <a:spcPts val="0"/>
              </a:spcBef>
              <a:spcAft>
                <a:spcPts val="0"/>
              </a:spcAft>
            </a:pPr>
            <a:r>
              <a:rPr sz="760" b="0" i="0">
                <a:solidFill>
                  <a:srgbClr val="192F4B"/>
                </a:solidFill>
                <a:latin typeface="Aptos"/>
              </a:rPr>
              <a:t>Start of accel output</a:t>
            </a:r>
          </a:p>
        </p:txBody>
      </p:sp>
      <p:sp>
        <p:nvSpPr>
          <p:cNvPr id="70" name="TextBox 69"/>
          <p:cNvSpPr txBox="1"/>
          <p:nvPr/>
        </p:nvSpPr>
        <p:spPr>
          <a:xfrm>
            <a:off x="3813048" y="5093208"/>
            <a:ext cx="3429000" cy="182880"/>
          </a:xfrm>
          <a:prstGeom prst="rect">
            <a:avLst/>
          </a:prstGeom>
          <a:noFill/>
        </p:spPr>
        <p:txBody>
          <a:bodyPr wrap="square" lIns="45720" rIns="45720" anchor="t">
            <a:spAutoFit/>
          </a:bodyPr>
          <a:lstStyle/>
          <a:p>
            <a:pPr algn="l">
              <a:spcBef>
                <a:spcPts val="0"/>
              </a:spcBef>
              <a:spcAft>
                <a:spcPts val="0"/>
              </a:spcAft>
            </a:pPr>
            <a:r>
              <a:rPr sz="869" b="1" i="0">
                <a:solidFill>
                  <a:srgbClr val="0097A4"/>
                </a:solidFill>
                <a:latin typeface="Aptos"/>
              </a:rPr>
              <a:t>Read sequence</a:t>
            </a:r>
          </a:p>
        </p:txBody>
      </p:sp>
      <p:sp>
        <p:nvSpPr>
          <p:cNvPr id="71" name="TextBox 70"/>
          <p:cNvSpPr txBox="1"/>
          <p:nvPr/>
        </p:nvSpPr>
        <p:spPr>
          <a:xfrm>
            <a:off x="3813048" y="5303520"/>
            <a:ext cx="3456432" cy="320040"/>
          </a:xfrm>
          <a:prstGeom prst="rect">
            <a:avLst/>
          </a:prstGeom>
          <a:noFill/>
        </p:spPr>
        <p:txBody>
          <a:bodyPr wrap="square" lIns="45720" rIns="45720" anchor="t">
            <a:spAutoFit/>
          </a:bodyPr>
          <a:lstStyle/>
          <a:p>
            <a:pPr algn="l">
              <a:spcBef>
                <a:spcPts val="0"/>
              </a:spcBef>
              <a:spcAft>
                <a:spcPts val="0"/>
              </a:spcAft>
            </a:pPr>
            <a:r>
              <a:rPr sz="860" b="0" i="0">
                <a:solidFill>
                  <a:srgbClr val="192F4B"/>
                </a:solidFill>
                <a:latin typeface="Aptos"/>
              </a:rPr>
              <a:t>Register address → repeated START/read → 6 bytes → combine signed high/low words.</a:t>
            </a:r>
          </a:p>
        </p:txBody>
      </p:sp>
      <p:sp>
        <p:nvSpPr>
          <p:cNvPr id="72" name="TextBox 71"/>
          <p:cNvSpPr txBox="1"/>
          <p:nvPr/>
        </p:nvSpPr>
        <p:spPr>
          <a:xfrm>
            <a:off x="8065008" y="1572768"/>
            <a:ext cx="3246120" cy="201168"/>
          </a:xfrm>
          <a:prstGeom prst="rect">
            <a:avLst/>
          </a:prstGeom>
          <a:noFill/>
        </p:spPr>
        <p:txBody>
          <a:bodyPr wrap="square" lIns="45720" rIns="45720" anchor="t">
            <a:spAutoFit/>
          </a:bodyPr>
          <a:lstStyle/>
          <a:p>
            <a:pPr algn="l">
              <a:spcBef>
                <a:spcPts val="0"/>
              </a:spcBef>
              <a:spcAft>
                <a:spcPts val="0"/>
              </a:spcAft>
            </a:pPr>
            <a:r>
              <a:rPr sz="900" b="1" i="0">
                <a:solidFill>
                  <a:srgbClr val="7056BE"/>
                </a:solidFill>
                <a:latin typeface="Aptos"/>
              </a:rPr>
              <a:t>03 / FIRMWARE PROCESSING</a:t>
            </a:r>
          </a:p>
        </p:txBody>
      </p:sp>
      <p:sp>
        <p:nvSpPr>
          <p:cNvPr id="73" name="Oval 72"/>
          <p:cNvSpPr/>
          <p:nvPr/>
        </p:nvSpPr>
        <p:spPr>
          <a:xfrm>
            <a:off x="8083296" y="1874519"/>
            <a:ext cx="274320" cy="274320"/>
          </a:xfrm>
          <a:prstGeom prst="ellipse">
            <a:avLst/>
          </a:prstGeom>
          <a:solidFill>
            <a:srgbClr val="E4F6F5"/>
          </a:solidFill>
          <a:ln w="12700">
            <a:solidFill>
              <a:srgbClr val="E4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083296" y="1933955"/>
            <a:ext cx="274320" cy="109728"/>
          </a:xfrm>
          <a:prstGeom prst="rect">
            <a:avLst/>
          </a:prstGeom>
          <a:noFill/>
        </p:spPr>
        <p:txBody>
          <a:bodyPr wrap="square" lIns="0" tIns="0" rIns="0" bIns="0" anchor="ctr">
            <a:spAutoFit/>
          </a:bodyPr>
          <a:lstStyle/>
          <a:p>
            <a:pPr algn="ctr">
              <a:spcBef>
                <a:spcPts val="0"/>
              </a:spcBef>
              <a:spcAft>
                <a:spcPts val="0"/>
              </a:spcAft>
            </a:pPr>
            <a:r>
              <a:rPr sz="850" b="1" i="0">
                <a:solidFill>
                  <a:srgbClr val="0097A4"/>
                </a:solidFill>
                <a:latin typeface="Aptos"/>
              </a:rPr>
              <a:t>1</a:t>
            </a:r>
          </a:p>
        </p:txBody>
      </p:sp>
      <p:sp>
        <p:nvSpPr>
          <p:cNvPr id="75" name="TextBox 74"/>
          <p:cNvSpPr txBox="1"/>
          <p:nvPr/>
        </p:nvSpPr>
        <p:spPr>
          <a:xfrm>
            <a:off x="8467344" y="1856231"/>
            <a:ext cx="2834640" cy="310896"/>
          </a:xfrm>
          <a:prstGeom prst="rect">
            <a:avLst/>
          </a:prstGeom>
          <a:noFill/>
        </p:spPr>
        <p:txBody>
          <a:bodyPr wrap="square" lIns="45720" rIns="45720" anchor="t">
            <a:spAutoFit/>
          </a:bodyPr>
          <a:lstStyle/>
          <a:p>
            <a:pPr algn="l">
              <a:spcBef>
                <a:spcPts val="0"/>
              </a:spcBef>
              <a:spcAft>
                <a:spcPts val="0"/>
              </a:spcAft>
            </a:pPr>
            <a:r>
              <a:rPr sz="880" b="0" i="0">
                <a:solidFill>
                  <a:srgbClr val="192F4B"/>
                </a:solidFill>
                <a:latin typeface="Aptos"/>
              </a:rPr>
              <a:t>Initialize I²C; wake and configure IMU</a:t>
            </a:r>
          </a:p>
        </p:txBody>
      </p:sp>
      <p:sp>
        <p:nvSpPr>
          <p:cNvPr id="76" name="Down Arrow 75"/>
          <p:cNvSpPr/>
          <p:nvPr/>
        </p:nvSpPr>
        <p:spPr>
          <a:xfrm>
            <a:off x="8165592" y="2167127"/>
            <a:ext cx="109728" cy="146304"/>
          </a:xfrm>
          <a:prstGeom prst="downArrow">
            <a:avLst/>
          </a:prstGeom>
          <a:solidFill>
            <a:srgbClr val="D3DEE9"/>
          </a:solidFill>
          <a:ln w="1270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8083296" y="2404872"/>
            <a:ext cx="274320" cy="274320"/>
          </a:xfrm>
          <a:prstGeom prst="ellipse">
            <a:avLst/>
          </a:prstGeom>
          <a:solidFill>
            <a:srgbClr val="EAF2FC"/>
          </a:solidFill>
          <a:ln w="1270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083296" y="2464308"/>
            <a:ext cx="274320" cy="109728"/>
          </a:xfrm>
          <a:prstGeom prst="rect">
            <a:avLst/>
          </a:prstGeom>
          <a:noFill/>
        </p:spPr>
        <p:txBody>
          <a:bodyPr wrap="square" lIns="0" tIns="0" rIns="0" bIns="0" anchor="ctr">
            <a:spAutoFit/>
          </a:bodyPr>
          <a:lstStyle/>
          <a:p>
            <a:pPr algn="ctr">
              <a:spcBef>
                <a:spcPts val="0"/>
              </a:spcBef>
              <a:spcAft>
                <a:spcPts val="0"/>
              </a:spcAft>
            </a:pPr>
            <a:r>
              <a:rPr sz="850" b="1" i="0">
                <a:solidFill>
                  <a:srgbClr val="2369BE"/>
                </a:solidFill>
                <a:latin typeface="Aptos"/>
              </a:rPr>
              <a:t>2</a:t>
            </a:r>
          </a:p>
        </p:txBody>
      </p:sp>
      <p:sp>
        <p:nvSpPr>
          <p:cNvPr id="79" name="TextBox 78"/>
          <p:cNvSpPr txBox="1"/>
          <p:nvPr/>
        </p:nvSpPr>
        <p:spPr>
          <a:xfrm>
            <a:off x="8467344" y="2386584"/>
            <a:ext cx="2834640" cy="310896"/>
          </a:xfrm>
          <a:prstGeom prst="rect">
            <a:avLst/>
          </a:prstGeom>
          <a:noFill/>
        </p:spPr>
        <p:txBody>
          <a:bodyPr wrap="square" lIns="45720" rIns="45720" anchor="t">
            <a:spAutoFit/>
          </a:bodyPr>
          <a:lstStyle/>
          <a:p>
            <a:pPr algn="l">
              <a:spcBef>
                <a:spcPts val="0"/>
              </a:spcBef>
              <a:spcAft>
                <a:spcPts val="0"/>
              </a:spcAft>
            </a:pPr>
            <a:r>
              <a:rPr sz="880" b="0" i="0">
                <a:solidFill>
                  <a:srgbClr val="192F4B"/>
                </a:solidFill>
                <a:latin typeface="Aptos"/>
              </a:rPr>
              <a:t>Read raw accel / gyro output registers</a:t>
            </a:r>
          </a:p>
        </p:txBody>
      </p:sp>
      <p:sp>
        <p:nvSpPr>
          <p:cNvPr id="80" name="Down Arrow 79"/>
          <p:cNvSpPr/>
          <p:nvPr/>
        </p:nvSpPr>
        <p:spPr>
          <a:xfrm>
            <a:off x="8165592" y="2697479"/>
            <a:ext cx="109728" cy="146304"/>
          </a:xfrm>
          <a:prstGeom prst="downArrow">
            <a:avLst/>
          </a:prstGeom>
          <a:solidFill>
            <a:srgbClr val="D3DEE9"/>
          </a:solidFill>
          <a:ln w="1270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083296" y="2935224"/>
            <a:ext cx="274320" cy="274320"/>
          </a:xfrm>
          <a:prstGeom prst="ellipse">
            <a:avLst/>
          </a:prstGeom>
          <a:solidFill>
            <a:srgbClr val="F2EEFC"/>
          </a:solidFill>
          <a:ln w="12700">
            <a:solidFill>
              <a:srgbClr val="F2EE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083296" y="2994660"/>
            <a:ext cx="274320" cy="109728"/>
          </a:xfrm>
          <a:prstGeom prst="rect">
            <a:avLst/>
          </a:prstGeom>
          <a:noFill/>
        </p:spPr>
        <p:txBody>
          <a:bodyPr wrap="square" lIns="0" tIns="0" rIns="0" bIns="0" anchor="ctr">
            <a:spAutoFit/>
          </a:bodyPr>
          <a:lstStyle/>
          <a:p>
            <a:pPr algn="ctr">
              <a:spcBef>
                <a:spcPts val="0"/>
              </a:spcBef>
              <a:spcAft>
                <a:spcPts val="0"/>
              </a:spcAft>
            </a:pPr>
            <a:r>
              <a:rPr sz="850" b="1" i="0">
                <a:solidFill>
                  <a:srgbClr val="7056BE"/>
                </a:solidFill>
                <a:latin typeface="Aptos"/>
              </a:rPr>
              <a:t>3</a:t>
            </a:r>
          </a:p>
        </p:txBody>
      </p:sp>
      <p:sp>
        <p:nvSpPr>
          <p:cNvPr id="83" name="TextBox 82"/>
          <p:cNvSpPr txBox="1"/>
          <p:nvPr/>
        </p:nvSpPr>
        <p:spPr>
          <a:xfrm>
            <a:off x="8467344" y="2916936"/>
            <a:ext cx="2834640" cy="310896"/>
          </a:xfrm>
          <a:prstGeom prst="rect">
            <a:avLst/>
          </a:prstGeom>
          <a:noFill/>
        </p:spPr>
        <p:txBody>
          <a:bodyPr wrap="square" lIns="45720" rIns="45720" anchor="t">
            <a:spAutoFit/>
          </a:bodyPr>
          <a:lstStyle/>
          <a:p>
            <a:pPr algn="l">
              <a:spcBef>
                <a:spcPts val="0"/>
              </a:spcBef>
              <a:spcAft>
                <a:spcPts val="0"/>
              </a:spcAft>
            </a:pPr>
            <a:r>
              <a:rPr sz="880" b="0" i="0">
                <a:solidFill>
                  <a:srgbClr val="192F4B"/>
                </a:solidFill>
                <a:latin typeface="Aptos"/>
              </a:rPr>
              <a:t>Combine bytes as signed 16-bit values</a:t>
            </a:r>
          </a:p>
        </p:txBody>
      </p:sp>
      <p:sp>
        <p:nvSpPr>
          <p:cNvPr id="84" name="Down Arrow 83"/>
          <p:cNvSpPr/>
          <p:nvPr/>
        </p:nvSpPr>
        <p:spPr>
          <a:xfrm>
            <a:off x="8165592" y="3227832"/>
            <a:ext cx="109728" cy="146304"/>
          </a:xfrm>
          <a:prstGeom prst="downArrow">
            <a:avLst/>
          </a:prstGeom>
          <a:solidFill>
            <a:srgbClr val="D3DEE9"/>
          </a:solidFill>
          <a:ln w="1270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8083296" y="3465576"/>
            <a:ext cx="274320" cy="274320"/>
          </a:xfrm>
          <a:prstGeom prst="ellipse">
            <a:avLst/>
          </a:prstGeom>
          <a:solidFill>
            <a:srgbClr val="E8F6EE"/>
          </a:solidFill>
          <a:ln w="12700">
            <a:solidFill>
              <a:srgbClr val="E8F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083296" y="3525012"/>
            <a:ext cx="274320" cy="109728"/>
          </a:xfrm>
          <a:prstGeom prst="rect">
            <a:avLst/>
          </a:prstGeom>
          <a:noFill/>
        </p:spPr>
        <p:txBody>
          <a:bodyPr wrap="square" lIns="0" tIns="0" rIns="0" bIns="0" anchor="ctr">
            <a:spAutoFit/>
          </a:bodyPr>
          <a:lstStyle/>
          <a:p>
            <a:pPr algn="ctr">
              <a:spcBef>
                <a:spcPts val="0"/>
              </a:spcBef>
              <a:spcAft>
                <a:spcPts val="0"/>
              </a:spcAft>
            </a:pPr>
            <a:r>
              <a:rPr sz="850" b="1" i="0">
                <a:solidFill>
                  <a:srgbClr val="27805B"/>
                </a:solidFill>
                <a:latin typeface="Aptos"/>
              </a:rPr>
              <a:t>4</a:t>
            </a:r>
          </a:p>
        </p:txBody>
      </p:sp>
      <p:sp>
        <p:nvSpPr>
          <p:cNvPr id="87" name="TextBox 86"/>
          <p:cNvSpPr txBox="1"/>
          <p:nvPr/>
        </p:nvSpPr>
        <p:spPr>
          <a:xfrm>
            <a:off x="8467344" y="3447288"/>
            <a:ext cx="2834640" cy="310896"/>
          </a:xfrm>
          <a:prstGeom prst="rect">
            <a:avLst/>
          </a:prstGeom>
          <a:noFill/>
        </p:spPr>
        <p:txBody>
          <a:bodyPr wrap="square" lIns="45720" rIns="45720" anchor="t">
            <a:spAutoFit/>
          </a:bodyPr>
          <a:lstStyle/>
          <a:p>
            <a:pPr algn="l">
              <a:spcBef>
                <a:spcPts val="0"/>
              </a:spcBef>
              <a:spcAft>
                <a:spcPts val="0"/>
              </a:spcAft>
            </a:pPr>
            <a:r>
              <a:rPr sz="880" b="1" i="0">
                <a:solidFill>
                  <a:srgbClr val="192F4B"/>
                </a:solidFill>
                <a:latin typeface="Aptos"/>
              </a:rPr>
              <a:t>Scale, establish baseline, filter noise</a:t>
            </a:r>
          </a:p>
        </p:txBody>
      </p:sp>
      <p:sp>
        <p:nvSpPr>
          <p:cNvPr id="88" name="Down Arrow 87"/>
          <p:cNvSpPr/>
          <p:nvPr/>
        </p:nvSpPr>
        <p:spPr>
          <a:xfrm>
            <a:off x="8165592" y="3758184"/>
            <a:ext cx="109728" cy="146304"/>
          </a:xfrm>
          <a:prstGeom prst="downArrow">
            <a:avLst/>
          </a:prstGeom>
          <a:solidFill>
            <a:srgbClr val="D3DEE9"/>
          </a:solidFill>
          <a:ln w="1270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083296" y="3995927"/>
            <a:ext cx="274320" cy="274320"/>
          </a:xfrm>
          <a:prstGeom prst="ellipse">
            <a:avLst/>
          </a:prstGeom>
          <a:solidFill>
            <a:srgbClr val="FFF5E0"/>
          </a:solidFill>
          <a:ln w="12700">
            <a:solidFill>
              <a:srgbClr val="FFF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083296" y="4055363"/>
            <a:ext cx="274320" cy="109728"/>
          </a:xfrm>
          <a:prstGeom prst="rect">
            <a:avLst/>
          </a:prstGeom>
          <a:noFill/>
        </p:spPr>
        <p:txBody>
          <a:bodyPr wrap="square" lIns="0" tIns="0" rIns="0" bIns="0" anchor="ctr">
            <a:spAutoFit/>
          </a:bodyPr>
          <a:lstStyle/>
          <a:p>
            <a:pPr algn="ctr">
              <a:spcBef>
                <a:spcPts val="0"/>
              </a:spcBef>
              <a:spcAft>
                <a:spcPts val="0"/>
              </a:spcAft>
            </a:pPr>
            <a:r>
              <a:rPr sz="850" b="1" i="0">
                <a:solidFill>
                  <a:srgbClr val="B46300"/>
                </a:solidFill>
                <a:latin typeface="Aptos"/>
              </a:rPr>
              <a:t>5</a:t>
            </a:r>
          </a:p>
        </p:txBody>
      </p:sp>
      <p:sp>
        <p:nvSpPr>
          <p:cNvPr id="91" name="TextBox 90"/>
          <p:cNvSpPr txBox="1"/>
          <p:nvPr/>
        </p:nvSpPr>
        <p:spPr>
          <a:xfrm>
            <a:off x="8467344" y="3977639"/>
            <a:ext cx="2834640" cy="310896"/>
          </a:xfrm>
          <a:prstGeom prst="rect">
            <a:avLst/>
          </a:prstGeom>
          <a:noFill/>
        </p:spPr>
        <p:txBody>
          <a:bodyPr wrap="square" lIns="45720" rIns="45720" anchor="t">
            <a:spAutoFit/>
          </a:bodyPr>
          <a:lstStyle/>
          <a:p>
            <a:pPr algn="l">
              <a:spcBef>
                <a:spcPts val="0"/>
              </a:spcBef>
              <a:spcAft>
                <a:spcPts val="0"/>
              </a:spcAft>
            </a:pPr>
            <a:r>
              <a:rPr sz="880" b="1" i="0">
                <a:solidFill>
                  <a:srgbClr val="192F4B"/>
                </a:solidFill>
                <a:latin typeface="Aptos"/>
              </a:rPr>
              <a:t>Compare feature to configured threshold</a:t>
            </a:r>
          </a:p>
        </p:txBody>
      </p:sp>
      <p:sp>
        <p:nvSpPr>
          <p:cNvPr id="92" name="Rounded Rectangle 91"/>
          <p:cNvSpPr/>
          <p:nvPr/>
        </p:nvSpPr>
        <p:spPr>
          <a:xfrm>
            <a:off x="8074152" y="4626864"/>
            <a:ext cx="3246120" cy="603504"/>
          </a:xfrm>
          <a:prstGeom prst="roundRect">
            <a:avLst/>
          </a:prstGeom>
          <a:solidFill>
            <a:srgbClr val="E4F6F5"/>
          </a:solidFill>
          <a:ln w="12700">
            <a:solidFill>
              <a:srgbClr val="E4F6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8220456" y="4727448"/>
            <a:ext cx="2962656" cy="164592"/>
          </a:xfrm>
          <a:prstGeom prst="rect">
            <a:avLst/>
          </a:prstGeom>
          <a:noFill/>
        </p:spPr>
        <p:txBody>
          <a:bodyPr wrap="square" lIns="45720" rIns="45720" anchor="t">
            <a:spAutoFit/>
          </a:bodyPr>
          <a:lstStyle/>
          <a:p>
            <a:pPr algn="ctr">
              <a:spcBef>
                <a:spcPts val="0"/>
              </a:spcBef>
              <a:spcAft>
                <a:spcPts val="0"/>
              </a:spcAft>
            </a:pPr>
            <a:r>
              <a:rPr sz="800" b="1" i="0">
                <a:solidFill>
                  <a:srgbClr val="0097A4"/>
                </a:solidFill>
                <a:latin typeface="Aptos"/>
              </a:rPr>
              <a:t>OUTPUT EVENT FLAG</a:t>
            </a:r>
          </a:p>
        </p:txBody>
      </p:sp>
      <p:sp>
        <p:nvSpPr>
          <p:cNvPr id="94" name="TextBox 93"/>
          <p:cNvSpPr txBox="1"/>
          <p:nvPr/>
        </p:nvSpPr>
        <p:spPr>
          <a:xfrm>
            <a:off x="8220456" y="4928616"/>
            <a:ext cx="2962656" cy="182880"/>
          </a:xfrm>
          <a:prstGeom prst="rect">
            <a:avLst/>
          </a:prstGeom>
          <a:noFill/>
        </p:spPr>
        <p:txBody>
          <a:bodyPr wrap="square" lIns="45720" rIns="45720" anchor="t">
            <a:spAutoFit/>
          </a:bodyPr>
          <a:lstStyle/>
          <a:p>
            <a:pPr algn="ctr">
              <a:spcBef>
                <a:spcPts val="0"/>
              </a:spcBef>
              <a:spcAft>
                <a:spcPts val="0"/>
              </a:spcAft>
            </a:pPr>
            <a:r>
              <a:rPr sz="900" b="1" i="0">
                <a:solidFill>
                  <a:srgbClr val="192F4B"/>
                </a:solidFill>
                <a:latin typeface="Aptos"/>
              </a:rPr>
              <a:t>Main loop updates LEDs + buzzer</a:t>
            </a:r>
          </a:p>
        </p:txBody>
      </p:sp>
      <p:sp>
        <p:nvSpPr>
          <p:cNvPr id="95" name="TextBox 94"/>
          <p:cNvSpPr txBox="1"/>
          <p:nvPr/>
        </p:nvSpPr>
        <p:spPr>
          <a:xfrm>
            <a:off x="8083296" y="5349240"/>
            <a:ext cx="3200400" cy="228600"/>
          </a:xfrm>
          <a:prstGeom prst="rect">
            <a:avLst/>
          </a:prstGeom>
          <a:noFill/>
        </p:spPr>
        <p:txBody>
          <a:bodyPr wrap="square" lIns="45720" rIns="45720" anchor="t">
            <a:spAutoFit/>
          </a:bodyPr>
          <a:lstStyle/>
          <a:p>
            <a:pPr algn="l">
              <a:spcBef>
                <a:spcPts val="0"/>
              </a:spcBef>
              <a:spcAft>
                <a:spcPts val="0"/>
              </a:spcAft>
            </a:pPr>
            <a:r>
              <a:rPr sz="819" b="0" i="1">
                <a:solidFill>
                  <a:srgbClr val="536982"/>
                </a:solidFill>
                <a:latin typeface="Aptos"/>
              </a:rPr>
              <a:t>Optional: data-ready interrupt → EXTI/NVIC</a:t>
            </a:r>
          </a:p>
        </p:txBody>
      </p:sp>
      <p:sp>
        <p:nvSpPr>
          <p:cNvPr id="96" name="Rounded Rectangle 95"/>
          <p:cNvSpPr/>
          <p:nvPr/>
        </p:nvSpPr>
        <p:spPr>
          <a:xfrm>
            <a:off x="530352" y="5925312"/>
            <a:ext cx="11119104" cy="457200"/>
          </a:xfrm>
          <a:prstGeom prst="roundRect">
            <a:avLst/>
          </a:prstGeom>
          <a:solidFill>
            <a:srgbClr val="FFF5E0"/>
          </a:solidFill>
          <a:ln w="12700">
            <a:solidFill>
              <a:srgbClr val="FFF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704088" y="6007608"/>
            <a:ext cx="1188720" cy="164592"/>
          </a:xfrm>
          <a:prstGeom prst="rect">
            <a:avLst/>
          </a:prstGeom>
          <a:noFill/>
        </p:spPr>
        <p:txBody>
          <a:bodyPr wrap="square" lIns="45720" rIns="45720" anchor="t">
            <a:spAutoFit/>
          </a:bodyPr>
          <a:lstStyle/>
          <a:p>
            <a:pPr algn="l">
              <a:spcBef>
                <a:spcPts val="0"/>
              </a:spcBef>
              <a:spcAft>
                <a:spcPts val="0"/>
              </a:spcAft>
            </a:pPr>
            <a:r>
              <a:rPr sz="850" b="1" i="0">
                <a:solidFill>
                  <a:srgbClr val="B46300"/>
                </a:solidFill>
                <a:latin typeface="Aptos"/>
              </a:rPr>
              <a:t>VERIFY &amp; TEST</a:t>
            </a:r>
          </a:p>
        </p:txBody>
      </p:sp>
      <p:sp>
        <p:nvSpPr>
          <p:cNvPr id="98" name="TextBox 97"/>
          <p:cNvSpPr txBox="1"/>
          <p:nvPr/>
        </p:nvSpPr>
        <p:spPr>
          <a:xfrm>
            <a:off x="1874519" y="5980176"/>
            <a:ext cx="9509760" cy="265176"/>
          </a:xfrm>
          <a:prstGeom prst="rect">
            <a:avLst/>
          </a:prstGeom>
          <a:noFill/>
        </p:spPr>
        <p:txBody>
          <a:bodyPr wrap="square" lIns="45720" rIns="45720" anchor="t">
            <a:spAutoFit/>
          </a:bodyPr>
          <a:lstStyle/>
          <a:p>
            <a:pPr algn="l">
              <a:spcBef>
                <a:spcPts val="0"/>
              </a:spcBef>
              <a:spcAft>
                <a:spcPts val="0"/>
              </a:spcAft>
            </a:pPr>
            <a:r>
              <a:rPr sz="860" b="0" i="0">
                <a:solidFill>
                  <a:srgbClr val="192F4B"/>
                </a:solidFill>
                <a:latin typeface="Aptos"/>
              </a:rPr>
              <a:t>Check breakout voltage/pull-ups • confirm pin + AF mapping and APB1 timing • calibrate stationary baseline • test repeatable motion cases</a:t>
            </a:r>
          </a:p>
        </p:txBody>
      </p:sp>
      <p:sp>
        <p:nvSpPr>
          <p:cNvPr id="99" name="TextBox 98"/>
          <p:cNvSpPr txBox="1"/>
          <p:nvPr/>
        </p:nvSpPr>
        <p:spPr>
          <a:xfrm>
            <a:off x="566928" y="6528816"/>
            <a:ext cx="8686800" cy="146304"/>
          </a:xfrm>
          <a:prstGeom prst="rect">
            <a:avLst/>
          </a:prstGeom>
          <a:noFill/>
        </p:spPr>
        <p:txBody>
          <a:bodyPr wrap="square" lIns="45720" rIns="45720" anchor="t">
            <a:spAutoFit/>
          </a:bodyPr>
          <a:lstStyle/>
          <a:p>
            <a:pPr algn="l">
              <a:spcBef>
                <a:spcPts val="0"/>
              </a:spcBef>
              <a:spcAft>
                <a:spcPts val="0"/>
              </a:spcAft>
            </a:pPr>
            <a:r>
              <a:rPr sz="720" b="0" i="0">
                <a:solidFill>
                  <a:srgbClr val="536982"/>
                </a:solidFill>
                <a:latin typeface="Aptos"/>
              </a:rPr>
              <a:t>23CSE304 · EMBEDDED SYSTEMS  |  VEHICLE EVENT LOGGING AND RESPONSE SYSTEM</a:t>
            </a:r>
          </a:p>
        </p:txBody>
      </p:sp>
      <p:sp>
        <p:nvSpPr>
          <p:cNvPr id="100" name="TextBox 99"/>
          <p:cNvSpPr txBox="1"/>
          <p:nvPr/>
        </p:nvSpPr>
        <p:spPr>
          <a:xfrm>
            <a:off x="11064240" y="6528816"/>
            <a:ext cx="502920" cy="146304"/>
          </a:xfrm>
          <a:prstGeom prst="rect">
            <a:avLst/>
          </a:prstGeom>
          <a:noFill/>
        </p:spPr>
        <p:txBody>
          <a:bodyPr wrap="square" lIns="45720" rIns="45720" anchor="t">
            <a:spAutoFit/>
          </a:bodyPr>
          <a:lstStyle/>
          <a:p>
            <a:pPr algn="r">
              <a:spcBef>
                <a:spcPts val="0"/>
              </a:spcBef>
              <a:spcAft>
                <a:spcPts val="0"/>
              </a:spcAft>
            </a:pPr>
            <a:r>
              <a:rPr sz="720" b="1" i="0">
                <a:solidFill>
                  <a:srgbClr val="536982"/>
                </a:solidFill>
                <a:latin typeface="Aptos"/>
              </a:rPr>
              <a:t>05 / 09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009AA6"/>
          </a:solidFill>
          <a:ln w="127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173736"/>
            <a:ext cx="5303520" cy="219456"/>
          </a:xfrm>
          <a:prstGeom prst="rect">
            <a:avLst/>
          </a:prstGeom>
          <a:noFill/>
        </p:spPr>
        <p:txBody>
          <a:bodyPr wrap="square" lIns="0" tIns="4572" rIns="0" bIns="4572" anchor="ctr">
            <a:spAutoFit/>
          </a:bodyPr>
          <a:lstStyle/>
          <a:p>
            <a:pPr algn="l">
              <a:spcBef>
                <a:spcPts val="0"/>
              </a:spcBef>
              <a:spcAft>
                <a:spcPts val="0"/>
              </a:spcAft>
            </a:pPr>
            <a:r>
              <a:rPr sz="919" b="1">
                <a:solidFill>
                  <a:srgbClr val="009AA6"/>
                </a:solidFill>
                <a:latin typeface="Aptos"/>
              </a:rPr>
              <a:t>05  /  SENSOR 2</a:t>
            </a:r>
          </a:p>
        </p:txBody>
      </p:sp>
      <p:sp>
        <p:nvSpPr>
          <p:cNvPr id="4" name="TextBox 3"/>
          <p:cNvSpPr txBox="1"/>
          <p:nvPr/>
        </p:nvSpPr>
        <p:spPr>
          <a:xfrm>
            <a:off x="11018520" y="173736"/>
            <a:ext cx="594360" cy="219456"/>
          </a:xfrm>
          <a:prstGeom prst="rect">
            <a:avLst/>
          </a:prstGeom>
          <a:noFill/>
        </p:spPr>
        <p:txBody>
          <a:bodyPr wrap="square" lIns="0" tIns="4572" rIns="0" bIns="4572" anchor="ctr">
            <a:spAutoFit/>
          </a:bodyPr>
          <a:lstStyle/>
          <a:p>
            <a:pPr algn="r">
              <a:spcBef>
                <a:spcPts val="0"/>
              </a:spcBef>
              <a:spcAft>
                <a:spcPts val="0"/>
              </a:spcAft>
            </a:pPr>
            <a:r>
              <a:rPr sz="919" b="1">
                <a:solidFill>
                  <a:srgbClr val="60758F"/>
                </a:solidFill>
                <a:latin typeface="Aptos"/>
              </a:rPr>
              <a:t>06</a:t>
            </a:r>
          </a:p>
        </p:txBody>
      </p:sp>
      <p:sp>
        <p:nvSpPr>
          <p:cNvPr id="5" name="TextBox 4"/>
          <p:cNvSpPr txBox="1"/>
          <p:nvPr/>
        </p:nvSpPr>
        <p:spPr>
          <a:xfrm>
            <a:off x="530352" y="457200"/>
            <a:ext cx="10972800" cy="457200"/>
          </a:xfrm>
          <a:prstGeom prst="rect">
            <a:avLst/>
          </a:prstGeom>
          <a:noFill/>
        </p:spPr>
        <p:txBody>
          <a:bodyPr wrap="square" lIns="0" tIns="4572" rIns="0" bIns="4572" anchor="ctr">
            <a:spAutoFit/>
          </a:bodyPr>
          <a:lstStyle/>
          <a:p>
            <a:pPr algn="l">
              <a:spcBef>
                <a:spcPts val="0"/>
              </a:spcBef>
              <a:spcAft>
                <a:spcPts val="0"/>
              </a:spcAft>
            </a:pPr>
            <a:r>
              <a:rPr sz="2500" b="1">
                <a:solidFill>
                  <a:srgbClr val="1A304B"/>
                </a:solidFill>
                <a:latin typeface="Aptos"/>
              </a:rPr>
              <a:t>Temperature path: LM35 + STM32 ADC</a:t>
            </a:r>
          </a:p>
        </p:txBody>
      </p:sp>
      <p:sp>
        <p:nvSpPr>
          <p:cNvPr id="6" name="TextBox 5"/>
          <p:cNvSpPr txBox="1"/>
          <p:nvPr/>
        </p:nvSpPr>
        <p:spPr>
          <a:xfrm>
            <a:off x="548640" y="900526"/>
            <a:ext cx="11064240" cy="347788"/>
          </a:xfrm>
          <a:prstGeom prst="rect">
            <a:avLst/>
          </a:prstGeom>
          <a:noFill/>
        </p:spPr>
        <p:txBody>
          <a:bodyPr wrap="square" lIns="0" tIns="4572" rIns="0" bIns="4572" anchor="ctr">
            <a:spAutoFit/>
          </a:bodyPr>
          <a:lstStyle/>
          <a:p>
            <a:r>
              <a:rPr lang="en-IN" sz="1100" dirty="0"/>
              <a:t>The LM35 monitors temperature by producing an </a:t>
            </a:r>
            <a:r>
              <a:rPr lang="en-IN" sz="1100" dirty="0" err="1"/>
              <a:t>analog</a:t>
            </a:r>
            <a:r>
              <a:rPr lang="en-IN" sz="1100" dirty="0"/>
              <a:t> voltage that the STM32F411CEU6 digitizes using ADC1, converts into a temperature reading, and compares against a configured threshold to trigger a warning when exceeded.</a:t>
            </a:r>
          </a:p>
        </p:txBody>
      </p:sp>
      <p:sp>
        <p:nvSpPr>
          <p:cNvPr id="7" name="Rounded Rectangle 6"/>
          <p:cNvSpPr/>
          <p:nvPr/>
        </p:nvSpPr>
        <p:spPr>
          <a:xfrm>
            <a:off x="530352" y="1389888"/>
            <a:ext cx="2423160" cy="4718304"/>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136392" y="1389888"/>
            <a:ext cx="4736592" cy="4718304"/>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37575" y="1389888"/>
            <a:ext cx="3621024" cy="4718304"/>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536192"/>
            <a:ext cx="2057400" cy="237744"/>
          </a:xfrm>
          <a:prstGeom prst="rect">
            <a:avLst/>
          </a:prstGeom>
          <a:noFill/>
        </p:spPr>
        <p:txBody>
          <a:bodyPr wrap="square" lIns="0" tIns="4572" rIns="0" bIns="4572" anchor="ctr">
            <a:spAutoFit/>
          </a:bodyPr>
          <a:lstStyle/>
          <a:p>
            <a:pPr algn="l">
              <a:spcBef>
                <a:spcPts val="0"/>
              </a:spcBef>
              <a:spcAft>
                <a:spcPts val="0"/>
              </a:spcAft>
            </a:pPr>
            <a:r>
              <a:rPr sz="1000" b="1">
                <a:solidFill>
                  <a:srgbClr val="009AA6"/>
                </a:solidFill>
                <a:latin typeface="Aptos"/>
              </a:rPr>
              <a:t>SENSOR &amp; WIRING</a:t>
            </a:r>
          </a:p>
        </p:txBody>
      </p:sp>
      <p:sp>
        <p:nvSpPr>
          <p:cNvPr id="11" name="Rectangle 10"/>
          <p:cNvSpPr/>
          <p:nvPr/>
        </p:nvSpPr>
        <p:spPr>
          <a:xfrm>
            <a:off x="713232" y="1828800"/>
            <a:ext cx="438912" cy="32004"/>
          </a:xfrm>
          <a:prstGeom prst="rect">
            <a:avLst/>
          </a:prstGeom>
          <a:solidFill>
            <a:srgbClr val="009AA6"/>
          </a:solidFill>
          <a:ln w="127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243584" y="2093976"/>
            <a:ext cx="987552" cy="603504"/>
          </a:xfrm>
          <a:prstGeom prst="roundRect">
            <a:avLst>
              <a:gd name="adj" fmla="val 12000"/>
            </a:avLst>
          </a:prstGeom>
          <a:solidFill>
            <a:srgbClr val="303B47"/>
          </a:solidFill>
          <a:ln w="5080">
            <a:solidFill>
              <a:srgbClr val="303B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2194560"/>
            <a:ext cx="914400" cy="292608"/>
          </a:xfrm>
          <a:prstGeom prst="rect">
            <a:avLst/>
          </a:prstGeom>
          <a:noFill/>
        </p:spPr>
        <p:txBody>
          <a:bodyPr wrap="square" lIns="0" tIns="4572" rIns="0" bIns="4572" anchor="ctr">
            <a:spAutoFit/>
          </a:bodyPr>
          <a:lstStyle/>
          <a:p>
            <a:pPr algn="ctr">
              <a:spcBef>
                <a:spcPts val="0"/>
              </a:spcBef>
              <a:spcAft>
                <a:spcPts val="0"/>
              </a:spcAft>
            </a:pPr>
            <a:r>
              <a:rPr sz="1100" b="1">
                <a:solidFill>
                  <a:srgbClr val="FFFFFF"/>
                </a:solidFill>
                <a:latin typeface="Aptos"/>
              </a:rPr>
              <a:t>LM35</a:t>
            </a:r>
          </a:p>
        </p:txBody>
      </p:sp>
      <p:cxnSp>
        <p:nvCxnSpPr>
          <p:cNvPr id="14" name="Connector 13"/>
          <p:cNvCxnSpPr/>
          <p:nvPr/>
        </p:nvCxnSpPr>
        <p:spPr>
          <a:xfrm>
            <a:off x="1426464" y="2697480"/>
            <a:ext cx="0" cy="301752"/>
          </a:xfrm>
          <a:prstGeom prst="line">
            <a:avLst/>
          </a:prstGeom>
          <a:ln w="27940">
            <a:solidFill>
              <a:srgbClr val="91A1B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737360" y="2697480"/>
            <a:ext cx="0" cy="301752"/>
          </a:xfrm>
          <a:prstGeom prst="line">
            <a:avLst/>
          </a:prstGeom>
          <a:ln w="27940">
            <a:solidFill>
              <a:srgbClr val="91A1B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48255" y="2697480"/>
            <a:ext cx="0" cy="301752"/>
          </a:xfrm>
          <a:prstGeom prst="line">
            <a:avLst/>
          </a:prstGeom>
          <a:ln w="27940">
            <a:solidFill>
              <a:srgbClr val="91A1B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43584" y="3017520"/>
            <a:ext cx="365760" cy="182880"/>
          </a:xfrm>
          <a:prstGeom prst="rect">
            <a:avLst/>
          </a:prstGeom>
          <a:noFill/>
        </p:spPr>
        <p:txBody>
          <a:bodyPr wrap="square" lIns="0" tIns="4572" rIns="0" bIns="4572" anchor="ctr">
            <a:spAutoFit/>
          </a:bodyPr>
          <a:lstStyle/>
          <a:p>
            <a:pPr algn="ctr">
              <a:spcBef>
                <a:spcPts val="0"/>
              </a:spcBef>
              <a:spcAft>
                <a:spcPts val="0"/>
              </a:spcAft>
            </a:pPr>
            <a:r>
              <a:rPr sz="760" b="1">
                <a:solidFill>
                  <a:srgbClr val="1A304B"/>
                </a:solidFill>
                <a:latin typeface="Aptos"/>
              </a:rPr>
              <a:t>+VS</a:t>
            </a:r>
          </a:p>
        </p:txBody>
      </p:sp>
      <p:sp>
        <p:nvSpPr>
          <p:cNvPr id="18" name="TextBox 17"/>
          <p:cNvSpPr txBox="1"/>
          <p:nvPr/>
        </p:nvSpPr>
        <p:spPr>
          <a:xfrm>
            <a:off x="1554480" y="3017520"/>
            <a:ext cx="365760" cy="182880"/>
          </a:xfrm>
          <a:prstGeom prst="rect">
            <a:avLst/>
          </a:prstGeom>
          <a:noFill/>
        </p:spPr>
        <p:txBody>
          <a:bodyPr wrap="square" lIns="0" tIns="4572" rIns="0" bIns="4572" anchor="ctr">
            <a:spAutoFit/>
          </a:bodyPr>
          <a:lstStyle/>
          <a:p>
            <a:pPr algn="ctr">
              <a:spcBef>
                <a:spcPts val="0"/>
              </a:spcBef>
              <a:spcAft>
                <a:spcPts val="0"/>
              </a:spcAft>
            </a:pPr>
            <a:r>
              <a:rPr sz="760" b="1">
                <a:solidFill>
                  <a:srgbClr val="1A304B"/>
                </a:solidFill>
                <a:latin typeface="Aptos"/>
              </a:rPr>
              <a:t>VOUT</a:t>
            </a:r>
          </a:p>
        </p:txBody>
      </p:sp>
      <p:sp>
        <p:nvSpPr>
          <p:cNvPr id="19" name="TextBox 18"/>
          <p:cNvSpPr txBox="1"/>
          <p:nvPr/>
        </p:nvSpPr>
        <p:spPr>
          <a:xfrm>
            <a:off x="1865375" y="3017520"/>
            <a:ext cx="365760" cy="182880"/>
          </a:xfrm>
          <a:prstGeom prst="rect">
            <a:avLst/>
          </a:prstGeom>
          <a:noFill/>
        </p:spPr>
        <p:txBody>
          <a:bodyPr wrap="square" lIns="0" tIns="4572" rIns="0" bIns="4572" anchor="ctr">
            <a:spAutoFit/>
          </a:bodyPr>
          <a:lstStyle/>
          <a:p>
            <a:pPr algn="ctr">
              <a:spcBef>
                <a:spcPts val="0"/>
              </a:spcBef>
              <a:spcAft>
                <a:spcPts val="0"/>
              </a:spcAft>
            </a:pPr>
            <a:r>
              <a:rPr sz="760" b="1">
                <a:solidFill>
                  <a:srgbClr val="1A304B"/>
                </a:solidFill>
                <a:latin typeface="Aptos"/>
              </a:rPr>
              <a:t>GND</a:t>
            </a:r>
          </a:p>
        </p:txBody>
      </p:sp>
      <p:sp>
        <p:nvSpPr>
          <p:cNvPr id="20" name="TextBox 19"/>
          <p:cNvSpPr txBox="1"/>
          <p:nvPr/>
        </p:nvSpPr>
        <p:spPr>
          <a:xfrm>
            <a:off x="694944" y="3291840"/>
            <a:ext cx="2093976" cy="310896"/>
          </a:xfrm>
          <a:prstGeom prst="rect">
            <a:avLst/>
          </a:prstGeom>
          <a:noFill/>
        </p:spPr>
        <p:txBody>
          <a:bodyPr wrap="square" lIns="0" tIns="4572" rIns="0" bIns="4572" anchor="ctr">
            <a:spAutoFit/>
          </a:bodyPr>
          <a:lstStyle/>
          <a:p>
            <a:pPr algn="ctr">
              <a:spcBef>
                <a:spcPts val="0"/>
              </a:spcBef>
              <a:spcAft>
                <a:spcPts val="0"/>
              </a:spcAft>
            </a:pPr>
            <a:r>
              <a:rPr sz="1040" b="1">
                <a:solidFill>
                  <a:srgbClr val="1A304B"/>
                </a:solidFill>
                <a:latin typeface="Aptos"/>
              </a:rPr>
              <a:t>Analog temperature sensor</a:t>
            </a:r>
          </a:p>
        </p:txBody>
      </p:sp>
      <p:sp>
        <p:nvSpPr>
          <p:cNvPr id="21" name="Rounded Rectangle 20"/>
          <p:cNvSpPr/>
          <p:nvPr/>
        </p:nvSpPr>
        <p:spPr>
          <a:xfrm>
            <a:off x="713232" y="3721608"/>
            <a:ext cx="2057400" cy="758952"/>
          </a:xfrm>
          <a:prstGeom prst="roundRect">
            <a:avLst>
              <a:gd name="adj" fmla="val 12000"/>
            </a:avLst>
          </a:prstGeom>
          <a:solidFill>
            <a:srgbClr val="EAF2FC"/>
          </a:solidFill>
          <a:ln w="10160">
            <a:solidFill>
              <a:srgbClr val="D6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1" y="3803904"/>
            <a:ext cx="1874519" cy="182880"/>
          </a:xfrm>
          <a:prstGeom prst="rect">
            <a:avLst/>
          </a:prstGeom>
          <a:noFill/>
        </p:spPr>
        <p:txBody>
          <a:bodyPr wrap="square" lIns="0" tIns="4572" rIns="0" bIns="4572" anchor="ctr">
            <a:spAutoFit/>
          </a:bodyPr>
          <a:lstStyle/>
          <a:p>
            <a:pPr algn="ctr">
              <a:spcBef>
                <a:spcPts val="0"/>
              </a:spcBef>
              <a:spcAft>
                <a:spcPts val="0"/>
              </a:spcAft>
            </a:pPr>
            <a:r>
              <a:rPr sz="850" b="1">
                <a:solidFill>
                  <a:srgbClr val="2B73C7"/>
                </a:solidFill>
                <a:latin typeface="Aptos"/>
              </a:rPr>
              <a:t>NOMINAL TRANSFER</a:t>
            </a:r>
          </a:p>
        </p:txBody>
      </p:sp>
      <p:sp>
        <p:nvSpPr>
          <p:cNvPr id="23" name="TextBox 22"/>
          <p:cNvSpPr txBox="1"/>
          <p:nvPr/>
        </p:nvSpPr>
        <p:spPr>
          <a:xfrm>
            <a:off x="804671" y="4023360"/>
            <a:ext cx="1874519" cy="320040"/>
          </a:xfrm>
          <a:prstGeom prst="rect">
            <a:avLst/>
          </a:prstGeom>
          <a:noFill/>
        </p:spPr>
        <p:txBody>
          <a:bodyPr wrap="square" lIns="0" tIns="4572" rIns="0" bIns="4572" anchor="ctr">
            <a:spAutoFit/>
          </a:bodyPr>
          <a:lstStyle/>
          <a:p>
            <a:pPr algn="ctr">
              <a:spcBef>
                <a:spcPts val="0"/>
              </a:spcBef>
              <a:spcAft>
                <a:spcPts val="0"/>
              </a:spcAft>
            </a:pPr>
            <a:r>
              <a:rPr sz="1800" b="1">
                <a:solidFill>
                  <a:srgbClr val="1A304B"/>
                </a:solidFill>
                <a:latin typeface="Aptos"/>
              </a:rPr>
              <a:t>10 mV / °C</a:t>
            </a:r>
          </a:p>
        </p:txBody>
      </p:sp>
      <p:sp>
        <p:nvSpPr>
          <p:cNvPr id="24" name="TextBox 23"/>
          <p:cNvSpPr txBox="1"/>
          <p:nvPr/>
        </p:nvSpPr>
        <p:spPr>
          <a:xfrm>
            <a:off x="731519" y="4663440"/>
            <a:ext cx="2020824" cy="658368"/>
          </a:xfrm>
          <a:prstGeom prst="rect">
            <a:avLst/>
          </a:prstGeom>
          <a:noFill/>
        </p:spPr>
        <p:txBody>
          <a:bodyPr wrap="square" lIns="9144" tIns="4572" rIns="9144" bIns="4572" anchor="ctr">
            <a:spAutoFit/>
          </a:bodyPr>
          <a:lstStyle/>
          <a:p>
            <a:pPr algn="l">
              <a:spcBef>
                <a:spcPts val="0"/>
              </a:spcBef>
              <a:spcAft>
                <a:spcPts val="0"/>
              </a:spcAft>
            </a:pPr>
            <a:r>
              <a:rPr sz="910" b="0">
                <a:solidFill>
                  <a:srgbClr val="243B56"/>
                </a:solidFill>
                <a:latin typeface="Aptos"/>
              </a:rPr>
              <a:t>VOUT → PA0 / ADC1_IN0 (example)
GND → common STM32 ground</a:t>
            </a:r>
          </a:p>
        </p:txBody>
      </p:sp>
      <p:sp>
        <p:nvSpPr>
          <p:cNvPr id="25" name="Rounded Rectangle 24"/>
          <p:cNvSpPr/>
          <p:nvPr/>
        </p:nvSpPr>
        <p:spPr>
          <a:xfrm>
            <a:off x="713232" y="5404104"/>
            <a:ext cx="2057400" cy="484632"/>
          </a:xfrm>
          <a:prstGeom prst="roundRect">
            <a:avLst>
              <a:gd name="adj" fmla="val 12000"/>
            </a:avLst>
          </a:prstGeom>
          <a:solidFill>
            <a:srgbClr val="FFF3E0"/>
          </a:solidFill>
          <a:ln w="8890">
            <a:solidFill>
              <a:srgbClr val="F0D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4671" y="5440679"/>
            <a:ext cx="1874519" cy="402336"/>
          </a:xfrm>
          <a:prstGeom prst="rect">
            <a:avLst/>
          </a:prstGeom>
          <a:noFill/>
        </p:spPr>
        <p:txBody>
          <a:bodyPr wrap="square" lIns="9144" tIns="4572" rIns="9144" bIns="4572" anchor="ctr">
            <a:spAutoFit/>
          </a:bodyPr>
          <a:lstStyle/>
          <a:p>
            <a:pPr algn="ctr">
              <a:spcBef>
                <a:spcPts val="0"/>
              </a:spcBef>
              <a:spcAft>
                <a:spcPts val="0"/>
              </a:spcAft>
            </a:pPr>
            <a:r>
              <a:rPr sz="800" b="1">
                <a:solidFill>
                  <a:srgbClr val="B96C0A"/>
                </a:solidFill>
                <a:latin typeface="Aptos"/>
              </a:rPr>
              <a:t>Keep ADC input within its allowed range (≤ VDDA). Check sensor supply and output range.</a:t>
            </a:r>
          </a:p>
        </p:txBody>
      </p:sp>
      <p:sp>
        <p:nvSpPr>
          <p:cNvPr id="27" name="TextBox 26"/>
          <p:cNvSpPr txBox="1"/>
          <p:nvPr/>
        </p:nvSpPr>
        <p:spPr>
          <a:xfrm>
            <a:off x="3337560" y="1536192"/>
            <a:ext cx="4334255" cy="237744"/>
          </a:xfrm>
          <a:prstGeom prst="rect">
            <a:avLst/>
          </a:prstGeom>
          <a:noFill/>
        </p:spPr>
        <p:txBody>
          <a:bodyPr wrap="square" lIns="0" tIns="4572" rIns="0" bIns="4572" anchor="ctr">
            <a:spAutoFit/>
          </a:bodyPr>
          <a:lstStyle/>
          <a:p>
            <a:pPr algn="l">
              <a:spcBef>
                <a:spcPts val="0"/>
              </a:spcBef>
              <a:spcAft>
                <a:spcPts val="0"/>
              </a:spcAft>
            </a:pPr>
            <a:r>
              <a:rPr sz="1000" b="1">
                <a:solidFill>
                  <a:srgbClr val="009AA6"/>
                </a:solidFill>
                <a:latin typeface="Aptos"/>
              </a:rPr>
              <a:t>ADC CONVERSION &amp; TEMPERATURE ESTIMATE</a:t>
            </a:r>
          </a:p>
        </p:txBody>
      </p:sp>
      <p:sp>
        <p:nvSpPr>
          <p:cNvPr id="28" name="Rectangle 27"/>
          <p:cNvSpPr/>
          <p:nvPr/>
        </p:nvSpPr>
        <p:spPr>
          <a:xfrm>
            <a:off x="3337560" y="1828800"/>
            <a:ext cx="438912" cy="32004"/>
          </a:xfrm>
          <a:prstGeom prst="rect">
            <a:avLst/>
          </a:prstGeom>
          <a:solidFill>
            <a:srgbClr val="009AA6"/>
          </a:solidFill>
          <a:ln w="127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337560" y="2048256"/>
            <a:ext cx="1115568" cy="438912"/>
          </a:xfrm>
          <a:prstGeom prst="roundRect">
            <a:avLst>
              <a:gd name="adj" fmla="val 12000"/>
            </a:avLst>
          </a:prstGeom>
          <a:solidFill>
            <a:srgbClr val="E6F6F4"/>
          </a:solidFill>
          <a:ln w="3810">
            <a:solidFill>
              <a:srgbClr val="E6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364992" y="2075688"/>
            <a:ext cx="1060704" cy="365760"/>
          </a:xfrm>
          <a:prstGeom prst="rect">
            <a:avLst/>
          </a:prstGeom>
          <a:noFill/>
        </p:spPr>
        <p:txBody>
          <a:bodyPr wrap="square" lIns="9144" tIns="4572" rIns="9144" bIns="4572" anchor="ctr">
            <a:spAutoFit/>
          </a:bodyPr>
          <a:lstStyle/>
          <a:p>
            <a:pPr algn="ctr">
              <a:spcBef>
                <a:spcPts val="0"/>
              </a:spcBef>
              <a:spcAft>
                <a:spcPts val="0"/>
              </a:spcAft>
            </a:pPr>
            <a:r>
              <a:rPr sz="910" b="1">
                <a:solidFill>
                  <a:srgbClr val="009AA6"/>
                </a:solidFill>
                <a:latin typeface="Aptos"/>
              </a:rPr>
              <a:t>LM35 VOUT</a:t>
            </a:r>
          </a:p>
        </p:txBody>
      </p:sp>
      <p:sp>
        <p:nvSpPr>
          <p:cNvPr id="31" name="Rounded Rectangle 30"/>
          <p:cNvSpPr/>
          <p:nvPr/>
        </p:nvSpPr>
        <p:spPr>
          <a:xfrm>
            <a:off x="4617720" y="2048256"/>
            <a:ext cx="1115568" cy="438912"/>
          </a:xfrm>
          <a:prstGeom prst="roundRect">
            <a:avLst>
              <a:gd name="adj" fmla="val 12000"/>
            </a:avLst>
          </a:prstGeom>
          <a:solidFill>
            <a:srgbClr val="EAF2FC"/>
          </a:solidFill>
          <a:ln w="381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45152" y="2075688"/>
            <a:ext cx="1060704" cy="365760"/>
          </a:xfrm>
          <a:prstGeom prst="rect">
            <a:avLst/>
          </a:prstGeom>
          <a:noFill/>
        </p:spPr>
        <p:txBody>
          <a:bodyPr wrap="square" lIns="9144" tIns="4572" rIns="9144" bIns="4572" anchor="ctr">
            <a:spAutoFit/>
          </a:bodyPr>
          <a:lstStyle/>
          <a:p>
            <a:pPr algn="ctr">
              <a:spcBef>
                <a:spcPts val="0"/>
              </a:spcBef>
              <a:spcAft>
                <a:spcPts val="0"/>
              </a:spcAft>
            </a:pPr>
            <a:r>
              <a:rPr sz="910" b="1">
                <a:solidFill>
                  <a:srgbClr val="2B73C7"/>
                </a:solidFill>
                <a:latin typeface="Aptos"/>
              </a:rPr>
              <a:t>ADC1 count</a:t>
            </a:r>
          </a:p>
        </p:txBody>
      </p:sp>
      <p:sp>
        <p:nvSpPr>
          <p:cNvPr id="33" name="Rounded Rectangle 32"/>
          <p:cNvSpPr/>
          <p:nvPr/>
        </p:nvSpPr>
        <p:spPr>
          <a:xfrm>
            <a:off x="5897880" y="2048256"/>
            <a:ext cx="1536192" cy="438912"/>
          </a:xfrm>
          <a:prstGeom prst="roundRect">
            <a:avLst>
              <a:gd name="adj" fmla="val 12000"/>
            </a:avLst>
          </a:prstGeom>
          <a:solidFill>
            <a:srgbClr val="F0EDFB"/>
          </a:solidFill>
          <a:ln w="3810">
            <a:solidFill>
              <a:srgbClr val="F0E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25312" y="2075688"/>
            <a:ext cx="1481328" cy="365760"/>
          </a:xfrm>
          <a:prstGeom prst="rect">
            <a:avLst/>
          </a:prstGeom>
          <a:noFill/>
        </p:spPr>
        <p:txBody>
          <a:bodyPr wrap="square" lIns="9144" tIns="4572" rIns="9144" bIns="4572" anchor="ctr">
            <a:spAutoFit/>
          </a:bodyPr>
          <a:lstStyle/>
          <a:p>
            <a:pPr algn="ctr">
              <a:spcBef>
                <a:spcPts val="0"/>
              </a:spcBef>
              <a:spcAft>
                <a:spcPts val="0"/>
              </a:spcAft>
            </a:pPr>
            <a:r>
              <a:rPr sz="910" b="1">
                <a:solidFill>
                  <a:srgbClr val="7860C8"/>
                </a:solidFill>
                <a:latin typeface="Aptos"/>
              </a:rPr>
              <a:t>Temperature °C</a:t>
            </a:r>
          </a:p>
        </p:txBody>
      </p:sp>
      <p:cxnSp>
        <p:nvCxnSpPr>
          <p:cNvPr id="35" name="Connector 34"/>
          <p:cNvCxnSpPr/>
          <p:nvPr/>
        </p:nvCxnSpPr>
        <p:spPr>
          <a:xfrm>
            <a:off x="4471416" y="2267712"/>
            <a:ext cx="118872" cy="0"/>
          </a:xfrm>
          <a:prstGeom prst="line">
            <a:avLst/>
          </a:prstGeom>
          <a:ln w="19050">
            <a:solidFill>
              <a:srgbClr val="009AA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51576" y="2267712"/>
            <a:ext cx="118872" cy="0"/>
          </a:xfrm>
          <a:prstGeom prst="line">
            <a:avLst/>
          </a:prstGeom>
          <a:ln w="19050">
            <a:solidFill>
              <a:srgbClr val="009AA6"/>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337560" y="2688336"/>
            <a:ext cx="4334255" cy="914400"/>
          </a:xfrm>
          <a:prstGeom prst="roundRect">
            <a:avLst>
              <a:gd name="adj" fmla="val 12000"/>
            </a:avLst>
          </a:prstGeom>
          <a:solidFill>
            <a:srgbClr val="E6F6F4"/>
          </a:solidFill>
          <a:ln w="10160">
            <a:solidFill>
              <a:srgbClr val="C5E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520440" y="2779776"/>
            <a:ext cx="3968496" cy="182880"/>
          </a:xfrm>
          <a:prstGeom prst="rect">
            <a:avLst/>
          </a:prstGeom>
          <a:noFill/>
        </p:spPr>
        <p:txBody>
          <a:bodyPr wrap="square" lIns="0" tIns="4572" rIns="0" bIns="4572" anchor="ctr">
            <a:spAutoFit/>
          </a:bodyPr>
          <a:lstStyle/>
          <a:p>
            <a:pPr algn="l">
              <a:spcBef>
                <a:spcPts val="0"/>
              </a:spcBef>
              <a:spcAft>
                <a:spcPts val="0"/>
              </a:spcAft>
            </a:pPr>
            <a:r>
              <a:rPr sz="880" b="1">
                <a:solidFill>
                  <a:srgbClr val="009AA6"/>
                </a:solidFill>
                <a:latin typeface="Aptos"/>
              </a:rPr>
              <a:t>STEP 1  •  ADC COUNT → INPUT VOLTAGE</a:t>
            </a:r>
          </a:p>
        </p:txBody>
      </p:sp>
      <p:sp>
        <p:nvSpPr>
          <p:cNvPr id="39" name="TextBox 38"/>
          <p:cNvSpPr txBox="1"/>
          <p:nvPr/>
        </p:nvSpPr>
        <p:spPr>
          <a:xfrm>
            <a:off x="3520440" y="3065201"/>
            <a:ext cx="3968496" cy="224677"/>
          </a:xfrm>
          <a:prstGeom prst="rect">
            <a:avLst/>
          </a:prstGeom>
          <a:noFill/>
        </p:spPr>
        <p:txBody>
          <a:bodyPr wrap="square" lIns="0" tIns="4572" rIns="0" bIns="4572" anchor="ctr">
            <a:spAutoFit/>
          </a:bodyPr>
          <a:lstStyle/>
          <a:p>
            <a:pPr algn="l">
              <a:spcBef>
                <a:spcPts val="0"/>
              </a:spcBef>
              <a:spcAft>
                <a:spcPts val="0"/>
              </a:spcAft>
            </a:pPr>
            <a:r>
              <a:rPr sz="1400" b="1" dirty="0">
                <a:solidFill>
                  <a:srgbClr val="1A304B"/>
                </a:solidFill>
                <a:latin typeface="Aptos Mono"/>
              </a:rPr>
              <a:t>V_IN = (</a:t>
            </a:r>
            <a:r>
              <a:rPr sz="1400" b="1" dirty="0" err="1">
                <a:solidFill>
                  <a:srgbClr val="1A304B"/>
                </a:solidFill>
                <a:latin typeface="Aptos Mono"/>
              </a:rPr>
              <a:t>ADC_count</a:t>
            </a:r>
            <a:r>
              <a:rPr sz="1400" b="1" dirty="0">
                <a:solidFill>
                  <a:srgbClr val="1A304B"/>
                </a:solidFill>
                <a:latin typeface="Aptos Mono"/>
              </a:rPr>
              <a:t> / 4095) × V_REF</a:t>
            </a:r>
          </a:p>
        </p:txBody>
      </p:sp>
      <p:sp>
        <p:nvSpPr>
          <p:cNvPr id="40" name="TextBox 39"/>
          <p:cNvSpPr txBox="1"/>
          <p:nvPr/>
        </p:nvSpPr>
        <p:spPr>
          <a:xfrm>
            <a:off x="3520440" y="3337560"/>
            <a:ext cx="3968496" cy="164592"/>
          </a:xfrm>
          <a:prstGeom prst="rect">
            <a:avLst/>
          </a:prstGeom>
          <a:noFill/>
        </p:spPr>
        <p:txBody>
          <a:bodyPr wrap="square" lIns="0" tIns="4572" rIns="0" bIns="4572" anchor="ctr">
            <a:spAutoFit/>
          </a:bodyPr>
          <a:lstStyle/>
          <a:p>
            <a:pPr algn="l">
              <a:spcBef>
                <a:spcPts val="0"/>
              </a:spcBef>
              <a:spcAft>
                <a:spcPts val="0"/>
              </a:spcAft>
            </a:pPr>
            <a:r>
              <a:rPr sz="850" b="0">
                <a:solidFill>
                  <a:srgbClr val="60758F"/>
                </a:solidFill>
                <a:latin typeface="Aptos"/>
              </a:rPr>
              <a:t>12-bit ADC: output code ranges from 0 to 4095.</a:t>
            </a:r>
          </a:p>
        </p:txBody>
      </p:sp>
      <p:sp>
        <p:nvSpPr>
          <p:cNvPr id="41" name="Rounded Rectangle 40"/>
          <p:cNvSpPr/>
          <p:nvPr/>
        </p:nvSpPr>
        <p:spPr>
          <a:xfrm>
            <a:off x="3337560" y="3739896"/>
            <a:ext cx="4334255" cy="914400"/>
          </a:xfrm>
          <a:prstGeom prst="roundRect">
            <a:avLst>
              <a:gd name="adj" fmla="val 12000"/>
            </a:avLst>
          </a:prstGeom>
          <a:solidFill>
            <a:srgbClr val="EAF2FC"/>
          </a:solidFill>
          <a:ln w="10160">
            <a:solidFill>
              <a:srgbClr val="D5E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520440" y="3831335"/>
            <a:ext cx="3968496" cy="182880"/>
          </a:xfrm>
          <a:prstGeom prst="rect">
            <a:avLst/>
          </a:prstGeom>
          <a:noFill/>
        </p:spPr>
        <p:txBody>
          <a:bodyPr wrap="square" lIns="0" tIns="4572" rIns="0" bIns="4572" anchor="ctr">
            <a:spAutoFit/>
          </a:bodyPr>
          <a:lstStyle/>
          <a:p>
            <a:pPr algn="l">
              <a:spcBef>
                <a:spcPts val="0"/>
              </a:spcBef>
              <a:spcAft>
                <a:spcPts val="0"/>
              </a:spcAft>
            </a:pPr>
            <a:r>
              <a:rPr sz="880" b="1">
                <a:solidFill>
                  <a:srgbClr val="2B73C7"/>
                </a:solidFill>
                <a:latin typeface="Aptos"/>
              </a:rPr>
              <a:t>STEP 2  •  VOLTAGE → TEMPERATURE</a:t>
            </a:r>
          </a:p>
        </p:txBody>
      </p:sp>
      <p:sp>
        <p:nvSpPr>
          <p:cNvPr id="43" name="TextBox 42"/>
          <p:cNvSpPr txBox="1"/>
          <p:nvPr/>
        </p:nvSpPr>
        <p:spPr>
          <a:xfrm>
            <a:off x="3520440" y="4069080"/>
            <a:ext cx="3968496" cy="320040"/>
          </a:xfrm>
          <a:prstGeom prst="rect">
            <a:avLst/>
          </a:prstGeom>
          <a:noFill/>
        </p:spPr>
        <p:txBody>
          <a:bodyPr wrap="square" lIns="0" tIns="4572" rIns="0" bIns="4572" anchor="ctr">
            <a:spAutoFit/>
          </a:bodyPr>
          <a:lstStyle/>
          <a:p>
            <a:pPr algn="l">
              <a:spcBef>
                <a:spcPts val="0"/>
              </a:spcBef>
              <a:spcAft>
                <a:spcPts val="0"/>
              </a:spcAft>
            </a:pPr>
            <a:r>
              <a:rPr sz="1600" b="1">
                <a:solidFill>
                  <a:srgbClr val="1A304B"/>
                </a:solidFill>
                <a:latin typeface="Aptos Mono"/>
              </a:rPr>
              <a:t>T (°C) ≈ V_IN / 0.010</a:t>
            </a:r>
          </a:p>
        </p:txBody>
      </p:sp>
      <p:sp>
        <p:nvSpPr>
          <p:cNvPr id="44" name="TextBox 43"/>
          <p:cNvSpPr txBox="1"/>
          <p:nvPr/>
        </p:nvSpPr>
        <p:spPr>
          <a:xfrm>
            <a:off x="3520440" y="4389120"/>
            <a:ext cx="3968496" cy="164592"/>
          </a:xfrm>
          <a:prstGeom prst="rect">
            <a:avLst/>
          </a:prstGeom>
          <a:noFill/>
        </p:spPr>
        <p:txBody>
          <a:bodyPr wrap="square" lIns="0" tIns="4572" rIns="0" bIns="4572" anchor="ctr">
            <a:spAutoFit/>
          </a:bodyPr>
          <a:lstStyle/>
          <a:p>
            <a:pPr algn="l">
              <a:spcBef>
                <a:spcPts val="0"/>
              </a:spcBef>
              <a:spcAft>
                <a:spcPts val="0"/>
              </a:spcAft>
            </a:pPr>
            <a:r>
              <a:rPr sz="850" b="0">
                <a:solidFill>
                  <a:srgbClr val="60758F"/>
                </a:solidFill>
                <a:latin typeface="Aptos"/>
              </a:rPr>
              <a:t>LM35 nominal scale factor: 10 mV per °C.</a:t>
            </a:r>
          </a:p>
        </p:txBody>
      </p:sp>
      <p:sp>
        <p:nvSpPr>
          <p:cNvPr id="45" name="Rounded Rectangle 44"/>
          <p:cNvSpPr/>
          <p:nvPr/>
        </p:nvSpPr>
        <p:spPr>
          <a:xfrm>
            <a:off x="3337560" y="4800600"/>
            <a:ext cx="4334255" cy="530352"/>
          </a:xfrm>
          <a:prstGeom prst="roundRect">
            <a:avLst>
              <a:gd name="adj" fmla="val 12000"/>
            </a:avLst>
          </a:prstGeom>
          <a:solidFill>
            <a:srgbClr val="F0EDFB"/>
          </a:solidFill>
          <a:ln w="10160">
            <a:solidFill>
              <a:srgbClr val="DED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483864" y="4846320"/>
            <a:ext cx="4041648" cy="420624"/>
          </a:xfrm>
          <a:prstGeom prst="rect">
            <a:avLst/>
          </a:prstGeom>
          <a:noFill/>
        </p:spPr>
        <p:txBody>
          <a:bodyPr wrap="square" lIns="9144" tIns="4572" rIns="9144" bIns="4572" anchor="ctr">
            <a:spAutoFit/>
          </a:bodyPr>
          <a:lstStyle/>
          <a:p>
            <a:pPr algn="ctr">
              <a:spcBef>
                <a:spcPts val="0"/>
              </a:spcBef>
              <a:spcAft>
                <a:spcPts val="0"/>
              </a:spcAft>
            </a:pPr>
            <a:r>
              <a:rPr sz="919" b="1">
                <a:solidFill>
                  <a:srgbClr val="7860C8"/>
                </a:solidFill>
                <a:latin typeface="Aptos"/>
              </a:rPr>
              <a:t>Then compare T against the configured threshold and set the event state.</a:t>
            </a:r>
          </a:p>
        </p:txBody>
      </p:sp>
      <p:sp>
        <p:nvSpPr>
          <p:cNvPr id="47" name="TextBox 46"/>
          <p:cNvSpPr txBox="1"/>
          <p:nvPr/>
        </p:nvSpPr>
        <p:spPr>
          <a:xfrm>
            <a:off x="3355848" y="5468112"/>
            <a:ext cx="4297679" cy="402336"/>
          </a:xfrm>
          <a:prstGeom prst="rect">
            <a:avLst/>
          </a:prstGeom>
          <a:noFill/>
        </p:spPr>
        <p:txBody>
          <a:bodyPr wrap="square" lIns="9144" tIns="4572" rIns="9144" bIns="4572" anchor="ctr">
            <a:spAutoFit/>
          </a:bodyPr>
          <a:lstStyle/>
          <a:p>
            <a:pPr algn="l">
              <a:spcBef>
                <a:spcPts val="0"/>
              </a:spcBef>
              <a:spcAft>
                <a:spcPts val="0"/>
              </a:spcAft>
            </a:pPr>
            <a:r>
              <a:rPr sz="860" b="0">
                <a:solidFill>
                  <a:srgbClr val="60758F"/>
                </a:solidFill>
                <a:latin typeface="Aptos"/>
              </a:rPr>
              <a:t>Use the actual ADC reference voltage. A nominal 3.3 V is valid only when confirmed for the board.</a:t>
            </a:r>
          </a:p>
        </p:txBody>
      </p:sp>
      <p:sp>
        <p:nvSpPr>
          <p:cNvPr id="48" name="TextBox 47"/>
          <p:cNvSpPr txBox="1"/>
          <p:nvPr/>
        </p:nvSpPr>
        <p:spPr>
          <a:xfrm>
            <a:off x="8238744" y="1536192"/>
            <a:ext cx="3218688" cy="237744"/>
          </a:xfrm>
          <a:prstGeom prst="rect">
            <a:avLst/>
          </a:prstGeom>
          <a:noFill/>
        </p:spPr>
        <p:txBody>
          <a:bodyPr wrap="square" lIns="0" tIns="4572" rIns="0" bIns="4572" anchor="ctr">
            <a:spAutoFit/>
          </a:bodyPr>
          <a:lstStyle/>
          <a:p>
            <a:pPr algn="l">
              <a:spcBef>
                <a:spcPts val="0"/>
              </a:spcBef>
              <a:spcAft>
                <a:spcPts val="0"/>
              </a:spcAft>
            </a:pPr>
            <a:r>
              <a:rPr sz="1000" b="1">
                <a:solidFill>
                  <a:srgbClr val="2B73C7"/>
                </a:solidFill>
                <a:latin typeface="Aptos"/>
              </a:rPr>
              <a:t>STM32F411 ADC SETUP</a:t>
            </a:r>
          </a:p>
        </p:txBody>
      </p:sp>
      <p:sp>
        <p:nvSpPr>
          <p:cNvPr id="49" name="Rectangle 48"/>
          <p:cNvSpPr/>
          <p:nvPr/>
        </p:nvSpPr>
        <p:spPr>
          <a:xfrm>
            <a:off x="8238744" y="1828800"/>
            <a:ext cx="438912" cy="32004"/>
          </a:xfrm>
          <a:prstGeom prst="rect">
            <a:avLst/>
          </a:prstGeom>
          <a:solidFill>
            <a:srgbClr val="2B73C7"/>
          </a:solidFill>
          <a:ln w="1270">
            <a:solidFill>
              <a:srgbClr val="2B7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8202167" y="1956816"/>
            <a:ext cx="3291840" cy="438912"/>
          </a:xfrm>
          <a:prstGeom prst="roundRect">
            <a:avLst>
              <a:gd name="adj" fmla="val 12000"/>
            </a:avLst>
          </a:prstGeom>
          <a:solidFill>
            <a:srgbClr val="F8FAFD"/>
          </a:solidFill>
          <a:ln w="635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93607" y="1988820"/>
            <a:ext cx="1389888" cy="164592"/>
          </a:xfrm>
          <a:prstGeom prst="rect">
            <a:avLst/>
          </a:prstGeom>
          <a:noFill/>
        </p:spPr>
        <p:txBody>
          <a:bodyPr wrap="square" lIns="0" tIns="4572" rIns="0" bIns="4572" anchor="ctr">
            <a:spAutoFit/>
          </a:bodyPr>
          <a:lstStyle/>
          <a:p>
            <a:pPr algn="l">
              <a:spcBef>
                <a:spcPts val="0"/>
              </a:spcBef>
              <a:spcAft>
                <a:spcPts val="0"/>
              </a:spcAft>
            </a:pPr>
            <a:r>
              <a:rPr sz="800" b="1">
                <a:solidFill>
                  <a:srgbClr val="1A304B"/>
                </a:solidFill>
                <a:latin typeface="Aptos"/>
              </a:rPr>
              <a:t>1  RCC_APB2ENR</a:t>
            </a:r>
          </a:p>
        </p:txBody>
      </p:sp>
      <p:sp>
        <p:nvSpPr>
          <p:cNvPr id="52" name="TextBox 51"/>
          <p:cNvSpPr txBox="1"/>
          <p:nvPr/>
        </p:nvSpPr>
        <p:spPr>
          <a:xfrm>
            <a:off x="8293607" y="2139696"/>
            <a:ext cx="3108960" cy="210312"/>
          </a:xfrm>
          <a:prstGeom prst="rect">
            <a:avLst/>
          </a:prstGeom>
          <a:noFill/>
        </p:spPr>
        <p:txBody>
          <a:bodyPr wrap="square" lIns="0" tIns="4572" rIns="0" bIns="4572" anchor="ctr">
            <a:spAutoFit/>
          </a:bodyPr>
          <a:lstStyle/>
          <a:p>
            <a:pPr algn="l">
              <a:spcBef>
                <a:spcPts val="0"/>
              </a:spcBef>
              <a:spcAft>
                <a:spcPts val="0"/>
              </a:spcAft>
            </a:pPr>
            <a:r>
              <a:rPr sz="780" b="0">
                <a:solidFill>
                  <a:srgbClr val="60758F"/>
                </a:solidFill>
                <a:latin typeface="Aptos"/>
              </a:rPr>
              <a:t>Set ADC1EN to enable the ADC1 clock.</a:t>
            </a:r>
          </a:p>
        </p:txBody>
      </p:sp>
      <p:sp>
        <p:nvSpPr>
          <p:cNvPr id="53" name="Rounded Rectangle 52"/>
          <p:cNvSpPr/>
          <p:nvPr/>
        </p:nvSpPr>
        <p:spPr>
          <a:xfrm>
            <a:off x="8202167" y="2491740"/>
            <a:ext cx="3291840" cy="438912"/>
          </a:xfrm>
          <a:prstGeom prst="roundRect">
            <a:avLst>
              <a:gd name="adj" fmla="val 12000"/>
            </a:avLst>
          </a:prstGeom>
          <a:solidFill>
            <a:srgbClr val="F8FAFD"/>
          </a:solidFill>
          <a:ln w="635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293607" y="2523744"/>
            <a:ext cx="1389888" cy="164592"/>
          </a:xfrm>
          <a:prstGeom prst="rect">
            <a:avLst/>
          </a:prstGeom>
          <a:noFill/>
        </p:spPr>
        <p:txBody>
          <a:bodyPr wrap="square" lIns="0" tIns="4572" rIns="0" bIns="4572" anchor="ctr">
            <a:spAutoFit/>
          </a:bodyPr>
          <a:lstStyle/>
          <a:p>
            <a:pPr algn="l">
              <a:spcBef>
                <a:spcPts val="0"/>
              </a:spcBef>
              <a:spcAft>
                <a:spcPts val="0"/>
              </a:spcAft>
            </a:pPr>
            <a:r>
              <a:rPr sz="800" b="1">
                <a:solidFill>
                  <a:srgbClr val="1A304B"/>
                </a:solidFill>
                <a:latin typeface="Aptos"/>
              </a:rPr>
              <a:t>2  GPIOA_MODER</a:t>
            </a:r>
          </a:p>
        </p:txBody>
      </p:sp>
      <p:sp>
        <p:nvSpPr>
          <p:cNvPr id="55" name="TextBox 54"/>
          <p:cNvSpPr txBox="1"/>
          <p:nvPr/>
        </p:nvSpPr>
        <p:spPr>
          <a:xfrm>
            <a:off x="8293607" y="2674620"/>
            <a:ext cx="3108960" cy="210312"/>
          </a:xfrm>
          <a:prstGeom prst="rect">
            <a:avLst/>
          </a:prstGeom>
          <a:noFill/>
        </p:spPr>
        <p:txBody>
          <a:bodyPr wrap="square" lIns="0" tIns="4572" rIns="0" bIns="4572" anchor="ctr">
            <a:spAutoFit/>
          </a:bodyPr>
          <a:lstStyle/>
          <a:p>
            <a:pPr algn="l">
              <a:spcBef>
                <a:spcPts val="0"/>
              </a:spcBef>
              <a:spcAft>
                <a:spcPts val="0"/>
              </a:spcAft>
            </a:pPr>
            <a:r>
              <a:rPr sz="780" b="0">
                <a:solidFill>
                  <a:srgbClr val="60758F"/>
                </a:solidFill>
                <a:latin typeface="Aptos"/>
              </a:rPr>
              <a:t>Set the selected pin to analog mode.</a:t>
            </a:r>
          </a:p>
        </p:txBody>
      </p:sp>
      <p:sp>
        <p:nvSpPr>
          <p:cNvPr id="56" name="Rounded Rectangle 55"/>
          <p:cNvSpPr/>
          <p:nvPr/>
        </p:nvSpPr>
        <p:spPr>
          <a:xfrm>
            <a:off x="8202167" y="3026664"/>
            <a:ext cx="3291840" cy="438912"/>
          </a:xfrm>
          <a:prstGeom prst="roundRect">
            <a:avLst>
              <a:gd name="adj" fmla="val 12000"/>
            </a:avLst>
          </a:prstGeom>
          <a:solidFill>
            <a:srgbClr val="F8FAFD"/>
          </a:solidFill>
          <a:ln w="635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293607" y="3058668"/>
            <a:ext cx="1389888" cy="164592"/>
          </a:xfrm>
          <a:prstGeom prst="rect">
            <a:avLst/>
          </a:prstGeom>
          <a:noFill/>
        </p:spPr>
        <p:txBody>
          <a:bodyPr wrap="square" lIns="0" tIns="4572" rIns="0" bIns="4572" anchor="ctr">
            <a:spAutoFit/>
          </a:bodyPr>
          <a:lstStyle/>
          <a:p>
            <a:pPr algn="l">
              <a:spcBef>
                <a:spcPts val="0"/>
              </a:spcBef>
              <a:spcAft>
                <a:spcPts val="0"/>
              </a:spcAft>
            </a:pPr>
            <a:r>
              <a:rPr sz="800" b="1">
                <a:solidFill>
                  <a:srgbClr val="1A304B"/>
                </a:solidFill>
                <a:latin typeface="Aptos"/>
              </a:rPr>
              <a:t>3  ADC_CR1</a:t>
            </a:r>
          </a:p>
        </p:txBody>
      </p:sp>
      <p:sp>
        <p:nvSpPr>
          <p:cNvPr id="58" name="TextBox 57"/>
          <p:cNvSpPr txBox="1"/>
          <p:nvPr/>
        </p:nvSpPr>
        <p:spPr>
          <a:xfrm>
            <a:off x="8293607" y="3209544"/>
            <a:ext cx="3108960" cy="210312"/>
          </a:xfrm>
          <a:prstGeom prst="rect">
            <a:avLst/>
          </a:prstGeom>
          <a:noFill/>
        </p:spPr>
        <p:txBody>
          <a:bodyPr wrap="square" lIns="0" tIns="4572" rIns="0" bIns="4572" anchor="ctr">
            <a:spAutoFit/>
          </a:bodyPr>
          <a:lstStyle/>
          <a:p>
            <a:pPr algn="l">
              <a:spcBef>
                <a:spcPts val="0"/>
              </a:spcBef>
              <a:spcAft>
                <a:spcPts val="0"/>
              </a:spcAft>
            </a:pPr>
            <a:r>
              <a:rPr sz="780" b="0">
                <a:solidFill>
                  <a:srgbClr val="60758F"/>
                </a:solidFill>
                <a:latin typeface="Aptos"/>
              </a:rPr>
              <a:t>RES bits select 12-bit resolution (00).</a:t>
            </a:r>
          </a:p>
        </p:txBody>
      </p:sp>
      <p:sp>
        <p:nvSpPr>
          <p:cNvPr id="59" name="Rounded Rectangle 58"/>
          <p:cNvSpPr/>
          <p:nvPr/>
        </p:nvSpPr>
        <p:spPr>
          <a:xfrm>
            <a:off x="8202167" y="3561588"/>
            <a:ext cx="3291840" cy="438912"/>
          </a:xfrm>
          <a:prstGeom prst="roundRect">
            <a:avLst>
              <a:gd name="adj" fmla="val 12000"/>
            </a:avLst>
          </a:prstGeom>
          <a:solidFill>
            <a:srgbClr val="F8FAFD"/>
          </a:solidFill>
          <a:ln w="635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293607" y="3593592"/>
            <a:ext cx="1389888" cy="164592"/>
          </a:xfrm>
          <a:prstGeom prst="rect">
            <a:avLst/>
          </a:prstGeom>
          <a:noFill/>
        </p:spPr>
        <p:txBody>
          <a:bodyPr wrap="square" lIns="0" tIns="4572" rIns="0" bIns="4572" anchor="ctr">
            <a:spAutoFit/>
          </a:bodyPr>
          <a:lstStyle/>
          <a:p>
            <a:pPr algn="l">
              <a:spcBef>
                <a:spcPts val="0"/>
              </a:spcBef>
              <a:spcAft>
                <a:spcPts val="0"/>
              </a:spcAft>
            </a:pPr>
            <a:r>
              <a:rPr sz="800" b="1">
                <a:solidFill>
                  <a:srgbClr val="1A304B"/>
                </a:solidFill>
                <a:latin typeface="Aptos"/>
              </a:rPr>
              <a:t>4  ADC_SMPR2</a:t>
            </a:r>
          </a:p>
        </p:txBody>
      </p:sp>
      <p:sp>
        <p:nvSpPr>
          <p:cNvPr id="61" name="TextBox 60"/>
          <p:cNvSpPr txBox="1"/>
          <p:nvPr/>
        </p:nvSpPr>
        <p:spPr>
          <a:xfrm>
            <a:off x="8293607" y="3744468"/>
            <a:ext cx="3108960" cy="210312"/>
          </a:xfrm>
          <a:prstGeom prst="rect">
            <a:avLst/>
          </a:prstGeom>
          <a:noFill/>
        </p:spPr>
        <p:txBody>
          <a:bodyPr wrap="square" lIns="0" tIns="4572" rIns="0" bIns="4572" anchor="ctr">
            <a:spAutoFit/>
          </a:bodyPr>
          <a:lstStyle/>
          <a:p>
            <a:pPr algn="l">
              <a:spcBef>
                <a:spcPts val="0"/>
              </a:spcBef>
              <a:spcAft>
                <a:spcPts val="0"/>
              </a:spcAft>
            </a:pPr>
            <a:r>
              <a:rPr sz="780" b="0">
                <a:solidFill>
                  <a:srgbClr val="60758F"/>
                </a:solidFill>
                <a:latin typeface="Aptos"/>
              </a:rPr>
              <a:t>Set the sample time for ADC channel 0.</a:t>
            </a:r>
          </a:p>
        </p:txBody>
      </p:sp>
      <p:sp>
        <p:nvSpPr>
          <p:cNvPr id="62" name="Rounded Rectangle 61"/>
          <p:cNvSpPr/>
          <p:nvPr/>
        </p:nvSpPr>
        <p:spPr>
          <a:xfrm>
            <a:off x="8202167" y="4096512"/>
            <a:ext cx="3291840" cy="438912"/>
          </a:xfrm>
          <a:prstGeom prst="roundRect">
            <a:avLst>
              <a:gd name="adj" fmla="val 12000"/>
            </a:avLst>
          </a:prstGeom>
          <a:solidFill>
            <a:srgbClr val="F8FAFD"/>
          </a:solidFill>
          <a:ln w="635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293607" y="4128516"/>
            <a:ext cx="1389888" cy="164592"/>
          </a:xfrm>
          <a:prstGeom prst="rect">
            <a:avLst/>
          </a:prstGeom>
          <a:noFill/>
        </p:spPr>
        <p:txBody>
          <a:bodyPr wrap="square" lIns="0" tIns="4572" rIns="0" bIns="4572" anchor="ctr">
            <a:spAutoFit/>
          </a:bodyPr>
          <a:lstStyle/>
          <a:p>
            <a:pPr algn="l">
              <a:spcBef>
                <a:spcPts val="0"/>
              </a:spcBef>
              <a:spcAft>
                <a:spcPts val="0"/>
              </a:spcAft>
            </a:pPr>
            <a:r>
              <a:rPr sz="800" b="1">
                <a:solidFill>
                  <a:srgbClr val="1A304B"/>
                </a:solidFill>
                <a:latin typeface="Aptos"/>
              </a:rPr>
              <a:t>5  ADC_SQR3</a:t>
            </a:r>
          </a:p>
        </p:txBody>
      </p:sp>
      <p:sp>
        <p:nvSpPr>
          <p:cNvPr id="64" name="TextBox 63"/>
          <p:cNvSpPr txBox="1"/>
          <p:nvPr/>
        </p:nvSpPr>
        <p:spPr>
          <a:xfrm>
            <a:off x="8293607" y="4279392"/>
            <a:ext cx="3108960" cy="210312"/>
          </a:xfrm>
          <a:prstGeom prst="rect">
            <a:avLst/>
          </a:prstGeom>
          <a:noFill/>
        </p:spPr>
        <p:txBody>
          <a:bodyPr wrap="square" lIns="0" tIns="4572" rIns="0" bIns="4572" anchor="ctr">
            <a:spAutoFit/>
          </a:bodyPr>
          <a:lstStyle/>
          <a:p>
            <a:pPr algn="l">
              <a:spcBef>
                <a:spcPts val="0"/>
              </a:spcBef>
              <a:spcAft>
                <a:spcPts val="0"/>
              </a:spcAft>
            </a:pPr>
            <a:r>
              <a:rPr sz="780" b="0">
                <a:solidFill>
                  <a:srgbClr val="60758F"/>
                </a:solidFill>
                <a:latin typeface="Aptos"/>
              </a:rPr>
              <a:t>Set SQ1 to channel 0 for the first conversion.</a:t>
            </a:r>
          </a:p>
        </p:txBody>
      </p:sp>
      <p:sp>
        <p:nvSpPr>
          <p:cNvPr id="65" name="Rounded Rectangle 64"/>
          <p:cNvSpPr/>
          <p:nvPr/>
        </p:nvSpPr>
        <p:spPr>
          <a:xfrm>
            <a:off x="8202167" y="4631436"/>
            <a:ext cx="3291840" cy="438912"/>
          </a:xfrm>
          <a:prstGeom prst="roundRect">
            <a:avLst>
              <a:gd name="adj" fmla="val 12000"/>
            </a:avLst>
          </a:prstGeom>
          <a:solidFill>
            <a:srgbClr val="F8FAFD"/>
          </a:solidFill>
          <a:ln w="635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93607" y="4663440"/>
            <a:ext cx="1389888" cy="164592"/>
          </a:xfrm>
          <a:prstGeom prst="rect">
            <a:avLst/>
          </a:prstGeom>
          <a:noFill/>
        </p:spPr>
        <p:txBody>
          <a:bodyPr wrap="square" lIns="0" tIns="4572" rIns="0" bIns="4572" anchor="ctr">
            <a:spAutoFit/>
          </a:bodyPr>
          <a:lstStyle/>
          <a:p>
            <a:pPr algn="l">
              <a:spcBef>
                <a:spcPts val="0"/>
              </a:spcBef>
              <a:spcAft>
                <a:spcPts val="0"/>
              </a:spcAft>
            </a:pPr>
            <a:r>
              <a:rPr sz="800" b="1">
                <a:solidFill>
                  <a:srgbClr val="1A304B"/>
                </a:solidFill>
                <a:latin typeface="Aptos"/>
              </a:rPr>
              <a:t>6  ADC_CR2</a:t>
            </a:r>
          </a:p>
        </p:txBody>
      </p:sp>
      <p:sp>
        <p:nvSpPr>
          <p:cNvPr id="67" name="TextBox 66"/>
          <p:cNvSpPr txBox="1"/>
          <p:nvPr/>
        </p:nvSpPr>
        <p:spPr>
          <a:xfrm>
            <a:off x="8293607" y="4814316"/>
            <a:ext cx="3108960" cy="210312"/>
          </a:xfrm>
          <a:prstGeom prst="rect">
            <a:avLst/>
          </a:prstGeom>
          <a:noFill/>
        </p:spPr>
        <p:txBody>
          <a:bodyPr wrap="square" lIns="0" tIns="4572" rIns="0" bIns="4572" anchor="ctr">
            <a:spAutoFit/>
          </a:bodyPr>
          <a:lstStyle/>
          <a:p>
            <a:pPr algn="l">
              <a:spcBef>
                <a:spcPts val="0"/>
              </a:spcBef>
              <a:spcAft>
                <a:spcPts val="0"/>
              </a:spcAft>
            </a:pPr>
            <a:r>
              <a:rPr sz="780" b="0">
                <a:solidFill>
                  <a:srgbClr val="60758F"/>
                </a:solidFill>
                <a:latin typeface="Aptos"/>
              </a:rPr>
              <a:t>Set ADON; use SWSTART for software start.</a:t>
            </a:r>
          </a:p>
        </p:txBody>
      </p:sp>
      <p:sp>
        <p:nvSpPr>
          <p:cNvPr id="68" name="Rounded Rectangle 67"/>
          <p:cNvSpPr/>
          <p:nvPr/>
        </p:nvSpPr>
        <p:spPr>
          <a:xfrm>
            <a:off x="8202167" y="5166360"/>
            <a:ext cx="3291840" cy="438912"/>
          </a:xfrm>
          <a:prstGeom prst="roundRect">
            <a:avLst>
              <a:gd name="adj" fmla="val 12000"/>
            </a:avLst>
          </a:prstGeom>
          <a:solidFill>
            <a:srgbClr val="F8FAFD"/>
          </a:solidFill>
          <a:ln w="635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293607" y="5198364"/>
            <a:ext cx="1389888" cy="164592"/>
          </a:xfrm>
          <a:prstGeom prst="rect">
            <a:avLst/>
          </a:prstGeom>
          <a:noFill/>
        </p:spPr>
        <p:txBody>
          <a:bodyPr wrap="square" lIns="0" tIns="4572" rIns="0" bIns="4572" anchor="ctr">
            <a:spAutoFit/>
          </a:bodyPr>
          <a:lstStyle/>
          <a:p>
            <a:pPr algn="l">
              <a:spcBef>
                <a:spcPts val="0"/>
              </a:spcBef>
              <a:spcAft>
                <a:spcPts val="0"/>
              </a:spcAft>
            </a:pPr>
            <a:r>
              <a:rPr sz="800" b="1">
                <a:solidFill>
                  <a:srgbClr val="1A304B"/>
                </a:solidFill>
                <a:latin typeface="Aptos"/>
              </a:rPr>
              <a:t>7  ADC_SR / ADC_DR</a:t>
            </a:r>
          </a:p>
        </p:txBody>
      </p:sp>
      <p:sp>
        <p:nvSpPr>
          <p:cNvPr id="70" name="TextBox 69"/>
          <p:cNvSpPr txBox="1"/>
          <p:nvPr/>
        </p:nvSpPr>
        <p:spPr>
          <a:xfrm>
            <a:off x="8293607" y="5349240"/>
            <a:ext cx="3108960" cy="210312"/>
          </a:xfrm>
          <a:prstGeom prst="rect">
            <a:avLst/>
          </a:prstGeom>
          <a:noFill/>
        </p:spPr>
        <p:txBody>
          <a:bodyPr wrap="square" lIns="0" tIns="4572" rIns="0" bIns="4572" anchor="ctr">
            <a:spAutoFit/>
          </a:bodyPr>
          <a:lstStyle/>
          <a:p>
            <a:pPr algn="l">
              <a:spcBef>
                <a:spcPts val="0"/>
              </a:spcBef>
              <a:spcAft>
                <a:spcPts val="0"/>
              </a:spcAft>
            </a:pPr>
            <a:r>
              <a:rPr sz="780" b="0">
                <a:solidFill>
                  <a:srgbClr val="60758F"/>
                </a:solidFill>
                <a:latin typeface="Aptos"/>
              </a:rPr>
              <a:t>Wait for EOC, then read the conversion result.</a:t>
            </a:r>
          </a:p>
        </p:txBody>
      </p:sp>
      <p:sp>
        <p:nvSpPr>
          <p:cNvPr id="71" name="Rounded Rectangle 70"/>
          <p:cNvSpPr/>
          <p:nvPr/>
        </p:nvSpPr>
        <p:spPr>
          <a:xfrm>
            <a:off x="8202167" y="5705856"/>
            <a:ext cx="3291840" cy="246888"/>
          </a:xfrm>
          <a:prstGeom prst="roundRect">
            <a:avLst>
              <a:gd name="adj" fmla="val 12000"/>
            </a:avLst>
          </a:prstGeom>
          <a:solidFill>
            <a:srgbClr val="FFF3E0"/>
          </a:solidFill>
          <a:ln w="7620">
            <a:solidFill>
              <a:srgbClr val="F0D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266175" y="5715000"/>
            <a:ext cx="3163824" cy="219456"/>
          </a:xfrm>
          <a:prstGeom prst="rect">
            <a:avLst/>
          </a:prstGeom>
          <a:noFill/>
        </p:spPr>
        <p:txBody>
          <a:bodyPr wrap="square" lIns="4572" tIns="4572" rIns="4572" bIns="4572" anchor="ctr">
            <a:spAutoFit/>
          </a:bodyPr>
          <a:lstStyle/>
          <a:p>
            <a:pPr algn="ctr">
              <a:spcBef>
                <a:spcPts val="0"/>
              </a:spcBef>
              <a:spcAft>
                <a:spcPts val="0"/>
              </a:spcAft>
            </a:pPr>
            <a:r>
              <a:rPr sz="800" b="1">
                <a:solidFill>
                  <a:srgbClr val="B96C0A"/>
                </a:solidFill>
                <a:latin typeface="Aptos"/>
              </a:rPr>
              <a:t>Resolution is not the same as accuracy.</a:t>
            </a:r>
          </a:p>
        </p:txBody>
      </p:sp>
      <p:cxnSp>
        <p:nvCxnSpPr>
          <p:cNvPr id="73" name="Connector 72"/>
          <p:cNvCxnSpPr/>
          <p:nvPr/>
        </p:nvCxnSpPr>
        <p:spPr>
          <a:xfrm>
            <a:off x="530352" y="6291072"/>
            <a:ext cx="11128248" cy="0"/>
          </a:xfrm>
          <a:prstGeom prst="line">
            <a:avLst/>
          </a:prstGeom>
          <a:ln w="10160">
            <a:solidFill>
              <a:srgbClr val="D8E2EC"/>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48640" y="6345936"/>
            <a:ext cx="8046720" cy="182880"/>
          </a:xfrm>
          <a:prstGeom prst="rect">
            <a:avLst/>
          </a:prstGeom>
          <a:noFill/>
        </p:spPr>
        <p:txBody>
          <a:bodyPr wrap="square" lIns="0" tIns="4572" rIns="0" bIns="4572" anchor="ctr">
            <a:spAutoFit/>
          </a:bodyPr>
          <a:lstStyle/>
          <a:p>
            <a:pPr algn="l">
              <a:spcBef>
                <a:spcPts val="0"/>
              </a:spcBef>
              <a:spcAft>
                <a:spcPts val="0"/>
              </a:spcAft>
            </a:pPr>
            <a:r>
              <a:rPr sz="750" b="0">
                <a:solidFill>
                  <a:srgbClr val="60758F"/>
                </a:solidFill>
                <a:latin typeface="Aptos"/>
              </a:rPr>
              <a:t>STM32F411CEU6  ·  VEHICLE EVENT LOGGING AND RESPONSE SYSTEM</a:t>
            </a:r>
          </a:p>
        </p:txBody>
      </p:sp>
      <p:sp>
        <p:nvSpPr>
          <p:cNvPr id="75" name="TextBox 74"/>
          <p:cNvSpPr txBox="1"/>
          <p:nvPr/>
        </p:nvSpPr>
        <p:spPr>
          <a:xfrm>
            <a:off x="10469880" y="6345936"/>
            <a:ext cx="1143000" cy="182880"/>
          </a:xfrm>
          <a:prstGeom prst="rect">
            <a:avLst/>
          </a:prstGeom>
          <a:noFill/>
        </p:spPr>
        <p:txBody>
          <a:bodyPr wrap="square" lIns="0" tIns="4572" rIns="0" bIns="4572" anchor="ctr">
            <a:spAutoFit/>
          </a:bodyPr>
          <a:lstStyle/>
          <a:p>
            <a:pPr algn="r">
              <a:spcBef>
                <a:spcPts val="0"/>
              </a:spcBef>
              <a:spcAft>
                <a:spcPts val="0"/>
              </a:spcAft>
            </a:pPr>
            <a:r>
              <a:rPr sz="750" b="1">
                <a:solidFill>
                  <a:srgbClr val="60758F"/>
                </a:solidFill>
                <a:latin typeface="Aptos"/>
              </a:rPr>
              <a:t>06 / 09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009AA6"/>
          </a:solidFill>
          <a:ln w="127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173736"/>
            <a:ext cx="5303520" cy="219456"/>
          </a:xfrm>
          <a:prstGeom prst="rect">
            <a:avLst/>
          </a:prstGeom>
          <a:noFill/>
        </p:spPr>
        <p:txBody>
          <a:bodyPr wrap="square" lIns="0" tIns="4572" rIns="0" bIns="4572" anchor="ctr">
            <a:spAutoFit/>
          </a:bodyPr>
          <a:lstStyle/>
          <a:p>
            <a:pPr algn="l">
              <a:spcBef>
                <a:spcPts val="0"/>
              </a:spcBef>
              <a:spcAft>
                <a:spcPts val="0"/>
              </a:spcAft>
            </a:pPr>
            <a:r>
              <a:rPr sz="919" b="1">
                <a:solidFill>
                  <a:srgbClr val="009AA6"/>
                </a:solidFill>
                <a:latin typeface="Aptos"/>
              </a:rPr>
              <a:t>06  /  SENSOR 3</a:t>
            </a:r>
          </a:p>
        </p:txBody>
      </p:sp>
      <p:sp>
        <p:nvSpPr>
          <p:cNvPr id="4" name="TextBox 3"/>
          <p:cNvSpPr txBox="1"/>
          <p:nvPr/>
        </p:nvSpPr>
        <p:spPr>
          <a:xfrm>
            <a:off x="11018520" y="173736"/>
            <a:ext cx="594360" cy="219456"/>
          </a:xfrm>
          <a:prstGeom prst="rect">
            <a:avLst/>
          </a:prstGeom>
          <a:noFill/>
        </p:spPr>
        <p:txBody>
          <a:bodyPr wrap="square" lIns="0" tIns="4572" rIns="0" bIns="4572" anchor="ctr">
            <a:spAutoFit/>
          </a:bodyPr>
          <a:lstStyle/>
          <a:p>
            <a:pPr algn="r">
              <a:spcBef>
                <a:spcPts val="0"/>
              </a:spcBef>
              <a:spcAft>
                <a:spcPts val="0"/>
              </a:spcAft>
            </a:pPr>
            <a:r>
              <a:rPr sz="919" b="1">
                <a:solidFill>
                  <a:srgbClr val="60758F"/>
                </a:solidFill>
                <a:latin typeface="Aptos"/>
              </a:rPr>
              <a:t>07</a:t>
            </a:r>
          </a:p>
        </p:txBody>
      </p:sp>
      <p:sp>
        <p:nvSpPr>
          <p:cNvPr id="5" name="TextBox 4"/>
          <p:cNvSpPr txBox="1"/>
          <p:nvPr/>
        </p:nvSpPr>
        <p:spPr>
          <a:xfrm>
            <a:off x="530352" y="457200"/>
            <a:ext cx="10972800" cy="457200"/>
          </a:xfrm>
          <a:prstGeom prst="rect">
            <a:avLst/>
          </a:prstGeom>
          <a:noFill/>
        </p:spPr>
        <p:txBody>
          <a:bodyPr wrap="square" lIns="0" tIns="4572" rIns="0" bIns="4572" anchor="ctr">
            <a:spAutoFit/>
          </a:bodyPr>
          <a:lstStyle/>
          <a:p>
            <a:pPr algn="l">
              <a:spcBef>
                <a:spcPts val="0"/>
              </a:spcBef>
              <a:spcAft>
                <a:spcPts val="0"/>
              </a:spcAft>
            </a:pPr>
            <a:r>
              <a:rPr sz="2450" b="1">
                <a:solidFill>
                  <a:srgbClr val="1A304B"/>
                </a:solidFill>
                <a:latin typeface="Aptos"/>
              </a:rPr>
              <a:t>Ultrasonic ranging: HC-SR04 + STM32 timer capture</a:t>
            </a:r>
          </a:p>
        </p:txBody>
      </p:sp>
      <p:sp>
        <p:nvSpPr>
          <p:cNvPr id="6" name="TextBox 5"/>
          <p:cNvSpPr txBox="1"/>
          <p:nvPr/>
        </p:nvSpPr>
        <p:spPr>
          <a:xfrm>
            <a:off x="548640" y="950976"/>
            <a:ext cx="11064240" cy="246888"/>
          </a:xfrm>
          <a:prstGeom prst="rect">
            <a:avLst/>
          </a:prstGeom>
          <a:noFill/>
        </p:spPr>
        <p:txBody>
          <a:bodyPr wrap="square" lIns="0" tIns="4572" rIns="0" bIns="4572" anchor="ctr">
            <a:spAutoFit/>
          </a:bodyPr>
          <a:lstStyle/>
          <a:p>
            <a:pPr algn="l">
              <a:spcBef>
                <a:spcPts val="0"/>
              </a:spcBef>
              <a:spcAft>
                <a:spcPts val="0"/>
              </a:spcAft>
            </a:pPr>
            <a:r>
              <a:rPr sz="1080" b="0">
                <a:solidFill>
                  <a:srgbClr val="60758F"/>
                </a:solidFill>
                <a:latin typeface="Aptos"/>
              </a:rPr>
              <a:t>The HC-SR04 reports obstacle distance as an Echo pulse; the STM32 measures its high-time and converts it to range.</a:t>
            </a:r>
          </a:p>
        </p:txBody>
      </p:sp>
      <p:sp>
        <p:nvSpPr>
          <p:cNvPr id="7" name="Rounded Rectangle 6"/>
          <p:cNvSpPr/>
          <p:nvPr/>
        </p:nvSpPr>
        <p:spPr>
          <a:xfrm>
            <a:off x="530352" y="1389888"/>
            <a:ext cx="2423160" cy="4718304"/>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136392" y="1389888"/>
            <a:ext cx="4736592" cy="4718304"/>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37575" y="1389888"/>
            <a:ext cx="3621024" cy="4718304"/>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536192"/>
            <a:ext cx="2057400" cy="237744"/>
          </a:xfrm>
          <a:prstGeom prst="rect">
            <a:avLst/>
          </a:prstGeom>
          <a:noFill/>
        </p:spPr>
        <p:txBody>
          <a:bodyPr wrap="square" lIns="0" tIns="4572" rIns="0" bIns="4572" anchor="ctr">
            <a:spAutoFit/>
          </a:bodyPr>
          <a:lstStyle/>
          <a:p>
            <a:pPr algn="l">
              <a:spcBef>
                <a:spcPts val="0"/>
              </a:spcBef>
              <a:spcAft>
                <a:spcPts val="0"/>
              </a:spcAft>
            </a:pPr>
            <a:r>
              <a:rPr sz="1000" b="1">
                <a:solidFill>
                  <a:srgbClr val="009AA6"/>
                </a:solidFill>
                <a:latin typeface="Aptos"/>
              </a:rPr>
              <a:t>SENSOR &amp; SIGNAL</a:t>
            </a:r>
          </a:p>
        </p:txBody>
      </p:sp>
      <p:sp>
        <p:nvSpPr>
          <p:cNvPr id="11" name="Rectangle 10"/>
          <p:cNvSpPr/>
          <p:nvPr/>
        </p:nvSpPr>
        <p:spPr>
          <a:xfrm>
            <a:off x="713232" y="1828800"/>
            <a:ext cx="438912" cy="32004"/>
          </a:xfrm>
          <a:prstGeom prst="rect">
            <a:avLst/>
          </a:prstGeom>
          <a:solidFill>
            <a:srgbClr val="009AA6"/>
          </a:solidFill>
          <a:ln w="127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77824" y="2075688"/>
            <a:ext cx="1728216" cy="841248"/>
          </a:xfrm>
          <a:prstGeom prst="roundRect">
            <a:avLst>
              <a:gd name="adj" fmla="val 12000"/>
            </a:avLst>
          </a:prstGeom>
          <a:solidFill>
            <a:srgbClr val="2878A7"/>
          </a:solidFill>
          <a:ln w="12700">
            <a:solidFill>
              <a:srgbClr val="226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170431" y="2203704"/>
            <a:ext cx="521207" cy="521207"/>
          </a:xfrm>
          <a:prstGeom prst="ellipse">
            <a:avLst/>
          </a:prstGeom>
          <a:solidFill>
            <a:srgbClr val="D7E0E8"/>
          </a:solidFill>
          <a:ln w="15240">
            <a:solidFill>
              <a:srgbClr val="AAB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234439" y="2267712"/>
            <a:ext cx="393192" cy="393192"/>
          </a:xfrm>
          <a:prstGeom prst="ellipse">
            <a:avLst/>
          </a:prstGeom>
          <a:solidFill>
            <a:srgbClr val="F8FAFD"/>
          </a:solidFill>
          <a:ln w="10160">
            <a:solidFill>
              <a:srgbClr val="B6C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993392" y="2203704"/>
            <a:ext cx="521207" cy="521207"/>
          </a:xfrm>
          <a:prstGeom prst="ellipse">
            <a:avLst/>
          </a:prstGeom>
          <a:solidFill>
            <a:srgbClr val="D7E0E8"/>
          </a:solidFill>
          <a:ln w="15240">
            <a:solidFill>
              <a:srgbClr val="AAB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057400" y="2267712"/>
            <a:ext cx="393192" cy="393192"/>
          </a:xfrm>
          <a:prstGeom prst="ellipse">
            <a:avLst/>
          </a:prstGeom>
          <a:solidFill>
            <a:srgbClr val="F8FAFD"/>
          </a:solidFill>
          <a:ln w="10160">
            <a:solidFill>
              <a:srgbClr val="B6C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9264" y="2752344"/>
            <a:ext cx="1554480" cy="164592"/>
          </a:xfrm>
          <a:prstGeom prst="rect">
            <a:avLst/>
          </a:prstGeom>
          <a:noFill/>
        </p:spPr>
        <p:txBody>
          <a:bodyPr wrap="square" lIns="0" tIns="4572" rIns="0" bIns="4572" anchor="ctr">
            <a:spAutoFit/>
          </a:bodyPr>
          <a:lstStyle/>
          <a:p>
            <a:pPr algn="ctr">
              <a:spcBef>
                <a:spcPts val="0"/>
              </a:spcBef>
              <a:spcAft>
                <a:spcPts val="0"/>
              </a:spcAft>
            </a:pPr>
            <a:r>
              <a:rPr sz="880" b="1">
                <a:solidFill>
                  <a:srgbClr val="FFFFFF"/>
                </a:solidFill>
                <a:latin typeface="Aptos"/>
              </a:rPr>
              <a:t>HC-SR04</a:t>
            </a:r>
          </a:p>
        </p:txBody>
      </p:sp>
      <p:sp>
        <p:nvSpPr>
          <p:cNvPr id="18" name="TextBox 17"/>
          <p:cNvSpPr txBox="1"/>
          <p:nvPr/>
        </p:nvSpPr>
        <p:spPr>
          <a:xfrm>
            <a:off x="694944" y="3026664"/>
            <a:ext cx="2093976" cy="283464"/>
          </a:xfrm>
          <a:prstGeom prst="rect">
            <a:avLst/>
          </a:prstGeom>
          <a:noFill/>
        </p:spPr>
        <p:txBody>
          <a:bodyPr wrap="square" lIns="0" tIns="4572" rIns="0" bIns="4572" anchor="ctr">
            <a:spAutoFit/>
          </a:bodyPr>
          <a:lstStyle/>
          <a:p>
            <a:pPr algn="ctr">
              <a:spcBef>
                <a:spcPts val="0"/>
              </a:spcBef>
              <a:spcAft>
                <a:spcPts val="0"/>
              </a:spcAft>
            </a:pPr>
            <a:r>
              <a:rPr sz="1010" b="1">
                <a:solidFill>
                  <a:srgbClr val="1A304B"/>
                </a:solidFill>
                <a:latin typeface="Aptos"/>
              </a:rPr>
              <a:t>Non-contact obstacle ranging</a:t>
            </a:r>
          </a:p>
        </p:txBody>
      </p:sp>
      <p:sp>
        <p:nvSpPr>
          <p:cNvPr id="19" name="TextBox 18"/>
          <p:cNvSpPr txBox="1"/>
          <p:nvPr/>
        </p:nvSpPr>
        <p:spPr>
          <a:xfrm>
            <a:off x="713232" y="3419856"/>
            <a:ext cx="2057400" cy="201168"/>
          </a:xfrm>
          <a:prstGeom prst="rect">
            <a:avLst/>
          </a:prstGeom>
          <a:noFill/>
        </p:spPr>
        <p:txBody>
          <a:bodyPr wrap="square" lIns="0" tIns="4572" rIns="0" bIns="4572" anchor="ctr">
            <a:spAutoFit/>
          </a:bodyPr>
          <a:lstStyle/>
          <a:p>
            <a:pPr algn="ctr">
              <a:spcBef>
                <a:spcPts val="0"/>
              </a:spcBef>
              <a:spcAft>
                <a:spcPts val="0"/>
              </a:spcAft>
            </a:pPr>
            <a:r>
              <a:rPr sz="830" b="1">
                <a:solidFill>
                  <a:srgbClr val="009AA6"/>
                </a:solidFill>
                <a:latin typeface="Aptos"/>
              </a:rPr>
              <a:t>TRIGGER → ULTRASOUND → ECHO</a:t>
            </a:r>
          </a:p>
        </p:txBody>
      </p:sp>
      <p:cxnSp>
        <p:nvCxnSpPr>
          <p:cNvPr id="20" name="Connector 19"/>
          <p:cNvCxnSpPr/>
          <p:nvPr/>
        </p:nvCxnSpPr>
        <p:spPr>
          <a:xfrm>
            <a:off x="804671" y="3913631"/>
            <a:ext cx="1874521" cy="0"/>
          </a:xfrm>
          <a:prstGeom prst="line">
            <a:avLst/>
          </a:prstGeom>
          <a:ln w="12700">
            <a:solidFill>
              <a:srgbClr val="C8D3D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04671" y="4498848"/>
            <a:ext cx="1874521" cy="0"/>
          </a:xfrm>
          <a:prstGeom prst="line">
            <a:avLst/>
          </a:prstGeom>
          <a:ln w="12700">
            <a:solidFill>
              <a:srgbClr val="C8D3D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060704" y="3657600"/>
            <a:ext cx="0" cy="256031"/>
          </a:xfrm>
          <a:prstGeom prst="line">
            <a:avLst/>
          </a:prstGeom>
          <a:ln w="25400">
            <a:solidFill>
              <a:srgbClr val="009AA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060704" y="3657600"/>
            <a:ext cx="329184" cy="0"/>
          </a:xfrm>
          <a:prstGeom prst="line">
            <a:avLst/>
          </a:prstGeom>
          <a:ln w="25400">
            <a:solidFill>
              <a:srgbClr val="009AA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89888" y="3657600"/>
            <a:ext cx="0" cy="256031"/>
          </a:xfrm>
          <a:prstGeom prst="line">
            <a:avLst/>
          </a:prstGeom>
          <a:ln w="25400">
            <a:solidFill>
              <a:srgbClr val="009AA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060704" y="4206240"/>
            <a:ext cx="0" cy="292608"/>
          </a:xfrm>
          <a:prstGeom prst="line">
            <a:avLst/>
          </a:prstGeom>
          <a:ln w="25400">
            <a:solidFill>
              <a:srgbClr val="B96C0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60704" y="4206240"/>
            <a:ext cx="1225296" cy="0"/>
          </a:xfrm>
          <a:prstGeom prst="line">
            <a:avLst/>
          </a:prstGeom>
          <a:ln w="25400">
            <a:solidFill>
              <a:srgbClr val="B96C0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86000" y="4206240"/>
            <a:ext cx="0" cy="292608"/>
          </a:xfrm>
          <a:prstGeom prst="line">
            <a:avLst/>
          </a:prstGeom>
          <a:ln w="25400">
            <a:solidFill>
              <a:srgbClr val="B96C0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58952" y="4645152"/>
            <a:ext cx="1965960" cy="228600"/>
          </a:xfrm>
          <a:prstGeom prst="rect">
            <a:avLst/>
          </a:prstGeom>
          <a:noFill/>
        </p:spPr>
        <p:txBody>
          <a:bodyPr wrap="square" lIns="0" tIns="4572" rIns="0" bIns="4572" anchor="ctr">
            <a:spAutoFit/>
          </a:bodyPr>
          <a:lstStyle/>
          <a:p>
            <a:pPr algn="ctr">
              <a:spcBef>
                <a:spcPts val="0"/>
              </a:spcBef>
              <a:spcAft>
                <a:spcPts val="0"/>
              </a:spcAft>
            </a:pPr>
            <a:r>
              <a:rPr sz="869" b="1">
                <a:solidFill>
                  <a:srgbClr val="B96C0A"/>
                </a:solidFill>
                <a:latin typeface="Aptos"/>
              </a:rPr>
              <a:t>Echo high-time = t</a:t>
            </a:r>
          </a:p>
        </p:txBody>
      </p:sp>
      <p:sp>
        <p:nvSpPr>
          <p:cNvPr id="29" name="Rounded Rectangle 28"/>
          <p:cNvSpPr/>
          <p:nvPr/>
        </p:nvSpPr>
        <p:spPr>
          <a:xfrm>
            <a:off x="713232" y="5074920"/>
            <a:ext cx="2057400" cy="658368"/>
          </a:xfrm>
          <a:prstGeom prst="roundRect">
            <a:avLst>
              <a:gd name="adj" fmla="val 12000"/>
            </a:avLst>
          </a:prstGeom>
          <a:solidFill>
            <a:srgbClr val="EAF2FC"/>
          </a:solidFill>
          <a:ln w="10160">
            <a:solidFill>
              <a:srgbClr val="D6E4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59" y="5138927"/>
            <a:ext cx="1837943" cy="530352"/>
          </a:xfrm>
          <a:prstGeom prst="rect">
            <a:avLst/>
          </a:prstGeom>
          <a:noFill/>
        </p:spPr>
        <p:txBody>
          <a:bodyPr wrap="square" lIns="9144" tIns="4572" rIns="9144" bIns="4572" anchor="ctr">
            <a:spAutoFit/>
          </a:bodyPr>
          <a:lstStyle/>
          <a:p>
            <a:pPr algn="ctr">
              <a:spcBef>
                <a:spcPts val="0"/>
              </a:spcBef>
              <a:spcAft>
                <a:spcPts val="0"/>
              </a:spcAft>
            </a:pPr>
            <a:r>
              <a:rPr sz="840" b="1">
                <a:solidFill>
                  <a:srgbClr val="2B73C7"/>
                </a:solidFill>
                <a:latin typeface="Aptos"/>
              </a:rPr>
              <a:t>Use a timeout if Echo never arrives; wait before the next measurement.</a:t>
            </a:r>
          </a:p>
        </p:txBody>
      </p:sp>
      <p:sp>
        <p:nvSpPr>
          <p:cNvPr id="31" name="TextBox 30"/>
          <p:cNvSpPr txBox="1"/>
          <p:nvPr/>
        </p:nvSpPr>
        <p:spPr>
          <a:xfrm>
            <a:off x="3337560" y="1536192"/>
            <a:ext cx="4334255" cy="237744"/>
          </a:xfrm>
          <a:prstGeom prst="rect">
            <a:avLst/>
          </a:prstGeom>
          <a:noFill/>
        </p:spPr>
        <p:txBody>
          <a:bodyPr wrap="square" lIns="0" tIns="4572" rIns="0" bIns="4572" anchor="ctr">
            <a:spAutoFit/>
          </a:bodyPr>
          <a:lstStyle/>
          <a:p>
            <a:pPr algn="l">
              <a:spcBef>
                <a:spcPts val="0"/>
              </a:spcBef>
              <a:spcAft>
                <a:spcPts val="0"/>
              </a:spcAft>
            </a:pPr>
            <a:r>
              <a:rPr sz="1000" b="1">
                <a:solidFill>
                  <a:srgbClr val="009AA6"/>
                </a:solidFill>
                <a:latin typeface="Aptos"/>
              </a:rPr>
              <a:t>MEASUREMENT &amp; DISTANCE CALCULATION</a:t>
            </a:r>
          </a:p>
        </p:txBody>
      </p:sp>
      <p:sp>
        <p:nvSpPr>
          <p:cNvPr id="32" name="Rectangle 31"/>
          <p:cNvSpPr/>
          <p:nvPr/>
        </p:nvSpPr>
        <p:spPr>
          <a:xfrm>
            <a:off x="3337560" y="1828800"/>
            <a:ext cx="438912" cy="32004"/>
          </a:xfrm>
          <a:prstGeom prst="rect">
            <a:avLst/>
          </a:prstGeom>
          <a:solidFill>
            <a:srgbClr val="009AA6"/>
          </a:solidFill>
          <a:ln w="127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337560" y="2029967"/>
            <a:ext cx="969264" cy="402336"/>
          </a:xfrm>
          <a:prstGeom prst="roundRect">
            <a:avLst>
              <a:gd name="adj" fmla="val 12000"/>
            </a:avLst>
          </a:prstGeom>
          <a:solidFill>
            <a:srgbClr val="E6F6F4"/>
          </a:solidFill>
          <a:ln w="3810">
            <a:solidFill>
              <a:srgbClr val="E6F6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355848" y="2048256"/>
            <a:ext cx="932688" cy="365760"/>
          </a:xfrm>
          <a:prstGeom prst="rect">
            <a:avLst/>
          </a:prstGeom>
          <a:noFill/>
        </p:spPr>
        <p:txBody>
          <a:bodyPr wrap="square" lIns="4572" tIns="4572" rIns="4572" bIns="4572" anchor="ctr">
            <a:spAutoFit/>
          </a:bodyPr>
          <a:lstStyle/>
          <a:p>
            <a:pPr algn="ctr">
              <a:spcBef>
                <a:spcPts val="0"/>
              </a:spcBef>
              <a:spcAft>
                <a:spcPts val="0"/>
              </a:spcAft>
            </a:pPr>
            <a:r>
              <a:rPr sz="819" b="1">
                <a:solidFill>
                  <a:srgbClr val="009AA6"/>
                </a:solidFill>
                <a:latin typeface="Aptos"/>
              </a:rPr>
              <a:t>TRIGGER</a:t>
            </a:r>
          </a:p>
        </p:txBody>
      </p:sp>
      <p:sp>
        <p:nvSpPr>
          <p:cNvPr id="35" name="Rounded Rectangle 34"/>
          <p:cNvSpPr/>
          <p:nvPr/>
        </p:nvSpPr>
        <p:spPr>
          <a:xfrm>
            <a:off x="4462272" y="2029967"/>
            <a:ext cx="969264" cy="402336"/>
          </a:xfrm>
          <a:prstGeom prst="roundRect">
            <a:avLst>
              <a:gd name="adj" fmla="val 12000"/>
            </a:avLst>
          </a:prstGeom>
          <a:solidFill>
            <a:srgbClr val="EAF2FC"/>
          </a:solidFill>
          <a:ln w="381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80559" y="2048256"/>
            <a:ext cx="932688" cy="365760"/>
          </a:xfrm>
          <a:prstGeom prst="rect">
            <a:avLst/>
          </a:prstGeom>
          <a:noFill/>
        </p:spPr>
        <p:txBody>
          <a:bodyPr wrap="square" lIns="4572" tIns="4572" rIns="4572" bIns="4572" anchor="ctr">
            <a:spAutoFit/>
          </a:bodyPr>
          <a:lstStyle/>
          <a:p>
            <a:pPr algn="ctr">
              <a:spcBef>
                <a:spcPts val="0"/>
              </a:spcBef>
              <a:spcAft>
                <a:spcPts val="0"/>
              </a:spcAft>
            </a:pPr>
            <a:r>
              <a:rPr sz="819" b="1">
                <a:solidFill>
                  <a:srgbClr val="2B73C7"/>
                </a:solidFill>
                <a:latin typeface="Aptos"/>
              </a:rPr>
              <a:t>WAIT ECHO</a:t>
            </a:r>
          </a:p>
        </p:txBody>
      </p:sp>
      <p:sp>
        <p:nvSpPr>
          <p:cNvPr id="37" name="Rounded Rectangle 36"/>
          <p:cNvSpPr/>
          <p:nvPr/>
        </p:nvSpPr>
        <p:spPr>
          <a:xfrm>
            <a:off x="5586984" y="2029967"/>
            <a:ext cx="969264" cy="402336"/>
          </a:xfrm>
          <a:prstGeom prst="roundRect">
            <a:avLst>
              <a:gd name="adj" fmla="val 12000"/>
            </a:avLst>
          </a:prstGeom>
          <a:solidFill>
            <a:srgbClr val="F0EDFB"/>
          </a:solidFill>
          <a:ln w="3810">
            <a:solidFill>
              <a:srgbClr val="F0ED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605272" y="2048256"/>
            <a:ext cx="932688" cy="365760"/>
          </a:xfrm>
          <a:prstGeom prst="rect">
            <a:avLst/>
          </a:prstGeom>
          <a:noFill/>
        </p:spPr>
        <p:txBody>
          <a:bodyPr wrap="square" lIns="4572" tIns="4572" rIns="4572" bIns="4572" anchor="ctr">
            <a:spAutoFit/>
          </a:bodyPr>
          <a:lstStyle/>
          <a:p>
            <a:pPr algn="ctr">
              <a:spcBef>
                <a:spcPts val="0"/>
              </a:spcBef>
              <a:spcAft>
                <a:spcPts val="0"/>
              </a:spcAft>
            </a:pPr>
            <a:r>
              <a:rPr sz="819" b="1">
                <a:solidFill>
                  <a:srgbClr val="7860C8"/>
                </a:solidFill>
                <a:latin typeface="Aptos"/>
              </a:rPr>
              <a:t>TIME HIGH</a:t>
            </a:r>
          </a:p>
        </p:txBody>
      </p:sp>
      <p:sp>
        <p:nvSpPr>
          <p:cNvPr id="39" name="Rounded Rectangle 38"/>
          <p:cNvSpPr/>
          <p:nvPr/>
        </p:nvSpPr>
        <p:spPr>
          <a:xfrm>
            <a:off x="6711696" y="2029967"/>
            <a:ext cx="731520" cy="402336"/>
          </a:xfrm>
          <a:prstGeom prst="roundRect">
            <a:avLst>
              <a:gd name="adj" fmla="val 12000"/>
            </a:avLst>
          </a:prstGeom>
          <a:solidFill>
            <a:srgbClr val="FFF3E0"/>
          </a:solidFill>
          <a:ln w="3810">
            <a:solidFill>
              <a:srgbClr val="FFF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29983" y="2048256"/>
            <a:ext cx="694944" cy="365760"/>
          </a:xfrm>
          <a:prstGeom prst="rect">
            <a:avLst/>
          </a:prstGeom>
          <a:noFill/>
        </p:spPr>
        <p:txBody>
          <a:bodyPr wrap="square" lIns="4572" tIns="4572" rIns="4572" bIns="4572" anchor="ctr">
            <a:spAutoFit/>
          </a:bodyPr>
          <a:lstStyle/>
          <a:p>
            <a:pPr algn="ctr">
              <a:spcBef>
                <a:spcPts val="0"/>
              </a:spcBef>
              <a:spcAft>
                <a:spcPts val="0"/>
              </a:spcAft>
            </a:pPr>
            <a:r>
              <a:rPr sz="819" b="1">
                <a:solidFill>
                  <a:srgbClr val="B96C0A"/>
                </a:solidFill>
                <a:latin typeface="Aptos"/>
              </a:rPr>
              <a:t>RANGE</a:t>
            </a:r>
          </a:p>
        </p:txBody>
      </p:sp>
      <p:cxnSp>
        <p:nvCxnSpPr>
          <p:cNvPr id="41" name="Connector 40"/>
          <p:cNvCxnSpPr/>
          <p:nvPr/>
        </p:nvCxnSpPr>
        <p:spPr>
          <a:xfrm>
            <a:off x="4334256" y="2231136"/>
            <a:ext cx="100584" cy="0"/>
          </a:xfrm>
          <a:prstGeom prst="line">
            <a:avLst/>
          </a:prstGeom>
          <a:ln w="17780">
            <a:solidFill>
              <a:srgbClr val="009AA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458968" y="2231136"/>
            <a:ext cx="100584" cy="0"/>
          </a:xfrm>
          <a:prstGeom prst="line">
            <a:avLst/>
          </a:prstGeom>
          <a:ln w="17780">
            <a:solidFill>
              <a:srgbClr val="009AA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583680" y="2231136"/>
            <a:ext cx="100584" cy="0"/>
          </a:xfrm>
          <a:prstGeom prst="line">
            <a:avLst/>
          </a:prstGeom>
          <a:ln w="17780">
            <a:solidFill>
              <a:srgbClr val="009AA6"/>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3337560" y="2651760"/>
            <a:ext cx="4334255" cy="1033271"/>
          </a:xfrm>
          <a:prstGeom prst="roundRect">
            <a:avLst>
              <a:gd name="adj" fmla="val 12000"/>
            </a:avLst>
          </a:prstGeom>
          <a:solidFill>
            <a:srgbClr val="E6F6F4"/>
          </a:solidFill>
          <a:ln w="10160">
            <a:solidFill>
              <a:srgbClr val="C5E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520440" y="2743200"/>
            <a:ext cx="3968496" cy="192024"/>
          </a:xfrm>
          <a:prstGeom prst="rect">
            <a:avLst/>
          </a:prstGeom>
          <a:noFill/>
        </p:spPr>
        <p:txBody>
          <a:bodyPr wrap="square" lIns="0" tIns="4572" rIns="0" bIns="4572" anchor="ctr">
            <a:spAutoFit/>
          </a:bodyPr>
          <a:lstStyle/>
          <a:p>
            <a:pPr algn="l">
              <a:spcBef>
                <a:spcPts val="0"/>
              </a:spcBef>
              <a:spcAft>
                <a:spcPts val="0"/>
              </a:spcAft>
            </a:pPr>
            <a:r>
              <a:rPr sz="880" b="1">
                <a:solidFill>
                  <a:srgbClr val="009AA6"/>
                </a:solidFill>
                <a:latin typeface="Aptos"/>
              </a:rPr>
              <a:t>DISTANCE FROM ROUND-TRIP ECHO TIME</a:t>
            </a:r>
          </a:p>
        </p:txBody>
      </p:sp>
      <p:sp>
        <p:nvSpPr>
          <p:cNvPr id="46" name="TextBox 45"/>
          <p:cNvSpPr txBox="1"/>
          <p:nvPr/>
        </p:nvSpPr>
        <p:spPr>
          <a:xfrm>
            <a:off x="3520440" y="3008376"/>
            <a:ext cx="3968496" cy="356616"/>
          </a:xfrm>
          <a:prstGeom prst="rect">
            <a:avLst/>
          </a:prstGeom>
          <a:noFill/>
        </p:spPr>
        <p:txBody>
          <a:bodyPr wrap="square" lIns="0" tIns="4572" rIns="0" bIns="4572" anchor="ctr">
            <a:spAutoFit/>
          </a:bodyPr>
          <a:lstStyle/>
          <a:p>
            <a:pPr algn="l">
              <a:spcBef>
                <a:spcPts val="0"/>
              </a:spcBef>
              <a:spcAft>
                <a:spcPts val="0"/>
              </a:spcAft>
            </a:pPr>
            <a:r>
              <a:rPr sz="1700" b="1">
                <a:solidFill>
                  <a:srgbClr val="1A304B"/>
                </a:solidFill>
                <a:latin typeface="Aptos Mono"/>
              </a:rPr>
              <a:t>d (cm) ≈ t_echo (µs) / 58</a:t>
            </a:r>
          </a:p>
        </p:txBody>
      </p:sp>
      <p:sp>
        <p:nvSpPr>
          <p:cNvPr id="47" name="TextBox 46"/>
          <p:cNvSpPr txBox="1"/>
          <p:nvPr/>
        </p:nvSpPr>
        <p:spPr>
          <a:xfrm>
            <a:off x="3520440" y="3374136"/>
            <a:ext cx="3968496" cy="182880"/>
          </a:xfrm>
          <a:prstGeom prst="rect">
            <a:avLst/>
          </a:prstGeom>
          <a:noFill/>
        </p:spPr>
        <p:txBody>
          <a:bodyPr wrap="square" lIns="0" tIns="4572" rIns="0" bIns="4572" anchor="ctr">
            <a:spAutoFit/>
          </a:bodyPr>
          <a:lstStyle/>
          <a:p>
            <a:pPr algn="l">
              <a:spcBef>
                <a:spcPts val="0"/>
              </a:spcBef>
              <a:spcAft>
                <a:spcPts val="0"/>
              </a:spcAft>
            </a:pPr>
            <a:r>
              <a:rPr sz="830" b="0">
                <a:solidFill>
                  <a:srgbClr val="60758F"/>
                </a:solidFill>
                <a:latin typeface="Aptos"/>
              </a:rPr>
              <a:t>Approximation assumes sound speed near 343 m/s at room temperature.</a:t>
            </a:r>
          </a:p>
        </p:txBody>
      </p:sp>
      <p:sp>
        <p:nvSpPr>
          <p:cNvPr id="48" name="Rounded Rectangle 47"/>
          <p:cNvSpPr/>
          <p:nvPr/>
        </p:nvSpPr>
        <p:spPr>
          <a:xfrm>
            <a:off x="3337560" y="3822191"/>
            <a:ext cx="4334255" cy="1097280"/>
          </a:xfrm>
          <a:prstGeom prst="roundRect">
            <a:avLst>
              <a:gd name="adj" fmla="val 12000"/>
            </a:avLst>
          </a:prstGeom>
          <a:solidFill>
            <a:srgbClr val="EAF2FC"/>
          </a:solidFill>
          <a:ln w="10160">
            <a:solidFill>
              <a:srgbClr val="D5E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520440" y="3913631"/>
            <a:ext cx="3968496" cy="182880"/>
          </a:xfrm>
          <a:prstGeom prst="rect">
            <a:avLst/>
          </a:prstGeom>
          <a:noFill/>
        </p:spPr>
        <p:txBody>
          <a:bodyPr wrap="square" lIns="0" tIns="4572" rIns="0" bIns="4572" anchor="ctr">
            <a:spAutoFit/>
          </a:bodyPr>
          <a:lstStyle/>
          <a:p>
            <a:pPr algn="l">
              <a:spcBef>
                <a:spcPts val="0"/>
              </a:spcBef>
              <a:spcAft>
                <a:spcPts val="0"/>
              </a:spcAft>
            </a:pPr>
            <a:r>
              <a:rPr sz="880" b="1">
                <a:solidFill>
                  <a:srgbClr val="2B73C7"/>
                </a:solidFill>
                <a:latin typeface="Aptos"/>
              </a:rPr>
              <a:t>TIMER CAPTURE SEQUENCE</a:t>
            </a:r>
          </a:p>
        </p:txBody>
      </p:sp>
      <p:sp>
        <p:nvSpPr>
          <p:cNvPr id="50" name="TextBox 49"/>
          <p:cNvSpPr txBox="1"/>
          <p:nvPr/>
        </p:nvSpPr>
        <p:spPr>
          <a:xfrm>
            <a:off x="3520440" y="4160520"/>
            <a:ext cx="3968496" cy="630936"/>
          </a:xfrm>
          <a:prstGeom prst="rect">
            <a:avLst/>
          </a:prstGeom>
          <a:noFill/>
        </p:spPr>
        <p:txBody>
          <a:bodyPr wrap="square" lIns="9144" tIns="4572" rIns="9144" bIns="4572" anchor="ctr">
            <a:spAutoFit/>
          </a:bodyPr>
          <a:lstStyle/>
          <a:p>
            <a:pPr algn="l">
              <a:spcBef>
                <a:spcPts val="0"/>
              </a:spcBef>
              <a:spcAft>
                <a:spcPts val="0"/>
              </a:spcAft>
            </a:pPr>
            <a:r>
              <a:rPr sz="869" b="0">
                <a:solidFill>
                  <a:srgbClr val="243B56"/>
                </a:solidFill>
                <a:latin typeface="Aptos"/>
              </a:rPr>
              <a:t>1. Send a ≥10 µs Trigger pulse.
2. Capture Echo rising and falling edges.
3. Compute pulse width from timer counts and timer tick period.</a:t>
            </a:r>
          </a:p>
        </p:txBody>
      </p:sp>
      <p:sp>
        <p:nvSpPr>
          <p:cNvPr id="51" name="Rounded Rectangle 50"/>
          <p:cNvSpPr/>
          <p:nvPr/>
        </p:nvSpPr>
        <p:spPr>
          <a:xfrm>
            <a:off x="3337560" y="5047488"/>
            <a:ext cx="4334255" cy="722376"/>
          </a:xfrm>
          <a:prstGeom prst="roundRect">
            <a:avLst>
              <a:gd name="adj" fmla="val 12000"/>
            </a:avLst>
          </a:prstGeom>
          <a:solidFill>
            <a:srgbClr val="FFFFFF"/>
          </a:solidFill>
          <a:ln w="889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502152" y="5111496"/>
            <a:ext cx="1600200" cy="164592"/>
          </a:xfrm>
          <a:prstGeom prst="rect">
            <a:avLst/>
          </a:prstGeom>
          <a:noFill/>
        </p:spPr>
        <p:txBody>
          <a:bodyPr wrap="square" lIns="0" tIns="4572" rIns="0" bIns="4572" anchor="ctr">
            <a:spAutoFit/>
          </a:bodyPr>
          <a:lstStyle/>
          <a:p>
            <a:pPr algn="l">
              <a:spcBef>
                <a:spcPts val="0"/>
              </a:spcBef>
              <a:spcAft>
                <a:spcPts val="0"/>
              </a:spcAft>
            </a:pPr>
            <a:r>
              <a:rPr sz="819" b="1">
                <a:solidFill>
                  <a:srgbClr val="7860C8"/>
                </a:solidFill>
                <a:latin typeface="Aptos"/>
              </a:rPr>
              <a:t>TYPICAL MODULE VALUES</a:t>
            </a:r>
          </a:p>
        </p:txBody>
      </p:sp>
      <p:sp>
        <p:nvSpPr>
          <p:cNvPr id="53" name="TextBox 52"/>
          <p:cNvSpPr txBox="1"/>
          <p:nvPr/>
        </p:nvSpPr>
        <p:spPr>
          <a:xfrm>
            <a:off x="3502152" y="5303520"/>
            <a:ext cx="4005072" cy="365760"/>
          </a:xfrm>
          <a:prstGeom prst="rect">
            <a:avLst/>
          </a:prstGeom>
          <a:noFill/>
        </p:spPr>
        <p:txBody>
          <a:bodyPr wrap="square" lIns="9144" tIns="4572" rIns="9144" bIns="4572" anchor="ctr">
            <a:spAutoFit/>
          </a:bodyPr>
          <a:lstStyle/>
          <a:p>
            <a:pPr algn="l">
              <a:spcBef>
                <a:spcPts val="0"/>
              </a:spcBef>
              <a:spcAft>
                <a:spcPts val="0"/>
              </a:spcAft>
            </a:pPr>
            <a:r>
              <a:rPr sz="819" b="0">
                <a:solidFill>
                  <a:srgbClr val="60758F"/>
                </a:solidFill>
                <a:latin typeface="Aptos"/>
              </a:rPr>
              <a:t>Nominal range 2–400 cm  •  40 kHz ultrasound  •  5 V supply (typical)  •  Allow &gt;60 ms between measurements</a:t>
            </a:r>
          </a:p>
        </p:txBody>
      </p:sp>
      <p:sp>
        <p:nvSpPr>
          <p:cNvPr id="54" name="TextBox 53"/>
          <p:cNvSpPr txBox="1"/>
          <p:nvPr/>
        </p:nvSpPr>
        <p:spPr>
          <a:xfrm>
            <a:off x="8238744" y="1536192"/>
            <a:ext cx="3218688" cy="237744"/>
          </a:xfrm>
          <a:prstGeom prst="rect">
            <a:avLst/>
          </a:prstGeom>
          <a:noFill/>
        </p:spPr>
        <p:txBody>
          <a:bodyPr wrap="square" lIns="0" tIns="4572" rIns="0" bIns="4572" anchor="ctr">
            <a:spAutoFit/>
          </a:bodyPr>
          <a:lstStyle/>
          <a:p>
            <a:pPr algn="l">
              <a:spcBef>
                <a:spcPts val="0"/>
              </a:spcBef>
              <a:spcAft>
                <a:spcPts val="0"/>
              </a:spcAft>
            </a:pPr>
            <a:r>
              <a:rPr sz="1000" b="1">
                <a:solidFill>
                  <a:srgbClr val="2B73C7"/>
                </a:solidFill>
                <a:latin typeface="Aptos"/>
              </a:rPr>
              <a:t>STM32 INTERFACE &amp; REGISTERS</a:t>
            </a:r>
          </a:p>
        </p:txBody>
      </p:sp>
      <p:sp>
        <p:nvSpPr>
          <p:cNvPr id="55" name="Rectangle 54"/>
          <p:cNvSpPr/>
          <p:nvPr/>
        </p:nvSpPr>
        <p:spPr>
          <a:xfrm>
            <a:off x="8238744" y="1828800"/>
            <a:ext cx="438912" cy="32004"/>
          </a:xfrm>
          <a:prstGeom prst="rect">
            <a:avLst/>
          </a:prstGeom>
          <a:solidFill>
            <a:srgbClr val="2B73C7"/>
          </a:solidFill>
          <a:ln w="1270">
            <a:solidFill>
              <a:srgbClr val="2B7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8202167" y="1956816"/>
            <a:ext cx="3291840" cy="914400"/>
          </a:xfrm>
          <a:prstGeom prst="roundRect">
            <a:avLst>
              <a:gd name="adj" fmla="val 12000"/>
            </a:avLst>
          </a:prstGeom>
          <a:solidFill>
            <a:srgbClr val="EAF2FC"/>
          </a:solidFill>
          <a:ln w="10160">
            <a:solidFill>
              <a:srgbClr val="D5E4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348471" y="2020824"/>
            <a:ext cx="2999232" cy="164592"/>
          </a:xfrm>
          <a:prstGeom prst="rect">
            <a:avLst/>
          </a:prstGeom>
          <a:noFill/>
        </p:spPr>
        <p:txBody>
          <a:bodyPr wrap="square" lIns="0" tIns="4572" rIns="0" bIns="4572" anchor="ctr">
            <a:spAutoFit/>
          </a:bodyPr>
          <a:lstStyle/>
          <a:p>
            <a:pPr algn="l">
              <a:spcBef>
                <a:spcPts val="0"/>
              </a:spcBef>
              <a:spcAft>
                <a:spcPts val="0"/>
              </a:spcAft>
            </a:pPr>
            <a:r>
              <a:rPr sz="810" b="1">
                <a:solidFill>
                  <a:srgbClr val="2B73C7"/>
                </a:solidFill>
                <a:latin typeface="Aptos"/>
              </a:rPr>
              <a:t>EXAMPLE PIN MAP — VERIFY BOARD</a:t>
            </a:r>
          </a:p>
        </p:txBody>
      </p:sp>
      <p:sp>
        <p:nvSpPr>
          <p:cNvPr id="58" name="TextBox 57"/>
          <p:cNvSpPr txBox="1"/>
          <p:nvPr/>
        </p:nvSpPr>
        <p:spPr>
          <a:xfrm>
            <a:off x="8348471" y="2231136"/>
            <a:ext cx="2999232" cy="548640"/>
          </a:xfrm>
          <a:prstGeom prst="rect">
            <a:avLst/>
          </a:prstGeom>
          <a:noFill/>
        </p:spPr>
        <p:txBody>
          <a:bodyPr wrap="square" lIns="9144" tIns="4572" rIns="9144" bIns="4572" anchor="ctr">
            <a:spAutoFit/>
          </a:bodyPr>
          <a:lstStyle/>
          <a:p>
            <a:pPr algn="l">
              <a:spcBef>
                <a:spcPts val="0"/>
              </a:spcBef>
              <a:spcAft>
                <a:spcPts val="0"/>
              </a:spcAft>
            </a:pPr>
            <a:r>
              <a:rPr sz="819" b="0">
                <a:solidFill>
                  <a:srgbClr val="243B56"/>
                </a:solidFill>
                <a:latin typeface="Aptos Mono"/>
              </a:rPr>
              <a:t>VCC → 5 V  |  GND → common ground
TRIG → PA8 GPIO output
ECHO → PA9 / TIM1_CH2 via level shifter</a:t>
            </a:r>
          </a:p>
        </p:txBody>
      </p:sp>
      <p:sp>
        <p:nvSpPr>
          <p:cNvPr id="59" name="TextBox 58"/>
          <p:cNvSpPr txBox="1"/>
          <p:nvPr/>
        </p:nvSpPr>
        <p:spPr>
          <a:xfrm>
            <a:off x="8257031" y="3017520"/>
            <a:ext cx="3182112" cy="201168"/>
          </a:xfrm>
          <a:prstGeom prst="rect">
            <a:avLst/>
          </a:prstGeom>
          <a:noFill/>
        </p:spPr>
        <p:txBody>
          <a:bodyPr wrap="square" lIns="0" tIns="4572" rIns="0" bIns="4572" anchor="ctr">
            <a:spAutoFit/>
          </a:bodyPr>
          <a:lstStyle/>
          <a:p>
            <a:pPr algn="l">
              <a:spcBef>
                <a:spcPts val="0"/>
              </a:spcBef>
              <a:spcAft>
                <a:spcPts val="0"/>
              </a:spcAft>
            </a:pPr>
            <a:r>
              <a:rPr sz="860" b="1">
                <a:solidFill>
                  <a:srgbClr val="009AA6"/>
                </a:solidFill>
                <a:latin typeface="Aptos"/>
              </a:rPr>
              <a:t>RELEVANT TIMER REGISTERS</a:t>
            </a:r>
          </a:p>
        </p:txBody>
      </p:sp>
      <p:sp>
        <p:nvSpPr>
          <p:cNvPr id="60" name="TextBox 59"/>
          <p:cNvSpPr txBox="1"/>
          <p:nvPr/>
        </p:nvSpPr>
        <p:spPr>
          <a:xfrm>
            <a:off x="8257031" y="3264408"/>
            <a:ext cx="3182112" cy="164592"/>
          </a:xfrm>
          <a:prstGeom prst="rect">
            <a:avLst/>
          </a:prstGeom>
          <a:noFill/>
        </p:spPr>
        <p:txBody>
          <a:bodyPr wrap="square" lIns="0" tIns="4572" rIns="0" bIns="4572" anchor="ctr">
            <a:spAutoFit/>
          </a:bodyPr>
          <a:lstStyle/>
          <a:p>
            <a:pPr algn="l">
              <a:spcBef>
                <a:spcPts val="0"/>
              </a:spcBef>
              <a:spcAft>
                <a:spcPts val="0"/>
              </a:spcAft>
            </a:pPr>
            <a:r>
              <a:rPr sz="790" b="1">
                <a:solidFill>
                  <a:srgbClr val="1A304B"/>
                </a:solidFill>
                <a:latin typeface="Aptos"/>
              </a:rPr>
              <a:t>RCC_APB1ENR / APB2ENR</a:t>
            </a:r>
          </a:p>
        </p:txBody>
      </p:sp>
      <p:sp>
        <p:nvSpPr>
          <p:cNvPr id="61" name="TextBox 60"/>
          <p:cNvSpPr txBox="1"/>
          <p:nvPr/>
        </p:nvSpPr>
        <p:spPr>
          <a:xfrm>
            <a:off x="8257031" y="3438144"/>
            <a:ext cx="3182112" cy="182880"/>
          </a:xfrm>
          <a:prstGeom prst="rect">
            <a:avLst/>
          </a:prstGeom>
          <a:noFill/>
        </p:spPr>
        <p:txBody>
          <a:bodyPr wrap="square" lIns="0" tIns="4572" rIns="0" bIns="4572" anchor="ctr">
            <a:spAutoFit/>
          </a:bodyPr>
          <a:lstStyle/>
          <a:p>
            <a:pPr algn="l">
              <a:spcBef>
                <a:spcPts val="0"/>
              </a:spcBef>
              <a:spcAft>
                <a:spcPts val="0"/>
              </a:spcAft>
            </a:pPr>
            <a:r>
              <a:rPr sz="770" b="0">
                <a:solidFill>
                  <a:srgbClr val="60758F"/>
                </a:solidFill>
                <a:latin typeface="Aptos"/>
              </a:rPr>
              <a:t>Enable the selected timer clock.</a:t>
            </a:r>
          </a:p>
        </p:txBody>
      </p:sp>
      <p:cxnSp>
        <p:nvCxnSpPr>
          <p:cNvPr id="62" name="Connector 61"/>
          <p:cNvCxnSpPr/>
          <p:nvPr/>
        </p:nvCxnSpPr>
        <p:spPr>
          <a:xfrm>
            <a:off x="8257031" y="3657600"/>
            <a:ext cx="3182113" cy="0"/>
          </a:xfrm>
          <a:prstGeom prst="line">
            <a:avLst/>
          </a:prstGeom>
          <a:ln w="6985">
            <a:solidFill>
              <a:srgbClr val="D8E2EC"/>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8257031" y="3703320"/>
            <a:ext cx="3182112" cy="164592"/>
          </a:xfrm>
          <a:prstGeom prst="rect">
            <a:avLst/>
          </a:prstGeom>
          <a:noFill/>
        </p:spPr>
        <p:txBody>
          <a:bodyPr wrap="square" lIns="0" tIns="4572" rIns="0" bIns="4572" anchor="ctr">
            <a:spAutoFit/>
          </a:bodyPr>
          <a:lstStyle/>
          <a:p>
            <a:pPr algn="l">
              <a:spcBef>
                <a:spcPts val="0"/>
              </a:spcBef>
              <a:spcAft>
                <a:spcPts val="0"/>
              </a:spcAft>
            </a:pPr>
            <a:r>
              <a:rPr sz="790" b="1">
                <a:solidFill>
                  <a:srgbClr val="1A304B"/>
                </a:solidFill>
                <a:latin typeface="Aptos"/>
              </a:rPr>
              <a:t>TIMx_PSC / ARR</a:t>
            </a:r>
          </a:p>
        </p:txBody>
      </p:sp>
      <p:sp>
        <p:nvSpPr>
          <p:cNvPr id="64" name="TextBox 63"/>
          <p:cNvSpPr txBox="1"/>
          <p:nvPr/>
        </p:nvSpPr>
        <p:spPr>
          <a:xfrm>
            <a:off x="8257031" y="3877056"/>
            <a:ext cx="3182112" cy="182880"/>
          </a:xfrm>
          <a:prstGeom prst="rect">
            <a:avLst/>
          </a:prstGeom>
          <a:noFill/>
        </p:spPr>
        <p:txBody>
          <a:bodyPr wrap="square" lIns="0" tIns="4572" rIns="0" bIns="4572" anchor="ctr">
            <a:spAutoFit/>
          </a:bodyPr>
          <a:lstStyle/>
          <a:p>
            <a:pPr algn="l">
              <a:spcBef>
                <a:spcPts val="0"/>
              </a:spcBef>
              <a:spcAft>
                <a:spcPts val="0"/>
              </a:spcAft>
            </a:pPr>
            <a:r>
              <a:rPr sz="770" b="0">
                <a:solidFill>
                  <a:srgbClr val="60758F"/>
                </a:solidFill>
                <a:latin typeface="Aptos"/>
              </a:rPr>
              <a:t>Set timer tick and counter period.</a:t>
            </a:r>
          </a:p>
        </p:txBody>
      </p:sp>
      <p:cxnSp>
        <p:nvCxnSpPr>
          <p:cNvPr id="65" name="Connector 64"/>
          <p:cNvCxnSpPr/>
          <p:nvPr/>
        </p:nvCxnSpPr>
        <p:spPr>
          <a:xfrm>
            <a:off x="8257031" y="4096511"/>
            <a:ext cx="3182113" cy="0"/>
          </a:xfrm>
          <a:prstGeom prst="line">
            <a:avLst/>
          </a:prstGeom>
          <a:ln w="6985">
            <a:solidFill>
              <a:srgbClr val="D8E2EC"/>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257031" y="4142231"/>
            <a:ext cx="3182112" cy="164592"/>
          </a:xfrm>
          <a:prstGeom prst="rect">
            <a:avLst/>
          </a:prstGeom>
          <a:noFill/>
        </p:spPr>
        <p:txBody>
          <a:bodyPr wrap="square" lIns="0" tIns="4572" rIns="0" bIns="4572" anchor="ctr">
            <a:spAutoFit/>
          </a:bodyPr>
          <a:lstStyle/>
          <a:p>
            <a:pPr algn="l">
              <a:spcBef>
                <a:spcPts val="0"/>
              </a:spcBef>
              <a:spcAft>
                <a:spcPts val="0"/>
              </a:spcAft>
            </a:pPr>
            <a:r>
              <a:rPr sz="790" b="1">
                <a:solidFill>
                  <a:srgbClr val="1A304B"/>
                </a:solidFill>
                <a:latin typeface="Aptos"/>
              </a:rPr>
              <a:t>TIMx_CCMR1 / CCER</a:t>
            </a:r>
          </a:p>
        </p:txBody>
      </p:sp>
      <p:sp>
        <p:nvSpPr>
          <p:cNvPr id="67" name="TextBox 66"/>
          <p:cNvSpPr txBox="1"/>
          <p:nvPr/>
        </p:nvSpPr>
        <p:spPr>
          <a:xfrm>
            <a:off x="8257031" y="4315968"/>
            <a:ext cx="3182112" cy="182880"/>
          </a:xfrm>
          <a:prstGeom prst="rect">
            <a:avLst/>
          </a:prstGeom>
          <a:noFill/>
        </p:spPr>
        <p:txBody>
          <a:bodyPr wrap="square" lIns="0" tIns="4572" rIns="0" bIns="4572" anchor="ctr">
            <a:spAutoFit/>
          </a:bodyPr>
          <a:lstStyle/>
          <a:p>
            <a:pPr algn="l">
              <a:spcBef>
                <a:spcPts val="0"/>
              </a:spcBef>
              <a:spcAft>
                <a:spcPts val="0"/>
              </a:spcAft>
            </a:pPr>
            <a:r>
              <a:rPr sz="770" b="0">
                <a:solidFill>
                  <a:srgbClr val="60758F"/>
                </a:solidFill>
                <a:latin typeface="Aptos"/>
              </a:rPr>
              <a:t>Configure input capture and edge polarity.</a:t>
            </a:r>
          </a:p>
        </p:txBody>
      </p:sp>
      <p:cxnSp>
        <p:nvCxnSpPr>
          <p:cNvPr id="68" name="Connector 67"/>
          <p:cNvCxnSpPr/>
          <p:nvPr/>
        </p:nvCxnSpPr>
        <p:spPr>
          <a:xfrm>
            <a:off x="8257031" y="4535423"/>
            <a:ext cx="3182113" cy="0"/>
          </a:xfrm>
          <a:prstGeom prst="line">
            <a:avLst/>
          </a:prstGeom>
          <a:ln w="6985">
            <a:solidFill>
              <a:srgbClr val="D8E2EC"/>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8257031" y="4581144"/>
            <a:ext cx="3182112" cy="164592"/>
          </a:xfrm>
          <a:prstGeom prst="rect">
            <a:avLst/>
          </a:prstGeom>
          <a:noFill/>
        </p:spPr>
        <p:txBody>
          <a:bodyPr wrap="square" lIns="0" tIns="4572" rIns="0" bIns="4572" anchor="ctr">
            <a:spAutoFit/>
          </a:bodyPr>
          <a:lstStyle/>
          <a:p>
            <a:pPr algn="l">
              <a:spcBef>
                <a:spcPts val="0"/>
              </a:spcBef>
              <a:spcAft>
                <a:spcPts val="0"/>
              </a:spcAft>
            </a:pPr>
            <a:r>
              <a:rPr sz="790" b="1">
                <a:solidFill>
                  <a:srgbClr val="1A304B"/>
                </a:solidFill>
                <a:latin typeface="Aptos"/>
              </a:rPr>
              <a:t>TIMx_CCRx / SR</a:t>
            </a:r>
          </a:p>
        </p:txBody>
      </p:sp>
      <p:sp>
        <p:nvSpPr>
          <p:cNvPr id="70" name="TextBox 69"/>
          <p:cNvSpPr txBox="1"/>
          <p:nvPr/>
        </p:nvSpPr>
        <p:spPr>
          <a:xfrm>
            <a:off x="8257031" y="4754880"/>
            <a:ext cx="3182112" cy="182880"/>
          </a:xfrm>
          <a:prstGeom prst="rect">
            <a:avLst/>
          </a:prstGeom>
          <a:noFill/>
        </p:spPr>
        <p:txBody>
          <a:bodyPr wrap="square" lIns="0" tIns="4572" rIns="0" bIns="4572" anchor="ctr">
            <a:spAutoFit/>
          </a:bodyPr>
          <a:lstStyle/>
          <a:p>
            <a:pPr algn="l">
              <a:spcBef>
                <a:spcPts val="0"/>
              </a:spcBef>
              <a:spcAft>
                <a:spcPts val="0"/>
              </a:spcAft>
            </a:pPr>
            <a:r>
              <a:rPr sz="770" b="0">
                <a:solidFill>
                  <a:srgbClr val="60758F"/>
                </a:solidFill>
                <a:latin typeface="Aptos"/>
              </a:rPr>
              <a:t>Read captured count; inspect capture flags.</a:t>
            </a:r>
          </a:p>
        </p:txBody>
      </p:sp>
      <p:sp>
        <p:nvSpPr>
          <p:cNvPr id="71" name="Rounded Rectangle 70"/>
          <p:cNvSpPr/>
          <p:nvPr/>
        </p:nvSpPr>
        <p:spPr>
          <a:xfrm>
            <a:off x="8202167" y="5166360"/>
            <a:ext cx="3291840" cy="722376"/>
          </a:xfrm>
          <a:prstGeom prst="roundRect">
            <a:avLst>
              <a:gd name="adj" fmla="val 12000"/>
            </a:avLst>
          </a:prstGeom>
          <a:solidFill>
            <a:srgbClr val="FFF3E0"/>
          </a:solidFill>
          <a:ln w="10160">
            <a:solidFill>
              <a:srgbClr val="F0D9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330183" y="5230368"/>
            <a:ext cx="3035808" cy="585216"/>
          </a:xfrm>
          <a:prstGeom prst="rect">
            <a:avLst/>
          </a:prstGeom>
          <a:noFill/>
        </p:spPr>
        <p:txBody>
          <a:bodyPr wrap="square" lIns="9144" tIns="4572" rIns="9144" bIns="4572" anchor="ctr">
            <a:spAutoFit/>
          </a:bodyPr>
          <a:lstStyle/>
          <a:p>
            <a:pPr algn="ctr">
              <a:spcBef>
                <a:spcPts val="0"/>
              </a:spcBef>
              <a:spcAft>
                <a:spcPts val="0"/>
              </a:spcAft>
            </a:pPr>
            <a:r>
              <a:rPr sz="810" b="1">
                <a:solidFill>
                  <a:srgbClr val="B96C0A"/>
                </a:solidFill>
                <a:latin typeface="Aptos"/>
              </a:rPr>
              <a:t>ELECTRICAL SAFETY
HC-SR04 Echo may output 5 V. Protect a 3.3 V STM32 input with a suitable divider or level shifter.</a:t>
            </a:r>
          </a:p>
        </p:txBody>
      </p:sp>
      <p:cxnSp>
        <p:nvCxnSpPr>
          <p:cNvPr id="73" name="Connector 72"/>
          <p:cNvCxnSpPr/>
          <p:nvPr/>
        </p:nvCxnSpPr>
        <p:spPr>
          <a:xfrm>
            <a:off x="530352" y="6291072"/>
            <a:ext cx="11128248" cy="0"/>
          </a:xfrm>
          <a:prstGeom prst="line">
            <a:avLst/>
          </a:prstGeom>
          <a:ln w="10160">
            <a:solidFill>
              <a:srgbClr val="D8E2EC"/>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48640" y="6345936"/>
            <a:ext cx="8046720" cy="182880"/>
          </a:xfrm>
          <a:prstGeom prst="rect">
            <a:avLst/>
          </a:prstGeom>
          <a:noFill/>
        </p:spPr>
        <p:txBody>
          <a:bodyPr wrap="square" lIns="0" tIns="4572" rIns="0" bIns="4572" anchor="ctr">
            <a:spAutoFit/>
          </a:bodyPr>
          <a:lstStyle/>
          <a:p>
            <a:pPr algn="l">
              <a:spcBef>
                <a:spcPts val="0"/>
              </a:spcBef>
              <a:spcAft>
                <a:spcPts val="0"/>
              </a:spcAft>
            </a:pPr>
            <a:r>
              <a:rPr sz="750" b="0">
                <a:solidFill>
                  <a:srgbClr val="60758F"/>
                </a:solidFill>
                <a:latin typeface="Aptos"/>
              </a:rPr>
              <a:t>STM32F411CEU6  ·  VEHICLE EVENT LOGGING AND RESPONSE SYSTEM</a:t>
            </a:r>
          </a:p>
        </p:txBody>
      </p:sp>
      <p:sp>
        <p:nvSpPr>
          <p:cNvPr id="75" name="TextBox 74"/>
          <p:cNvSpPr txBox="1"/>
          <p:nvPr/>
        </p:nvSpPr>
        <p:spPr>
          <a:xfrm>
            <a:off x="10469880" y="6345936"/>
            <a:ext cx="1143000" cy="182880"/>
          </a:xfrm>
          <a:prstGeom prst="rect">
            <a:avLst/>
          </a:prstGeom>
          <a:noFill/>
        </p:spPr>
        <p:txBody>
          <a:bodyPr wrap="square" lIns="0" tIns="4572" rIns="0" bIns="4572" anchor="ctr">
            <a:spAutoFit/>
          </a:bodyPr>
          <a:lstStyle/>
          <a:p>
            <a:pPr algn="r">
              <a:spcBef>
                <a:spcPts val="0"/>
              </a:spcBef>
              <a:spcAft>
                <a:spcPts val="0"/>
              </a:spcAft>
            </a:pPr>
            <a:r>
              <a:rPr sz="750" b="1">
                <a:solidFill>
                  <a:srgbClr val="60758F"/>
                </a:solidFill>
                <a:latin typeface="Aptos"/>
              </a:rPr>
              <a:t>07 / 09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
          </a:xfrm>
          <a:prstGeom prst="rect">
            <a:avLst/>
          </a:prstGeom>
          <a:solidFill>
            <a:srgbClr val="009AA6"/>
          </a:solidFill>
          <a:ln w="127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173736"/>
            <a:ext cx="5303520" cy="219456"/>
          </a:xfrm>
          <a:prstGeom prst="rect">
            <a:avLst/>
          </a:prstGeom>
          <a:noFill/>
        </p:spPr>
        <p:txBody>
          <a:bodyPr wrap="square" lIns="0" tIns="4572" rIns="0" bIns="4572" anchor="ctr">
            <a:spAutoFit/>
          </a:bodyPr>
          <a:lstStyle/>
          <a:p>
            <a:pPr algn="l">
              <a:spcBef>
                <a:spcPts val="0"/>
              </a:spcBef>
              <a:spcAft>
                <a:spcPts val="0"/>
              </a:spcAft>
            </a:pPr>
            <a:r>
              <a:rPr sz="919" b="1">
                <a:solidFill>
                  <a:srgbClr val="009AA6"/>
                </a:solidFill>
                <a:latin typeface="Aptos"/>
              </a:rPr>
              <a:t>07  /  FIRMWARE INTEGRATION</a:t>
            </a:r>
          </a:p>
        </p:txBody>
      </p:sp>
      <p:sp>
        <p:nvSpPr>
          <p:cNvPr id="4" name="TextBox 3"/>
          <p:cNvSpPr txBox="1"/>
          <p:nvPr/>
        </p:nvSpPr>
        <p:spPr>
          <a:xfrm>
            <a:off x="11018520" y="173736"/>
            <a:ext cx="594360" cy="219456"/>
          </a:xfrm>
          <a:prstGeom prst="rect">
            <a:avLst/>
          </a:prstGeom>
          <a:noFill/>
        </p:spPr>
        <p:txBody>
          <a:bodyPr wrap="square" lIns="0" tIns="4572" rIns="0" bIns="4572" anchor="ctr">
            <a:spAutoFit/>
          </a:bodyPr>
          <a:lstStyle/>
          <a:p>
            <a:pPr algn="r">
              <a:spcBef>
                <a:spcPts val="0"/>
              </a:spcBef>
              <a:spcAft>
                <a:spcPts val="0"/>
              </a:spcAft>
            </a:pPr>
            <a:r>
              <a:rPr sz="919" b="1">
                <a:solidFill>
                  <a:srgbClr val="60758F"/>
                </a:solidFill>
                <a:latin typeface="Aptos"/>
              </a:rPr>
              <a:t>08</a:t>
            </a:r>
          </a:p>
        </p:txBody>
      </p:sp>
      <p:sp>
        <p:nvSpPr>
          <p:cNvPr id="5" name="TextBox 4"/>
          <p:cNvSpPr txBox="1"/>
          <p:nvPr/>
        </p:nvSpPr>
        <p:spPr>
          <a:xfrm>
            <a:off x="530352" y="457200"/>
            <a:ext cx="11064240" cy="457200"/>
          </a:xfrm>
          <a:prstGeom prst="rect">
            <a:avLst/>
          </a:prstGeom>
          <a:noFill/>
        </p:spPr>
        <p:txBody>
          <a:bodyPr wrap="square" lIns="0" tIns="4572" rIns="0" bIns="4572" anchor="ctr">
            <a:spAutoFit/>
          </a:bodyPr>
          <a:lstStyle/>
          <a:p>
            <a:pPr algn="l">
              <a:spcBef>
                <a:spcPts val="0"/>
              </a:spcBef>
              <a:spcAft>
                <a:spcPts val="0"/>
              </a:spcAft>
            </a:pPr>
            <a:r>
              <a:rPr sz="2500" b="1">
                <a:solidFill>
                  <a:srgbClr val="1A304B"/>
                </a:solidFill>
                <a:latin typeface="Aptos"/>
              </a:rPr>
              <a:t>How the sensors work together</a:t>
            </a:r>
          </a:p>
        </p:txBody>
      </p:sp>
      <p:sp>
        <p:nvSpPr>
          <p:cNvPr id="6" name="TextBox 5"/>
          <p:cNvSpPr txBox="1"/>
          <p:nvPr/>
        </p:nvSpPr>
        <p:spPr>
          <a:xfrm>
            <a:off x="548640" y="950976"/>
            <a:ext cx="10972800" cy="256032"/>
          </a:xfrm>
          <a:prstGeom prst="rect">
            <a:avLst/>
          </a:prstGeom>
          <a:noFill/>
        </p:spPr>
        <p:txBody>
          <a:bodyPr wrap="square" lIns="0" tIns="4572" rIns="0" bIns="4572" anchor="ctr">
            <a:spAutoFit/>
          </a:bodyPr>
          <a:lstStyle/>
          <a:p>
            <a:pPr algn="l">
              <a:spcBef>
                <a:spcPts val="0"/>
              </a:spcBef>
              <a:spcAft>
                <a:spcPts val="0"/>
              </a:spcAft>
            </a:pPr>
            <a:r>
              <a:rPr sz="1070" b="0">
                <a:solidFill>
                  <a:srgbClr val="60758F"/>
                </a:solidFill>
                <a:latin typeface="Aptos"/>
              </a:rPr>
              <a:t>The STM32 turns sensor readings into validated event states; deployment software routes those events to the appropriate vehicle system.</a:t>
            </a:r>
          </a:p>
        </p:txBody>
      </p:sp>
      <p:sp>
        <p:nvSpPr>
          <p:cNvPr id="7" name="Rounded Rectangle 6"/>
          <p:cNvSpPr/>
          <p:nvPr/>
        </p:nvSpPr>
        <p:spPr>
          <a:xfrm>
            <a:off x="530352" y="1417320"/>
            <a:ext cx="2011680" cy="1170432"/>
          </a:xfrm>
          <a:prstGeom prst="roundRect">
            <a:avLst>
              <a:gd name="adj" fmla="val 12000"/>
            </a:avLst>
          </a:prstGeom>
          <a:solidFill>
            <a:srgbClr val="FFFFFF"/>
          </a:solidFill>
          <a:ln w="1143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67512" y="1563624"/>
            <a:ext cx="365760" cy="329184"/>
          </a:xfrm>
          <a:prstGeom prst="roundRect">
            <a:avLst>
              <a:gd name="adj" fmla="val 12000"/>
            </a:avLst>
          </a:prstGeom>
          <a:solidFill>
            <a:srgbClr val="2B73C7"/>
          </a:solidFill>
          <a:ln w="2540">
            <a:solidFill>
              <a:srgbClr val="2B73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563624"/>
            <a:ext cx="365760" cy="320040"/>
          </a:xfrm>
          <a:prstGeom prst="rect">
            <a:avLst/>
          </a:prstGeom>
          <a:noFill/>
        </p:spPr>
        <p:txBody>
          <a:bodyPr wrap="square" lIns="0" tIns="4572" rIns="0" bIns="4572" anchor="ctr">
            <a:spAutoFit/>
          </a:bodyPr>
          <a:lstStyle/>
          <a:p>
            <a:pPr algn="ctr">
              <a:spcBef>
                <a:spcPts val="0"/>
              </a:spcBef>
              <a:spcAft>
                <a:spcPts val="0"/>
              </a:spcAft>
            </a:pPr>
            <a:r>
              <a:rPr sz="850" b="1">
                <a:solidFill>
                  <a:srgbClr val="FFFFFF"/>
                </a:solidFill>
                <a:latin typeface="Aptos"/>
              </a:rPr>
              <a:t>01</a:t>
            </a:r>
          </a:p>
        </p:txBody>
      </p:sp>
      <p:sp>
        <p:nvSpPr>
          <p:cNvPr id="10" name="TextBox 9"/>
          <p:cNvSpPr txBox="1"/>
          <p:nvPr/>
        </p:nvSpPr>
        <p:spPr>
          <a:xfrm>
            <a:off x="1115568" y="1563624"/>
            <a:ext cx="1298448" cy="310896"/>
          </a:xfrm>
          <a:prstGeom prst="rect">
            <a:avLst/>
          </a:prstGeom>
          <a:noFill/>
        </p:spPr>
        <p:txBody>
          <a:bodyPr wrap="square" lIns="0" tIns="4572" rIns="0" bIns="4572" anchor="ctr">
            <a:spAutoFit/>
          </a:bodyPr>
          <a:lstStyle/>
          <a:p>
            <a:pPr algn="l">
              <a:spcBef>
                <a:spcPts val="0"/>
              </a:spcBef>
              <a:spcAft>
                <a:spcPts val="0"/>
              </a:spcAft>
            </a:pPr>
            <a:r>
              <a:rPr sz="1010" b="1">
                <a:solidFill>
                  <a:srgbClr val="1A304B"/>
                </a:solidFill>
                <a:latin typeface="Aptos"/>
              </a:rPr>
              <a:t>INITIALIZE</a:t>
            </a:r>
          </a:p>
        </p:txBody>
      </p:sp>
      <p:sp>
        <p:nvSpPr>
          <p:cNvPr id="11" name="TextBox 10"/>
          <p:cNvSpPr txBox="1"/>
          <p:nvPr/>
        </p:nvSpPr>
        <p:spPr>
          <a:xfrm>
            <a:off x="685800" y="1984248"/>
            <a:ext cx="1700784" cy="438912"/>
          </a:xfrm>
          <a:prstGeom prst="rect">
            <a:avLst/>
          </a:prstGeom>
          <a:noFill/>
        </p:spPr>
        <p:txBody>
          <a:bodyPr wrap="square" lIns="9144" tIns="4572" rIns="9144" bIns="4572" anchor="ctr">
            <a:spAutoFit/>
          </a:bodyPr>
          <a:lstStyle/>
          <a:p>
            <a:pPr algn="ctr">
              <a:spcBef>
                <a:spcPts val="0"/>
              </a:spcBef>
              <a:spcAft>
                <a:spcPts val="0"/>
              </a:spcAft>
            </a:pPr>
            <a:r>
              <a:rPr sz="880" b="0">
                <a:solidFill>
                  <a:srgbClr val="60758F"/>
                </a:solidFill>
                <a:latin typeface="Aptos"/>
              </a:rPr>
              <a:t>Configure clocks, GPIO,
I²C, ADC and timers</a:t>
            </a:r>
          </a:p>
        </p:txBody>
      </p:sp>
      <p:sp>
        <p:nvSpPr>
          <p:cNvPr id="12" name="Rounded Rectangle 11"/>
          <p:cNvSpPr/>
          <p:nvPr/>
        </p:nvSpPr>
        <p:spPr>
          <a:xfrm>
            <a:off x="2788920" y="1417320"/>
            <a:ext cx="2011680" cy="1170432"/>
          </a:xfrm>
          <a:prstGeom prst="roundRect">
            <a:avLst>
              <a:gd name="adj" fmla="val 12000"/>
            </a:avLst>
          </a:prstGeom>
          <a:solidFill>
            <a:srgbClr val="FFFFFF"/>
          </a:solidFill>
          <a:ln w="1143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926079" y="1563624"/>
            <a:ext cx="365760" cy="329184"/>
          </a:xfrm>
          <a:prstGeom prst="roundRect">
            <a:avLst>
              <a:gd name="adj" fmla="val 12000"/>
            </a:avLst>
          </a:prstGeom>
          <a:solidFill>
            <a:srgbClr val="009AA6"/>
          </a:solidFill>
          <a:ln w="2540">
            <a:solidFill>
              <a:srgbClr val="009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79" y="1563624"/>
            <a:ext cx="365760" cy="320040"/>
          </a:xfrm>
          <a:prstGeom prst="rect">
            <a:avLst/>
          </a:prstGeom>
          <a:noFill/>
        </p:spPr>
        <p:txBody>
          <a:bodyPr wrap="square" lIns="0" tIns="4572" rIns="0" bIns="4572" anchor="ctr">
            <a:spAutoFit/>
          </a:bodyPr>
          <a:lstStyle/>
          <a:p>
            <a:pPr algn="ctr">
              <a:spcBef>
                <a:spcPts val="0"/>
              </a:spcBef>
              <a:spcAft>
                <a:spcPts val="0"/>
              </a:spcAft>
            </a:pPr>
            <a:r>
              <a:rPr sz="850" b="1">
                <a:solidFill>
                  <a:srgbClr val="FFFFFF"/>
                </a:solidFill>
                <a:latin typeface="Aptos"/>
              </a:rPr>
              <a:t>02</a:t>
            </a:r>
          </a:p>
        </p:txBody>
      </p:sp>
      <p:sp>
        <p:nvSpPr>
          <p:cNvPr id="15" name="TextBox 14"/>
          <p:cNvSpPr txBox="1"/>
          <p:nvPr/>
        </p:nvSpPr>
        <p:spPr>
          <a:xfrm>
            <a:off x="3374136" y="1563624"/>
            <a:ext cx="1298448" cy="310896"/>
          </a:xfrm>
          <a:prstGeom prst="rect">
            <a:avLst/>
          </a:prstGeom>
          <a:noFill/>
        </p:spPr>
        <p:txBody>
          <a:bodyPr wrap="square" lIns="0" tIns="4572" rIns="0" bIns="4572" anchor="ctr">
            <a:spAutoFit/>
          </a:bodyPr>
          <a:lstStyle/>
          <a:p>
            <a:pPr algn="l">
              <a:spcBef>
                <a:spcPts val="0"/>
              </a:spcBef>
              <a:spcAft>
                <a:spcPts val="0"/>
              </a:spcAft>
            </a:pPr>
            <a:r>
              <a:rPr sz="1010" b="1">
                <a:solidFill>
                  <a:srgbClr val="1A304B"/>
                </a:solidFill>
                <a:latin typeface="Aptos"/>
              </a:rPr>
              <a:t>ACQUIRE</a:t>
            </a:r>
          </a:p>
        </p:txBody>
      </p:sp>
      <p:sp>
        <p:nvSpPr>
          <p:cNvPr id="16" name="TextBox 15"/>
          <p:cNvSpPr txBox="1"/>
          <p:nvPr/>
        </p:nvSpPr>
        <p:spPr>
          <a:xfrm>
            <a:off x="2944368" y="1984248"/>
            <a:ext cx="1700784" cy="438912"/>
          </a:xfrm>
          <a:prstGeom prst="rect">
            <a:avLst/>
          </a:prstGeom>
          <a:noFill/>
        </p:spPr>
        <p:txBody>
          <a:bodyPr wrap="square" lIns="9144" tIns="4572" rIns="9144" bIns="4572" anchor="ctr">
            <a:spAutoFit/>
          </a:bodyPr>
          <a:lstStyle/>
          <a:p>
            <a:pPr algn="ctr">
              <a:spcBef>
                <a:spcPts val="0"/>
              </a:spcBef>
              <a:spcAft>
                <a:spcPts val="0"/>
              </a:spcAft>
            </a:pPr>
            <a:r>
              <a:rPr sz="880" b="0">
                <a:solidFill>
                  <a:srgbClr val="60758F"/>
                </a:solidFill>
                <a:latin typeface="Aptos"/>
              </a:rPr>
              <a:t>Read motion, temperature
and obstacle distance</a:t>
            </a:r>
          </a:p>
        </p:txBody>
      </p:sp>
      <p:sp>
        <p:nvSpPr>
          <p:cNvPr id="17" name="Rounded Rectangle 16"/>
          <p:cNvSpPr/>
          <p:nvPr/>
        </p:nvSpPr>
        <p:spPr>
          <a:xfrm>
            <a:off x="5047488" y="1417320"/>
            <a:ext cx="2011680" cy="1170432"/>
          </a:xfrm>
          <a:prstGeom prst="roundRect">
            <a:avLst>
              <a:gd name="adj" fmla="val 12000"/>
            </a:avLst>
          </a:prstGeom>
          <a:solidFill>
            <a:srgbClr val="FFFFFF"/>
          </a:solidFill>
          <a:ln w="1143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184648" y="1563624"/>
            <a:ext cx="365760" cy="329184"/>
          </a:xfrm>
          <a:prstGeom prst="roundRect">
            <a:avLst>
              <a:gd name="adj" fmla="val 12000"/>
            </a:avLst>
          </a:prstGeom>
          <a:solidFill>
            <a:srgbClr val="7860C8"/>
          </a:solidFill>
          <a:ln w="2540">
            <a:solidFill>
              <a:srgbClr val="786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84648" y="1563624"/>
            <a:ext cx="365760" cy="320040"/>
          </a:xfrm>
          <a:prstGeom prst="rect">
            <a:avLst/>
          </a:prstGeom>
          <a:noFill/>
        </p:spPr>
        <p:txBody>
          <a:bodyPr wrap="square" lIns="0" tIns="4572" rIns="0" bIns="4572" anchor="ctr">
            <a:spAutoFit/>
          </a:bodyPr>
          <a:lstStyle/>
          <a:p>
            <a:pPr algn="ctr">
              <a:spcBef>
                <a:spcPts val="0"/>
              </a:spcBef>
              <a:spcAft>
                <a:spcPts val="0"/>
              </a:spcAft>
            </a:pPr>
            <a:r>
              <a:rPr sz="850" b="1">
                <a:solidFill>
                  <a:srgbClr val="FFFFFF"/>
                </a:solidFill>
                <a:latin typeface="Aptos"/>
              </a:rPr>
              <a:t>03</a:t>
            </a:r>
          </a:p>
        </p:txBody>
      </p:sp>
      <p:sp>
        <p:nvSpPr>
          <p:cNvPr id="20" name="TextBox 19"/>
          <p:cNvSpPr txBox="1"/>
          <p:nvPr/>
        </p:nvSpPr>
        <p:spPr>
          <a:xfrm>
            <a:off x="5632703" y="1563624"/>
            <a:ext cx="1298448" cy="310896"/>
          </a:xfrm>
          <a:prstGeom prst="rect">
            <a:avLst/>
          </a:prstGeom>
          <a:noFill/>
        </p:spPr>
        <p:txBody>
          <a:bodyPr wrap="square" lIns="0" tIns="4572" rIns="0" bIns="4572" anchor="ctr">
            <a:spAutoFit/>
          </a:bodyPr>
          <a:lstStyle/>
          <a:p>
            <a:pPr algn="l">
              <a:spcBef>
                <a:spcPts val="0"/>
              </a:spcBef>
              <a:spcAft>
                <a:spcPts val="0"/>
              </a:spcAft>
            </a:pPr>
            <a:r>
              <a:rPr sz="1010" b="1">
                <a:solidFill>
                  <a:srgbClr val="1A304B"/>
                </a:solidFill>
                <a:latin typeface="Aptos"/>
              </a:rPr>
              <a:t>VALIDATE</a:t>
            </a:r>
          </a:p>
        </p:txBody>
      </p:sp>
      <p:sp>
        <p:nvSpPr>
          <p:cNvPr id="21" name="TextBox 20"/>
          <p:cNvSpPr txBox="1"/>
          <p:nvPr/>
        </p:nvSpPr>
        <p:spPr>
          <a:xfrm>
            <a:off x="5202936" y="1984248"/>
            <a:ext cx="1700784" cy="438912"/>
          </a:xfrm>
          <a:prstGeom prst="rect">
            <a:avLst/>
          </a:prstGeom>
          <a:noFill/>
        </p:spPr>
        <p:txBody>
          <a:bodyPr wrap="square" lIns="9144" tIns="4572" rIns="9144" bIns="4572" anchor="ctr">
            <a:spAutoFit/>
          </a:bodyPr>
          <a:lstStyle/>
          <a:p>
            <a:pPr algn="ctr">
              <a:spcBef>
                <a:spcPts val="0"/>
              </a:spcBef>
              <a:spcAft>
                <a:spcPts val="0"/>
              </a:spcAft>
            </a:pPr>
            <a:r>
              <a:rPr sz="880" b="0">
                <a:solidFill>
                  <a:srgbClr val="60758F"/>
                </a:solidFill>
                <a:latin typeface="Aptos"/>
              </a:rPr>
              <a:t>Check range, sensor status
and timeout conditions</a:t>
            </a:r>
          </a:p>
        </p:txBody>
      </p:sp>
      <p:sp>
        <p:nvSpPr>
          <p:cNvPr id="22" name="Rounded Rectangle 21"/>
          <p:cNvSpPr/>
          <p:nvPr/>
        </p:nvSpPr>
        <p:spPr>
          <a:xfrm>
            <a:off x="7306056" y="1417320"/>
            <a:ext cx="2011680" cy="1170432"/>
          </a:xfrm>
          <a:prstGeom prst="roundRect">
            <a:avLst>
              <a:gd name="adj" fmla="val 12000"/>
            </a:avLst>
          </a:prstGeom>
          <a:solidFill>
            <a:srgbClr val="FFFFFF"/>
          </a:solidFill>
          <a:ln w="1143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443216" y="1563624"/>
            <a:ext cx="365760" cy="329184"/>
          </a:xfrm>
          <a:prstGeom prst="roundRect">
            <a:avLst>
              <a:gd name="adj" fmla="val 12000"/>
            </a:avLst>
          </a:prstGeom>
          <a:solidFill>
            <a:srgbClr val="B96C0A"/>
          </a:solidFill>
          <a:ln w="2540">
            <a:solidFill>
              <a:srgbClr val="B96C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43216" y="1563624"/>
            <a:ext cx="365760" cy="320040"/>
          </a:xfrm>
          <a:prstGeom prst="rect">
            <a:avLst/>
          </a:prstGeom>
          <a:noFill/>
        </p:spPr>
        <p:txBody>
          <a:bodyPr wrap="square" lIns="0" tIns="4572" rIns="0" bIns="4572" anchor="ctr">
            <a:spAutoFit/>
          </a:bodyPr>
          <a:lstStyle/>
          <a:p>
            <a:pPr algn="ctr">
              <a:spcBef>
                <a:spcPts val="0"/>
              </a:spcBef>
              <a:spcAft>
                <a:spcPts val="0"/>
              </a:spcAft>
            </a:pPr>
            <a:r>
              <a:rPr sz="850" b="1">
                <a:solidFill>
                  <a:srgbClr val="FFFFFF"/>
                </a:solidFill>
                <a:latin typeface="Aptos"/>
              </a:rPr>
              <a:t>04</a:t>
            </a:r>
          </a:p>
        </p:txBody>
      </p:sp>
      <p:sp>
        <p:nvSpPr>
          <p:cNvPr id="25" name="TextBox 24"/>
          <p:cNvSpPr txBox="1"/>
          <p:nvPr/>
        </p:nvSpPr>
        <p:spPr>
          <a:xfrm>
            <a:off x="7891272" y="1563624"/>
            <a:ext cx="1298448" cy="310896"/>
          </a:xfrm>
          <a:prstGeom prst="rect">
            <a:avLst/>
          </a:prstGeom>
          <a:noFill/>
        </p:spPr>
        <p:txBody>
          <a:bodyPr wrap="square" lIns="0" tIns="4572" rIns="0" bIns="4572" anchor="ctr">
            <a:spAutoFit/>
          </a:bodyPr>
          <a:lstStyle/>
          <a:p>
            <a:pPr algn="l">
              <a:spcBef>
                <a:spcPts val="0"/>
              </a:spcBef>
              <a:spcAft>
                <a:spcPts val="0"/>
              </a:spcAft>
            </a:pPr>
            <a:r>
              <a:rPr sz="1010" b="1">
                <a:solidFill>
                  <a:srgbClr val="1A304B"/>
                </a:solidFill>
                <a:latin typeface="Aptos"/>
              </a:rPr>
              <a:t>CLASSIFY</a:t>
            </a:r>
          </a:p>
        </p:txBody>
      </p:sp>
      <p:sp>
        <p:nvSpPr>
          <p:cNvPr id="26" name="TextBox 25"/>
          <p:cNvSpPr txBox="1"/>
          <p:nvPr/>
        </p:nvSpPr>
        <p:spPr>
          <a:xfrm>
            <a:off x="7461504" y="1984248"/>
            <a:ext cx="1700784" cy="438912"/>
          </a:xfrm>
          <a:prstGeom prst="rect">
            <a:avLst/>
          </a:prstGeom>
          <a:noFill/>
        </p:spPr>
        <p:txBody>
          <a:bodyPr wrap="square" lIns="9144" tIns="4572" rIns="9144" bIns="4572" anchor="ctr">
            <a:spAutoFit/>
          </a:bodyPr>
          <a:lstStyle/>
          <a:p>
            <a:pPr algn="ctr">
              <a:spcBef>
                <a:spcPts val="0"/>
              </a:spcBef>
              <a:spcAft>
                <a:spcPts val="0"/>
              </a:spcAft>
            </a:pPr>
            <a:r>
              <a:rPr sz="880" b="0">
                <a:solidFill>
                  <a:srgbClr val="60758F"/>
                </a:solidFill>
                <a:latin typeface="Aptos"/>
              </a:rPr>
              <a:t>Filter readings; compare
with configured thresholds</a:t>
            </a:r>
          </a:p>
        </p:txBody>
      </p:sp>
      <p:sp>
        <p:nvSpPr>
          <p:cNvPr id="27" name="Rounded Rectangle 26"/>
          <p:cNvSpPr/>
          <p:nvPr/>
        </p:nvSpPr>
        <p:spPr>
          <a:xfrm>
            <a:off x="9564624" y="1417320"/>
            <a:ext cx="2084831" cy="1170432"/>
          </a:xfrm>
          <a:prstGeom prst="roundRect">
            <a:avLst>
              <a:gd name="adj" fmla="val 12000"/>
            </a:avLst>
          </a:prstGeom>
          <a:solidFill>
            <a:srgbClr val="FFFFFF"/>
          </a:solidFill>
          <a:ln w="1143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01784" y="1563624"/>
            <a:ext cx="365760" cy="329184"/>
          </a:xfrm>
          <a:prstGeom prst="roundRect">
            <a:avLst>
              <a:gd name="adj" fmla="val 12000"/>
            </a:avLst>
          </a:prstGeom>
          <a:solidFill>
            <a:srgbClr val="27866F"/>
          </a:solidFill>
          <a:ln w="2540">
            <a:solidFill>
              <a:srgbClr val="2786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01784" y="1563624"/>
            <a:ext cx="365760" cy="320040"/>
          </a:xfrm>
          <a:prstGeom prst="rect">
            <a:avLst/>
          </a:prstGeom>
          <a:noFill/>
        </p:spPr>
        <p:txBody>
          <a:bodyPr wrap="square" lIns="0" tIns="4572" rIns="0" bIns="4572" anchor="ctr">
            <a:spAutoFit/>
          </a:bodyPr>
          <a:lstStyle/>
          <a:p>
            <a:pPr algn="ctr">
              <a:spcBef>
                <a:spcPts val="0"/>
              </a:spcBef>
              <a:spcAft>
                <a:spcPts val="0"/>
              </a:spcAft>
            </a:pPr>
            <a:r>
              <a:rPr sz="850" b="1">
                <a:solidFill>
                  <a:srgbClr val="FFFFFF"/>
                </a:solidFill>
                <a:latin typeface="Aptos"/>
              </a:rPr>
              <a:t>05</a:t>
            </a:r>
          </a:p>
        </p:txBody>
      </p:sp>
      <p:sp>
        <p:nvSpPr>
          <p:cNvPr id="30" name="TextBox 29"/>
          <p:cNvSpPr txBox="1"/>
          <p:nvPr/>
        </p:nvSpPr>
        <p:spPr>
          <a:xfrm>
            <a:off x="10149840" y="1563624"/>
            <a:ext cx="1371599" cy="310896"/>
          </a:xfrm>
          <a:prstGeom prst="rect">
            <a:avLst/>
          </a:prstGeom>
          <a:noFill/>
        </p:spPr>
        <p:txBody>
          <a:bodyPr wrap="square" lIns="0" tIns="4572" rIns="0" bIns="4572" anchor="ctr">
            <a:spAutoFit/>
          </a:bodyPr>
          <a:lstStyle/>
          <a:p>
            <a:pPr algn="l">
              <a:spcBef>
                <a:spcPts val="0"/>
              </a:spcBef>
              <a:spcAft>
                <a:spcPts val="0"/>
              </a:spcAft>
            </a:pPr>
            <a:r>
              <a:rPr sz="1010" b="1">
                <a:solidFill>
                  <a:srgbClr val="1A304B"/>
                </a:solidFill>
                <a:latin typeface="Aptos"/>
              </a:rPr>
              <a:t>ROUTE EVENT</a:t>
            </a:r>
          </a:p>
        </p:txBody>
      </p:sp>
      <p:sp>
        <p:nvSpPr>
          <p:cNvPr id="31" name="TextBox 30"/>
          <p:cNvSpPr txBox="1"/>
          <p:nvPr/>
        </p:nvSpPr>
        <p:spPr>
          <a:xfrm>
            <a:off x="9720072" y="1984248"/>
            <a:ext cx="1773935" cy="438912"/>
          </a:xfrm>
          <a:prstGeom prst="rect">
            <a:avLst/>
          </a:prstGeom>
          <a:noFill/>
        </p:spPr>
        <p:txBody>
          <a:bodyPr wrap="square" lIns="9144" tIns="4572" rIns="9144" bIns="4572" anchor="ctr">
            <a:spAutoFit/>
          </a:bodyPr>
          <a:lstStyle/>
          <a:p>
            <a:pPr algn="ctr">
              <a:spcBef>
                <a:spcPts val="0"/>
              </a:spcBef>
              <a:spcAft>
                <a:spcPts val="0"/>
              </a:spcAft>
            </a:pPr>
            <a:r>
              <a:rPr sz="880" b="0">
                <a:solidFill>
                  <a:srgbClr val="60758F"/>
                </a:solidFill>
                <a:latin typeface="Aptos"/>
              </a:rPr>
              <a:t>Publish a typed event to
the selected interface</a:t>
            </a:r>
          </a:p>
        </p:txBody>
      </p:sp>
      <p:cxnSp>
        <p:nvCxnSpPr>
          <p:cNvPr id="32" name="Connector 31"/>
          <p:cNvCxnSpPr/>
          <p:nvPr/>
        </p:nvCxnSpPr>
        <p:spPr>
          <a:xfrm>
            <a:off x="2560320" y="1993392"/>
            <a:ext cx="182880" cy="0"/>
          </a:xfrm>
          <a:prstGeom prst="line">
            <a:avLst/>
          </a:prstGeom>
          <a:ln w="20320">
            <a:solidFill>
              <a:srgbClr val="2B73C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18888" y="1993392"/>
            <a:ext cx="182880" cy="0"/>
          </a:xfrm>
          <a:prstGeom prst="line">
            <a:avLst/>
          </a:prstGeom>
          <a:ln w="20320">
            <a:solidFill>
              <a:srgbClr val="009AA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77456" y="1993392"/>
            <a:ext cx="182880" cy="0"/>
          </a:xfrm>
          <a:prstGeom prst="line">
            <a:avLst/>
          </a:prstGeom>
          <a:ln w="20320">
            <a:solidFill>
              <a:srgbClr val="7860C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336024" y="1993392"/>
            <a:ext cx="182880" cy="0"/>
          </a:xfrm>
          <a:prstGeom prst="line">
            <a:avLst/>
          </a:prstGeom>
          <a:ln w="20320">
            <a:solidFill>
              <a:srgbClr val="B96C0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30352" y="2834640"/>
            <a:ext cx="6446520" cy="2395728"/>
          </a:xfrm>
          <a:prstGeom prst="roundRect">
            <a:avLst>
              <a:gd name="adj" fmla="val 12000"/>
            </a:avLst>
          </a:prstGeom>
          <a:solidFill>
            <a:srgbClr val="FFFFFF"/>
          </a:solidFill>
          <a:ln w="1270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9808" y="2953512"/>
            <a:ext cx="5989320" cy="237744"/>
          </a:xfrm>
          <a:prstGeom prst="rect">
            <a:avLst/>
          </a:prstGeom>
          <a:noFill/>
        </p:spPr>
        <p:txBody>
          <a:bodyPr wrap="square" lIns="0" tIns="4572" rIns="0" bIns="4572" anchor="ctr">
            <a:spAutoFit/>
          </a:bodyPr>
          <a:lstStyle/>
          <a:p>
            <a:pPr algn="l">
              <a:spcBef>
                <a:spcPts val="0"/>
              </a:spcBef>
              <a:spcAft>
                <a:spcPts val="0"/>
              </a:spcAft>
            </a:pPr>
            <a:r>
              <a:rPr sz="1010" b="1">
                <a:solidFill>
                  <a:srgbClr val="009AA6"/>
                </a:solidFill>
                <a:latin typeface="Aptos"/>
              </a:rPr>
              <a:t>EVENT CLASSIFICATION POLICY</a:t>
            </a:r>
          </a:p>
        </p:txBody>
      </p:sp>
      <p:sp>
        <p:nvSpPr>
          <p:cNvPr id="38" name="TextBox 37"/>
          <p:cNvSpPr txBox="1"/>
          <p:nvPr/>
        </p:nvSpPr>
        <p:spPr>
          <a:xfrm>
            <a:off x="749808" y="3218688"/>
            <a:ext cx="5989320" cy="219456"/>
          </a:xfrm>
          <a:prstGeom prst="rect">
            <a:avLst/>
          </a:prstGeom>
          <a:noFill/>
        </p:spPr>
        <p:txBody>
          <a:bodyPr wrap="square" lIns="0" tIns="4572" rIns="0" bIns="4572" anchor="ctr">
            <a:spAutoFit/>
          </a:bodyPr>
          <a:lstStyle/>
          <a:p>
            <a:pPr algn="l">
              <a:spcBef>
                <a:spcPts val="0"/>
              </a:spcBef>
              <a:spcAft>
                <a:spcPts val="0"/>
              </a:spcAft>
            </a:pPr>
            <a:r>
              <a:rPr sz="850" b="0">
                <a:solidFill>
                  <a:srgbClr val="60758F"/>
                </a:solidFill>
                <a:latin typeface="Aptos"/>
              </a:rPr>
              <a:t>Thresholds and event rules are firmware-configurable; exact values must be established during testing.</a:t>
            </a:r>
          </a:p>
        </p:txBody>
      </p:sp>
      <p:sp>
        <p:nvSpPr>
          <p:cNvPr id="39" name="Rounded Rectangle 38"/>
          <p:cNvSpPr/>
          <p:nvPr/>
        </p:nvSpPr>
        <p:spPr>
          <a:xfrm>
            <a:off x="749808" y="3529584"/>
            <a:ext cx="1243584" cy="310896"/>
          </a:xfrm>
          <a:prstGeom prst="roundRect">
            <a:avLst>
              <a:gd name="adj" fmla="val 12000"/>
            </a:avLst>
          </a:prstGeom>
          <a:solidFill>
            <a:srgbClr val="EAF2FC"/>
          </a:solidFill>
          <a:ln w="254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04671" y="3538727"/>
            <a:ext cx="1133856" cy="283464"/>
          </a:xfrm>
          <a:prstGeom prst="rect">
            <a:avLst/>
          </a:prstGeom>
          <a:noFill/>
        </p:spPr>
        <p:txBody>
          <a:bodyPr wrap="square" lIns="4572" tIns="4572" rIns="4572" bIns="4572" anchor="ctr">
            <a:spAutoFit/>
          </a:bodyPr>
          <a:lstStyle/>
          <a:p>
            <a:pPr algn="l">
              <a:spcBef>
                <a:spcPts val="0"/>
              </a:spcBef>
              <a:spcAft>
                <a:spcPts val="0"/>
              </a:spcAft>
            </a:pPr>
            <a:r>
              <a:rPr sz="770" b="1">
                <a:solidFill>
                  <a:srgbClr val="2B73C7"/>
                </a:solidFill>
                <a:latin typeface="Aptos"/>
              </a:rPr>
              <a:t>EVENT TYPE</a:t>
            </a:r>
          </a:p>
        </p:txBody>
      </p:sp>
      <p:sp>
        <p:nvSpPr>
          <p:cNvPr id="41" name="Rounded Rectangle 40"/>
          <p:cNvSpPr/>
          <p:nvPr/>
        </p:nvSpPr>
        <p:spPr>
          <a:xfrm>
            <a:off x="1993392" y="3529584"/>
            <a:ext cx="2075688" cy="310896"/>
          </a:xfrm>
          <a:prstGeom prst="roundRect">
            <a:avLst>
              <a:gd name="adj" fmla="val 12000"/>
            </a:avLst>
          </a:prstGeom>
          <a:solidFill>
            <a:srgbClr val="EAF2FC"/>
          </a:solidFill>
          <a:ln w="254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048256" y="3538727"/>
            <a:ext cx="1965960" cy="283464"/>
          </a:xfrm>
          <a:prstGeom prst="rect">
            <a:avLst/>
          </a:prstGeom>
          <a:noFill/>
        </p:spPr>
        <p:txBody>
          <a:bodyPr wrap="square" lIns="4572" tIns="4572" rIns="4572" bIns="4572" anchor="ctr">
            <a:spAutoFit/>
          </a:bodyPr>
          <a:lstStyle/>
          <a:p>
            <a:pPr algn="l">
              <a:spcBef>
                <a:spcPts val="0"/>
              </a:spcBef>
              <a:spcAft>
                <a:spcPts val="0"/>
              </a:spcAft>
            </a:pPr>
            <a:r>
              <a:rPr sz="770" b="1">
                <a:solidFill>
                  <a:srgbClr val="2B73C7"/>
                </a:solidFill>
                <a:latin typeface="Aptos"/>
              </a:rPr>
              <a:t>CLASSIFICATION RULE</a:t>
            </a:r>
          </a:p>
        </p:txBody>
      </p:sp>
      <p:sp>
        <p:nvSpPr>
          <p:cNvPr id="43" name="Rounded Rectangle 42"/>
          <p:cNvSpPr/>
          <p:nvPr/>
        </p:nvSpPr>
        <p:spPr>
          <a:xfrm>
            <a:off x="4069080" y="3529584"/>
            <a:ext cx="2633472" cy="310896"/>
          </a:xfrm>
          <a:prstGeom prst="roundRect">
            <a:avLst>
              <a:gd name="adj" fmla="val 12000"/>
            </a:avLst>
          </a:prstGeom>
          <a:solidFill>
            <a:srgbClr val="EAF2FC"/>
          </a:solidFill>
          <a:ln w="2540">
            <a:solidFill>
              <a:srgbClr val="EAF2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123944" y="3538727"/>
            <a:ext cx="2523744" cy="283464"/>
          </a:xfrm>
          <a:prstGeom prst="rect">
            <a:avLst/>
          </a:prstGeom>
          <a:noFill/>
        </p:spPr>
        <p:txBody>
          <a:bodyPr wrap="square" lIns="4572" tIns="4572" rIns="4572" bIns="4572" anchor="ctr">
            <a:spAutoFit/>
          </a:bodyPr>
          <a:lstStyle/>
          <a:p>
            <a:pPr algn="l">
              <a:spcBef>
                <a:spcPts val="0"/>
              </a:spcBef>
              <a:spcAft>
                <a:spcPts val="0"/>
              </a:spcAft>
            </a:pPr>
            <a:r>
              <a:rPr sz="770" b="1">
                <a:solidFill>
                  <a:srgbClr val="2B73C7"/>
                </a:solidFill>
                <a:latin typeface="Aptos"/>
              </a:rPr>
              <a:t>EVENT STATE / HANDOFF</a:t>
            </a:r>
          </a:p>
        </p:txBody>
      </p:sp>
      <p:sp>
        <p:nvSpPr>
          <p:cNvPr id="45" name="Rectangle 44"/>
          <p:cNvSpPr/>
          <p:nvPr/>
        </p:nvSpPr>
        <p:spPr>
          <a:xfrm>
            <a:off x="749808" y="3886200"/>
            <a:ext cx="1243584" cy="365760"/>
          </a:xfrm>
          <a:prstGeom prst="rect">
            <a:avLst/>
          </a:prstGeom>
          <a:solidFill>
            <a:srgbClr val="F8FAFD"/>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993392" y="3886200"/>
            <a:ext cx="2075688" cy="365760"/>
          </a:xfrm>
          <a:prstGeom prst="rect">
            <a:avLst/>
          </a:prstGeom>
          <a:solidFill>
            <a:srgbClr val="F8FAFD"/>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069080" y="3886200"/>
            <a:ext cx="2633472" cy="365760"/>
          </a:xfrm>
          <a:prstGeom prst="rect">
            <a:avLst/>
          </a:prstGeom>
          <a:solidFill>
            <a:srgbClr val="F8FAFD"/>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59" y="3904487"/>
            <a:ext cx="1097280" cy="329184"/>
          </a:xfrm>
          <a:prstGeom prst="rect">
            <a:avLst/>
          </a:prstGeom>
          <a:noFill/>
        </p:spPr>
        <p:txBody>
          <a:bodyPr wrap="square" lIns="4572" tIns="4572" rIns="4572" bIns="4572" anchor="ctr">
            <a:spAutoFit/>
          </a:bodyPr>
          <a:lstStyle/>
          <a:p>
            <a:pPr algn="l">
              <a:spcBef>
                <a:spcPts val="0"/>
              </a:spcBef>
              <a:spcAft>
                <a:spcPts val="0"/>
              </a:spcAft>
            </a:pPr>
            <a:r>
              <a:rPr sz="780" b="1">
                <a:solidFill>
                  <a:srgbClr val="009AA6"/>
                </a:solidFill>
                <a:latin typeface="Aptos"/>
              </a:rPr>
              <a:t>MOTION</a:t>
            </a:r>
          </a:p>
        </p:txBody>
      </p:sp>
      <p:sp>
        <p:nvSpPr>
          <p:cNvPr id="49" name="TextBox 48"/>
          <p:cNvSpPr txBox="1"/>
          <p:nvPr/>
        </p:nvSpPr>
        <p:spPr>
          <a:xfrm>
            <a:off x="2066544" y="3895344"/>
            <a:ext cx="1929384" cy="347472"/>
          </a:xfrm>
          <a:prstGeom prst="rect">
            <a:avLst/>
          </a:prstGeom>
          <a:noFill/>
        </p:spPr>
        <p:txBody>
          <a:bodyPr wrap="square" lIns="4572" tIns="4572" rIns="4572" bIns="4572" anchor="ctr">
            <a:spAutoFit/>
          </a:bodyPr>
          <a:lstStyle/>
          <a:p>
            <a:pPr algn="l">
              <a:spcBef>
                <a:spcPts val="0"/>
              </a:spcBef>
              <a:spcAft>
                <a:spcPts val="0"/>
              </a:spcAft>
            </a:pPr>
            <a:r>
              <a:rPr sz="760" b="0">
                <a:solidFill>
                  <a:srgbClr val="243B56"/>
                </a:solidFill>
                <a:latin typeface="Aptos"/>
              </a:rPr>
              <a:t>Filtered acceleration / rotation
meets configured criterion</a:t>
            </a:r>
          </a:p>
        </p:txBody>
      </p:sp>
      <p:sp>
        <p:nvSpPr>
          <p:cNvPr id="50" name="TextBox 49"/>
          <p:cNvSpPr txBox="1"/>
          <p:nvPr/>
        </p:nvSpPr>
        <p:spPr>
          <a:xfrm>
            <a:off x="4142232" y="3895344"/>
            <a:ext cx="2487168" cy="347472"/>
          </a:xfrm>
          <a:prstGeom prst="rect">
            <a:avLst/>
          </a:prstGeom>
          <a:noFill/>
        </p:spPr>
        <p:txBody>
          <a:bodyPr wrap="square" lIns="4572" tIns="4572" rIns="4572" bIns="4572" anchor="ctr">
            <a:spAutoFit/>
          </a:bodyPr>
          <a:lstStyle/>
          <a:p>
            <a:pPr algn="l">
              <a:spcBef>
                <a:spcPts val="0"/>
              </a:spcBef>
              <a:spcAft>
                <a:spcPts val="0"/>
              </a:spcAft>
            </a:pPr>
            <a:r>
              <a:rPr sz="760" b="0">
                <a:solidFill>
                  <a:srgbClr val="243B56"/>
                </a:solidFill>
                <a:latin typeface="Aptos"/>
              </a:rPr>
              <a:t>Set motion-event flag;
attach measured values</a:t>
            </a:r>
          </a:p>
        </p:txBody>
      </p:sp>
      <p:sp>
        <p:nvSpPr>
          <p:cNvPr id="51" name="Rectangle 50"/>
          <p:cNvSpPr/>
          <p:nvPr/>
        </p:nvSpPr>
        <p:spPr>
          <a:xfrm>
            <a:off x="749808" y="4279392"/>
            <a:ext cx="1243584" cy="365760"/>
          </a:xfrm>
          <a:prstGeom prst="rect">
            <a:avLst/>
          </a:prstGeom>
          <a:solidFill>
            <a:srgbClr val="FFFFFF"/>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993392" y="4279392"/>
            <a:ext cx="2075688" cy="365760"/>
          </a:xfrm>
          <a:prstGeom prst="rect">
            <a:avLst/>
          </a:prstGeom>
          <a:solidFill>
            <a:srgbClr val="FFFFFF"/>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069080" y="4279392"/>
            <a:ext cx="2633472" cy="365760"/>
          </a:xfrm>
          <a:prstGeom prst="rect">
            <a:avLst/>
          </a:prstGeom>
          <a:solidFill>
            <a:srgbClr val="FFFFFF"/>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22959" y="4297679"/>
            <a:ext cx="1097280" cy="329184"/>
          </a:xfrm>
          <a:prstGeom prst="rect">
            <a:avLst/>
          </a:prstGeom>
          <a:noFill/>
        </p:spPr>
        <p:txBody>
          <a:bodyPr wrap="square" lIns="4572" tIns="4572" rIns="4572" bIns="4572" anchor="ctr">
            <a:spAutoFit/>
          </a:bodyPr>
          <a:lstStyle/>
          <a:p>
            <a:pPr algn="l">
              <a:spcBef>
                <a:spcPts val="0"/>
              </a:spcBef>
              <a:spcAft>
                <a:spcPts val="0"/>
              </a:spcAft>
            </a:pPr>
            <a:r>
              <a:rPr sz="780" b="1">
                <a:solidFill>
                  <a:srgbClr val="2B73C7"/>
                </a:solidFill>
                <a:latin typeface="Aptos"/>
              </a:rPr>
              <a:t>TEMPERATURE</a:t>
            </a:r>
          </a:p>
        </p:txBody>
      </p:sp>
      <p:sp>
        <p:nvSpPr>
          <p:cNvPr id="55" name="TextBox 54"/>
          <p:cNvSpPr txBox="1"/>
          <p:nvPr/>
        </p:nvSpPr>
        <p:spPr>
          <a:xfrm>
            <a:off x="2066544" y="4288536"/>
            <a:ext cx="1929384" cy="347472"/>
          </a:xfrm>
          <a:prstGeom prst="rect">
            <a:avLst/>
          </a:prstGeom>
          <a:noFill/>
        </p:spPr>
        <p:txBody>
          <a:bodyPr wrap="square" lIns="4572" tIns="4572" rIns="4572" bIns="4572" anchor="ctr">
            <a:spAutoFit/>
          </a:bodyPr>
          <a:lstStyle/>
          <a:p>
            <a:pPr algn="l">
              <a:spcBef>
                <a:spcPts val="0"/>
              </a:spcBef>
              <a:spcAft>
                <a:spcPts val="0"/>
              </a:spcAft>
            </a:pPr>
            <a:r>
              <a:rPr sz="760" b="0">
                <a:solidFill>
                  <a:srgbClr val="243B56"/>
                </a:solidFill>
                <a:latin typeface="Aptos"/>
              </a:rPr>
              <a:t>T ≥ configured T_threshold</a:t>
            </a:r>
          </a:p>
        </p:txBody>
      </p:sp>
      <p:sp>
        <p:nvSpPr>
          <p:cNvPr id="56" name="TextBox 55"/>
          <p:cNvSpPr txBox="1"/>
          <p:nvPr/>
        </p:nvSpPr>
        <p:spPr>
          <a:xfrm>
            <a:off x="4142232" y="4288536"/>
            <a:ext cx="2487168" cy="347472"/>
          </a:xfrm>
          <a:prstGeom prst="rect">
            <a:avLst/>
          </a:prstGeom>
          <a:noFill/>
        </p:spPr>
        <p:txBody>
          <a:bodyPr wrap="square" lIns="4572" tIns="4572" rIns="4572" bIns="4572" anchor="ctr">
            <a:spAutoFit/>
          </a:bodyPr>
          <a:lstStyle/>
          <a:p>
            <a:pPr algn="l">
              <a:spcBef>
                <a:spcPts val="0"/>
              </a:spcBef>
              <a:spcAft>
                <a:spcPts val="0"/>
              </a:spcAft>
            </a:pPr>
            <a:r>
              <a:rPr sz="760" b="0">
                <a:solidFill>
                  <a:srgbClr val="243B56"/>
                </a:solidFill>
                <a:latin typeface="Aptos"/>
              </a:rPr>
              <a:t>Set temperature warning;
include estimated temperature</a:t>
            </a:r>
          </a:p>
        </p:txBody>
      </p:sp>
      <p:sp>
        <p:nvSpPr>
          <p:cNvPr id="57" name="Rectangle 56"/>
          <p:cNvSpPr/>
          <p:nvPr/>
        </p:nvSpPr>
        <p:spPr>
          <a:xfrm>
            <a:off x="749808" y="4672584"/>
            <a:ext cx="1243584" cy="365760"/>
          </a:xfrm>
          <a:prstGeom prst="rect">
            <a:avLst/>
          </a:prstGeom>
          <a:solidFill>
            <a:srgbClr val="F8FAFD"/>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993392" y="4672584"/>
            <a:ext cx="2075688" cy="365760"/>
          </a:xfrm>
          <a:prstGeom prst="rect">
            <a:avLst/>
          </a:prstGeom>
          <a:solidFill>
            <a:srgbClr val="F8FAFD"/>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069080" y="4672584"/>
            <a:ext cx="2633472" cy="365760"/>
          </a:xfrm>
          <a:prstGeom prst="rect">
            <a:avLst/>
          </a:prstGeom>
          <a:solidFill>
            <a:srgbClr val="F8FAFD"/>
          </a:solidFill>
          <a:ln w="5715">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22959" y="4690872"/>
            <a:ext cx="1097280" cy="329184"/>
          </a:xfrm>
          <a:prstGeom prst="rect">
            <a:avLst/>
          </a:prstGeom>
          <a:noFill/>
        </p:spPr>
        <p:txBody>
          <a:bodyPr wrap="square" lIns="4572" tIns="4572" rIns="4572" bIns="4572" anchor="ctr">
            <a:spAutoFit/>
          </a:bodyPr>
          <a:lstStyle/>
          <a:p>
            <a:pPr algn="l">
              <a:spcBef>
                <a:spcPts val="0"/>
              </a:spcBef>
              <a:spcAft>
                <a:spcPts val="0"/>
              </a:spcAft>
            </a:pPr>
            <a:r>
              <a:rPr sz="780" b="1">
                <a:solidFill>
                  <a:srgbClr val="7860C8"/>
                </a:solidFill>
                <a:latin typeface="Aptos"/>
              </a:rPr>
              <a:t>PROXIMITY</a:t>
            </a:r>
          </a:p>
        </p:txBody>
      </p:sp>
      <p:sp>
        <p:nvSpPr>
          <p:cNvPr id="61" name="TextBox 60"/>
          <p:cNvSpPr txBox="1"/>
          <p:nvPr/>
        </p:nvSpPr>
        <p:spPr>
          <a:xfrm>
            <a:off x="2066544" y="4681728"/>
            <a:ext cx="1929384" cy="347472"/>
          </a:xfrm>
          <a:prstGeom prst="rect">
            <a:avLst/>
          </a:prstGeom>
          <a:noFill/>
        </p:spPr>
        <p:txBody>
          <a:bodyPr wrap="square" lIns="4572" tIns="4572" rIns="4572" bIns="4572" anchor="ctr">
            <a:spAutoFit/>
          </a:bodyPr>
          <a:lstStyle/>
          <a:p>
            <a:pPr algn="l">
              <a:spcBef>
                <a:spcPts val="0"/>
              </a:spcBef>
              <a:spcAft>
                <a:spcPts val="0"/>
              </a:spcAft>
            </a:pPr>
            <a:r>
              <a:rPr sz="760" b="0">
                <a:solidFill>
                  <a:srgbClr val="243B56"/>
                </a:solidFill>
                <a:latin typeface="Aptos"/>
              </a:rPr>
              <a:t>Distance ≤ configured d_threshold</a:t>
            </a:r>
          </a:p>
        </p:txBody>
      </p:sp>
      <p:sp>
        <p:nvSpPr>
          <p:cNvPr id="62" name="TextBox 61"/>
          <p:cNvSpPr txBox="1"/>
          <p:nvPr/>
        </p:nvSpPr>
        <p:spPr>
          <a:xfrm>
            <a:off x="4142232" y="4681728"/>
            <a:ext cx="2487168" cy="347472"/>
          </a:xfrm>
          <a:prstGeom prst="rect">
            <a:avLst/>
          </a:prstGeom>
          <a:noFill/>
        </p:spPr>
        <p:txBody>
          <a:bodyPr wrap="square" lIns="4572" tIns="4572" rIns="4572" bIns="4572" anchor="ctr">
            <a:spAutoFit/>
          </a:bodyPr>
          <a:lstStyle/>
          <a:p>
            <a:pPr algn="l">
              <a:spcBef>
                <a:spcPts val="0"/>
              </a:spcBef>
              <a:spcAft>
                <a:spcPts val="0"/>
              </a:spcAft>
            </a:pPr>
            <a:r>
              <a:rPr sz="760" b="0">
                <a:solidFill>
                  <a:srgbClr val="243B56"/>
                </a:solidFill>
                <a:latin typeface="Aptos"/>
              </a:rPr>
              <a:t>Set proximity warning;
include estimated distance</a:t>
            </a:r>
          </a:p>
        </p:txBody>
      </p:sp>
      <p:sp>
        <p:nvSpPr>
          <p:cNvPr id="63" name="Rounded Rectangle 62"/>
          <p:cNvSpPr/>
          <p:nvPr/>
        </p:nvSpPr>
        <p:spPr>
          <a:xfrm>
            <a:off x="7187184" y="2834640"/>
            <a:ext cx="4462272" cy="2395728"/>
          </a:xfrm>
          <a:prstGeom prst="roundRect">
            <a:avLst>
              <a:gd name="adj" fmla="val 12000"/>
            </a:avLst>
          </a:prstGeom>
          <a:solidFill>
            <a:srgbClr val="E6F6F4"/>
          </a:solidFill>
          <a:ln w="12700">
            <a:solidFill>
              <a:srgbClr val="C6E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06640" y="2953512"/>
            <a:ext cx="4041648" cy="237744"/>
          </a:xfrm>
          <a:prstGeom prst="rect">
            <a:avLst/>
          </a:prstGeom>
          <a:noFill/>
        </p:spPr>
        <p:txBody>
          <a:bodyPr wrap="square" lIns="0" tIns="4572" rIns="0" bIns="4572" anchor="ctr">
            <a:spAutoFit/>
          </a:bodyPr>
          <a:lstStyle/>
          <a:p>
            <a:pPr algn="l">
              <a:spcBef>
                <a:spcPts val="0"/>
              </a:spcBef>
              <a:spcAft>
                <a:spcPts val="0"/>
              </a:spcAft>
            </a:pPr>
            <a:r>
              <a:rPr sz="1000" b="1">
                <a:solidFill>
                  <a:srgbClr val="009AA6"/>
                </a:solidFill>
                <a:latin typeface="Aptos"/>
              </a:rPr>
              <a:t>DEPLOYMENT: VEHICLE-SYSTEM HANDOFF</a:t>
            </a:r>
          </a:p>
        </p:txBody>
      </p:sp>
      <p:sp>
        <p:nvSpPr>
          <p:cNvPr id="65" name="TextBox 64"/>
          <p:cNvSpPr txBox="1"/>
          <p:nvPr/>
        </p:nvSpPr>
        <p:spPr>
          <a:xfrm>
            <a:off x="7406640" y="3264408"/>
            <a:ext cx="4023360" cy="457200"/>
          </a:xfrm>
          <a:prstGeom prst="rect">
            <a:avLst/>
          </a:prstGeom>
          <a:noFill/>
        </p:spPr>
        <p:txBody>
          <a:bodyPr wrap="square" lIns="9144" tIns="4572" rIns="9144" bIns="4572" anchor="ctr">
            <a:spAutoFit/>
          </a:bodyPr>
          <a:lstStyle/>
          <a:p>
            <a:pPr algn="l">
              <a:spcBef>
                <a:spcPts val="0"/>
              </a:spcBef>
              <a:spcAft>
                <a:spcPts val="0"/>
              </a:spcAft>
            </a:pPr>
            <a:r>
              <a:rPr sz="910" b="0">
                <a:solidFill>
                  <a:srgbClr val="243B56"/>
                </a:solidFill>
                <a:latin typeface="Aptos"/>
              </a:rPr>
              <a:t>The prototype validates event detection. In deployment, its local indicator output is replaced by an approved vehicle integration interface.</a:t>
            </a:r>
          </a:p>
        </p:txBody>
      </p:sp>
      <p:sp>
        <p:nvSpPr>
          <p:cNvPr id="66" name="Rounded Rectangle 65"/>
          <p:cNvSpPr/>
          <p:nvPr/>
        </p:nvSpPr>
        <p:spPr>
          <a:xfrm>
            <a:off x="7406640" y="3840480"/>
            <a:ext cx="1051560" cy="640080"/>
          </a:xfrm>
          <a:prstGeom prst="roundRect">
            <a:avLst>
              <a:gd name="adj" fmla="val 12000"/>
            </a:avLst>
          </a:prstGeom>
          <a:solidFill>
            <a:srgbClr val="FFFFFF"/>
          </a:solidFill>
          <a:ln w="10160">
            <a:solidFill>
              <a:srgbClr val="B8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70648" y="3867912"/>
            <a:ext cx="923544" cy="566928"/>
          </a:xfrm>
          <a:prstGeom prst="rect">
            <a:avLst/>
          </a:prstGeom>
          <a:noFill/>
        </p:spPr>
        <p:txBody>
          <a:bodyPr wrap="square" lIns="9144" tIns="4572" rIns="9144" bIns="4572" anchor="ctr">
            <a:spAutoFit/>
          </a:bodyPr>
          <a:lstStyle/>
          <a:p>
            <a:pPr algn="ctr">
              <a:spcBef>
                <a:spcPts val="0"/>
              </a:spcBef>
              <a:spcAft>
                <a:spcPts val="0"/>
              </a:spcAft>
            </a:pPr>
            <a:r>
              <a:rPr sz="850" b="1">
                <a:solidFill>
                  <a:srgbClr val="1A304B"/>
                </a:solidFill>
                <a:latin typeface="Aptos"/>
              </a:rPr>
              <a:t>STM32
Event data</a:t>
            </a:r>
          </a:p>
        </p:txBody>
      </p:sp>
      <p:cxnSp>
        <p:nvCxnSpPr>
          <p:cNvPr id="68" name="Connector 67"/>
          <p:cNvCxnSpPr/>
          <p:nvPr/>
        </p:nvCxnSpPr>
        <p:spPr>
          <a:xfrm>
            <a:off x="8485632" y="4160520"/>
            <a:ext cx="256032" cy="0"/>
          </a:xfrm>
          <a:prstGeom prst="line">
            <a:avLst/>
          </a:prstGeom>
          <a:ln w="20320">
            <a:solidFill>
              <a:srgbClr val="009AA6"/>
            </a:solidFill>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8796528" y="3840480"/>
            <a:ext cx="1115568" cy="640080"/>
          </a:xfrm>
          <a:prstGeom prst="roundRect">
            <a:avLst>
              <a:gd name="adj" fmla="val 12000"/>
            </a:avLst>
          </a:prstGeom>
          <a:solidFill>
            <a:srgbClr val="FFFFFF"/>
          </a:solidFill>
          <a:ln w="10160">
            <a:solidFill>
              <a:srgbClr val="B8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860536" y="3867912"/>
            <a:ext cx="987552" cy="566928"/>
          </a:xfrm>
          <a:prstGeom prst="rect">
            <a:avLst/>
          </a:prstGeom>
          <a:noFill/>
        </p:spPr>
        <p:txBody>
          <a:bodyPr wrap="square" lIns="9144" tIns="4572" rIns="9144" bIns="4572" anchor="ctr">
            <a:spAutoFit/>
          </a:bodyPr>
          <a:lstStyle/>
          <a:p>
            <a:pPr algn="ctr">
              <a:spcBef>
                <a:spcPts val="0"/>
              </a:spcBef>
              <a:spcAft>
                <a:spcPts val="0"/>
              </a:spcAft>
            </a:pPr>
            <a:r>
              <a:rPr sz="819" b="1">
                <a:solidFill>
                  <a:srgbClr val="1A304B"/>
                </a:solidFill>
                <a:latin typeface="Aptos"/>
              </a:rPr>
              <a:t>Approved
integration</a:t>
            </a:r>
          </a:p>
        </p:txBody>
      </p:sp>
      <p:cxnSp>
        <p:nvCxnSpPr>
          <p:cNvPr id="71" name="Connector 70"/>
          <p:cNvCxnSpPr/>
          <p:nvPr/>
        </p:nvCxnSpPr>
        <p:spPr>
          <a:xfrm>
            <a:off x="9939528" y="4160520"/>
            <a:ext cx="246888" cy="0"/>
          </a:xfrm>
          <a:prstGeom prst="line">
            <a:avLst/>
          </a:prstGeom>
          <a:ln w="20320">
            <a:solidFill>
              <a:srgbClr val="009AA6"/>
            </a:solidFill>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10241280" y="3840480"/>
            <a:ext cx="1170432" cy="640080"/>
          </a:xfrm>
          <a:prstGeom prst="roundRect">
            <a:avLst>
              <a:gd name="adj" fmla="val 12000"/>
            </a:avLst>
          </a:prstGeom>
          <a:solidFill>
            <a:srgbClr val="FFFFFF"/>
          </a:solidFill>
          <a:ln w="10160">
            <a:solidFill>
              <a:srgbClr val="B8DE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0305288" y="3867912"/>
            <a:ext cx="1042415" cy="566928"/>
          </a:xfrm>
          <a:prstGeom prst="rect">
            <a:avLst/>
          </a:prstGeom>
          <a:noFill/>
        </p:spPr>
        <p:txBody>
          <a:bodyPr wrap="square" lIns="9144" tIns="4572" rIns="9144" bIns="4572" anchor="ctr">
            <a:spAutoFit/>
          </a:bodyPr>
          <a:lstStyle/>
          <a:p>
            <a:pPr algn="ctr">
              <a:spcBef>
                <a:spcPts val="0"/>
              </a:spcBef>
              <a:spcAft>
                <a:spcPts val="0"/>
              </a:spcAft>
            </a:pPr>
            <a:r>
              <a:rPr sz="810" b="1">
                <a:solidFill>
                  <a:srgbClr val="1A304B"/>
                </a:solidFill>
                <a:latin typeface="Aptos"/>
              </a:rPr>
              <a:t>Vehicle /
infotainment</a:t>
            </a:r>
          </a:p>
        </p:txBody>
      </p:sp>
      <p:sp>
        <p:nvSpPr>
          <p:cNvPr id="74" name="TextBox 73"/>
          <p:cNvSpPr txBox="1"/>
          <p:nvPr/>
        </p:nvSpPr>
        <p:spPr>
          <a:xfrm>
            <a:off x="7406640" y="4608576"/>
            <a:ext cx="4041648" cy="438912"/>
          </a:xfrm>
          <a:prstGeom prst="rect">
            <a:avLst/>
          </a:prstGeom>
          <a:noFill/>
        </p:spPr>
        <p:txBody>
          <a:bodyPr wrap="square" lIns="9144" tIns="4572" rIns="9144" bIns="4572" anchor="ctr">
            <a:spAutoFit/>
          </a:bodyPr>
          <a:lstStyle/>
          <a:p>
            <a:pPr algn="l">
              <a:spcBef>
                <a:spcPts val="0"/>
              </a:spcBef>
              <a:spcAft>
                <a:spcPts val="0"/>
              </a:spcAft>
            </a:pPr>
            <a:r>
              <a:rPr sz="810" b="0">
                <a:solidFill>
                  <a:srgbClr val="60758F"/>
                </a:solidFill>
                <a:latin typeface="Aptos"/>
              </a:rPr>
              <a:t>The receiving system determines which supported response to perform. Android Auto or vehicle-network access requires platform-specific compatibility and authorization.</a:t>
            </a:r>
          </a:p>
        </p:txBody>
      </p:sp>
      <p:sp>
        <p:nvSpPr>
          <p:cNvPr id="75" name="Rounded Rectangle 74"/>
          <p:cNvSpPr/>
          <p:nvPr/>
        </p:nvSpPr>
        <p:spPr>
          <a:xfrm>
            <a:off x="530352" y="5431536"/>
            <a:ext cx="11119104" cy="658368"/>
          </a:xfrm>
          <a:prstGeom prst="roundRect">
            <a:avLst>
              <a:gd name="adj" fmla="val 12000"/>
            </a:avLst>
          </a:prstGeom>
          <a:solidFill>
            <a:srgbClr val="FFFFFF"/>
          </a:solidFill>
          <a:ln w="11430">
            <a:solidFill>
              <a:srgbClr val="D8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49808" y="5522976"/>
            <a:ext cx="1490472" cy="219456"/>
          </a:xfrm>
          <a:prstGeom prst="rect">
            <a:avLst/>
          </a:prstGeom>
          <a:noFill/>
        </p:spPr>
        <p:txBody>
          <a:bodyPr wrap="square" lIns="0" tIns="4572" rIns="0" bIns="4572" anchor="ctr">
            <a:spAutoFit/>
          </a:bodyPr>
          <a:lstStyle/>
          <a:p>
            <a:pPr algn="l">
              <a:spcBef>
                <a:spcPts val="0"/>
              </a:spcBef>
              <a:spcAft>
                <a:spcPts val="0"/>
              </a:spcAft>
            </a:pPr>
            <a:r>
              <a:rPr sz="880" b="1">
                <a:solidFill>
                  <a:srgbClr val="2B73C7"/>
                </a:solidFill>
                <a:latin typeface="Aptos"/>
              </a:rPr>
              <a:t>REAL-TIME CONTROL</a:t>
            </a:r>
          </a:p>
        </p:txBody>
      </p:sp>
      <p:sp>
        <p:nvSpPr>
          <p:cNvPr id="77" name="TextBox 76"/>
          <p:cNvSpPr txBox="1"/>
          <p:nvPr/>
        </p:nvSpPr>
        <p:spPr>
          <a:xfrm>
            <a:off x="2212848" y="5504688"/>
            <a:ext cx="9125712" cy="411480"/>
          </a:xfrm>
          <a:prstGeom prst="rect">
            <a:avLst/>
          </a:prstGeom>
          <a:noFill/>
        </p:spPr>
        <p:txBody>
          <a:bodyPr wrap="square" lIns="9144" tIns="4572" rIns="9144" bIns="4572" anchor="ctr">
            <a:spAutoFit/>
          </a:bodyPr>
          <a:lstStyle/>
          <a:p>
            <a:pPr algn="l">
              <a:spcBef>
                <a:spcPts val="0"/>
              </a:spcBef>
              <a:spcAft>
                <a:spcPts val="0"/>
              </a:spcAft>
            </a:pPr>
            <a:r>
              <a:rPr sz="869" b="0">
                <a:solidFill>
                  <a:srgbClr val="243B56"/>
                </a:solidFill>
                <a:latin typeface="Aptos"/>
              </a:rPr>
              <a:t>SysTick / timer schedules periodic sampling  •  Timer input capture measures ultrasonic Echo  •  EXTI/NVIC is optional  •  Keep ISRs short and process events in the main loop</a:t>
            </a:r>
          </a:p>
        </p:txBody>
      </p:sp>
      <p:cxnSp>
        <p:nvCxnSpPr>
          <p:cNvPr id="78" name="Connector 77"/>
          <p:cNvCxnSpPr/>
          <p:nvPr/>
        </p:nvCxnSpPr>
        <p:spPr>
          <a:xfrm>
            <a:off x="530352" y="6291072"/>
            <a:ext cx="11128248" cy="0"/>
          </a:xfrm>
          <a:prstGeom prst="line">
            <a:avLst/>
          </a:prstGeom>
          <a:ln w="10160">
            <a:solidFill>
              <a:srgbClr val="D8E2EC"/>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48640" y="6345936"/>
            <a:ext cx="8046720" cy="182880"/>
          </a:xfrm>
          <a:prstGeom prst="rect">
            <a:avLst/>
          </a:prstGeom>
          <a:noFill/>
        </p:spPr>
        <p:txBody>
          <a:bodyPr wrap="square" lIns="0" tIns="4572" rIns="0" bIns="4572" anchor="ctr">
            <a:spAutoFit/>
          </a:bodyPr>
          <a:lstStyle/>
          <a:p>
            <a:pPr algn="l">
              <a:spcBef>
                <a:spcPts val="0"/>
              </a:spcBef>
              <a:spcAft>
                <a:spcPts val="0"/>
              </a:spcAft>
            </a:pPr>
            <a:r>
              <a:rPr sz="750" b="0">
                <a:solidFill>
                  <a:srgbClr val="60758F"/>
                </a:solidFill>
                <a:latin typeface="Aptos"/>
              </a:rPr>
              <a:t>STM32F411CEU6  ·  VEHICLE EVENT LOGGING AND RESPONSE SYSTEM</a:t>
            </a:r>
          </a:p>
        </p:txBody>
      </p:sp>
      <p:sp>
        <p:nvSpPr>
          <p:cNvPr id="80" name="TextBox 79"/>
          <p:cNvSpPr txBox="1"/>
          <p:nvPr/>
        </p:nvSpPr>
        <p:spPr>
          <a:xfrm>
            <a:off x="10469880" y="6345936"/>
            <a:ext cx="1143000" cy="182880"/>
          </a:xfrm>
          <a:prstGeom prst="rect">
            <a:avLst/>
          </a:prstGeom>
          <a:noFill/>
        </p:spPr>
        <p:txBody>
          <a:bodyPr wrap="square" lIns="0" tIns="4572" rIns="0" bIns="4572" anchor="ctr">
            <a:spAutoFit/>
          </a:bodyPr>
          <a:lstStyle/>
          <a:p>
            <a:pPr algn="r">
              <a:spcBef>
                <a:spcPts val="0"/>
              </a:spcBef>
              <a:spcAft>
                <a:spcPts val="0"/>
              </a:spcAft>
            </a:pPr>
            <a:r>
              <a:rPr sz="750" b="1">
                <a:solidFill>
                  <a:srgbClr val="60758F"/>
                </a:solidFill>
                <a:latin typeface="Aptos"/>
              </a:rPr>
              <a:t>08 / 09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369BE"/>
          </a:solidFill>
          <a:ln>
            <a:solidFill>
              <a:srgbClr val="2369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TextBox 2"/>
          <p:cNvSpPr txBox="1"/>
          <p:nvPr/>
        </p:nvSpPr>
        <p:spPr>
          <a:xfrm>
            <a:off x="548640" y="256032"/>
            <a:ext cx="2926080" cy="227755"/>
          </a:xfrm>
          <a:prstGeom prst="rect">
            <a:avLst/>
          </a:prstGeom>
          <a:noFill/>
        </p:spPr>
        <p:txBody>
          <a:bodyPr wrap="square" lIns="36576" tIns="36576" rIns="36576" bIns="36576" anchor="t">
            <a:spAutoFit/>
          </a:bodyPr>
          <a:lstStyle/>
          <a:p>
            <a:pPr algn="l">
              <a:spcBef>
                <a:spcPts val="0"/>
              </a:spcBef>
              <a:spcAft>
                <a:spcPts val="0"/>
              </a:spcAft>
            </a:pPr>
            <a:r>
              <a:rPr sz="1000" b="1" i="0">
                <a:solidFill>
                  <a:srgbClr val="0097A4"/>
                </a:solidFill>
                <a:latin typeface="Aptos"/>
              </a:rPr>
              <a:t>08  /  VALIDATION</a:t>
            </a:r>
          </a:p>
        </p:txBody>
      </p:sp>
      <p:sp>
        <p:nvSpPr>
          <p:cNvPr id="4" name="TextBox 3"/>
          <p:cNvSpPr txBox="1"/>
          <p:nvPr/>
        </p:nvSpPr>
        <p:spPr>
          <a:xfrm>
            <a:off x="548640" y="475488"/>
            <a:ext cx="10789920" cy="504754"/>
          </a:xfrm>
          <a:prstGeom prst="rect">
            <a:avLst/>
          </a:prstGeom>
          <a:noFill/>
        </p:spPr>
        <p:txBody>
          <a:bodyPr wrap="square" lIns="36576" tIns="36576" rIns="36576" bIns="36576" anchor="t">
            <a:spAutoFit/>
          </a:bodyPr>
          <a:lstStyle/>
          <a:p>
            <a:pPr algn="l">
              <a:spcBef>
                <a:spcPts val="0"/>
              </a:spcBef>
              <a:spcAft>
                <a:spcPts val="0"/>
              </a:spcAft>
            </a:pPr>
            <a:r>
              <a:rPr sz="2800" b="1" i="0">
                <a:solidFill>
                  <a:srgbClr val="192F4B"/>
                </a:solidFill>
                <a:latin typeface="Aptos"/>
              </a:rPr>
              <a:t>Validation plan &amp; project conclusion</a:t>
            </a:r>
          </a:p>
        </p:txBody>
      </p:sp>
      <p:sp>
        <p:nvSpPr>
          <p:cNvPr id="5" name="TextBox 4"/>
          <p:cNvSpPr txBox="1"/>
          <p:nvPr/>
        </p:nvSpPr>
        <p:spPr>
          <a:xfrm>
            <a:off x="566928" y="950976"/>
            <a:ext cx="10972800" cy="243143"/>
          </a:xfrm>
          <a:prstGeom prst="rect">
            <a:avLst/>
          </a:prstGeom>
          <a:noFill/>
        </p:spPr>
        <p:txBody>
          <a:bodyPr wrap="square" lIns="36576" tIns="36576" rIns="36576" bIns="36576" anchor="t">
            <a:spAutoFit/>
          </a:bodyPr>
          <a:lstStyle/>
          <a:p>
            <a:pPr algn="l">
              <a:spcBef>
                <a:spcPts val="0"/>
              </a:spcBef>
              <a:spcAft>
                <a:spcPts val="0"/>
              </a:spcAft>
            </a:pPr>
            <a:r>
              <a:rPr sz="1100" b="0" i="0">
                <a:solidFill>
                  <a:srgbClr val="536982"/>
                </a:solidFill>
                <a:latin typeface="Aptos"/>
              </a:rPr>
              <a:t>A planned test matrix defines the evidence and metrics needed to demonstrate reliable sensing and alert behavior.</a:t>
            </a:r>
          </a:p>
        </p:txBody>
      </p:sp>
      <p:sp>
        <p:nvSpPr>
          <p:cNvPr id="6" name="Rounded Rectangle 5"/>
          <p:cNvSpPr/>
          <p:nvPr/>
        </p:nvSpPr>
        <p:spPr>
          <a:xfrm>
            <a:off x="485030" y="1381007"/>
            <a:ext cx="8028034" cy="4983217"/>
          </a:xfrm>
          <a:prstGeom prst="roundRect">
            <a:avLst/>
          </a:prstGeom>
          <a:solidFill>
            <a:srgbClr val="FFFFFF"/>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6"/>
          <p:cNvSpPr txBox="1"/>
          <p:nvPr/>
        </p:nvSpPr>
        <p:spPr>
          <a:xfrm>
            <a:off x="804672" y="1536192"/>
            <a:ext cx="2743200" cy="21236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0097A4"/>
                </a:solidFill>
                <a:latin typeface="Aptos"/>
              </a:rPr>
              <a:t>VALIDATION MATRIX  /  PLANNED TESTS</a:t>
            </a:r>
          </a:p>
        </p:txBody>
      </p:sp>
      <p:sp>
        <p:nvSpPr>
          <p:cNvPr id="8" name="Rectangle 7"/>
          <p:cNvSpPr/>
          <p:nvPr/>
        </p:nvSpPr>
        <p:spPr>
          <a:xfrm>
            <a:off x="786384" y="1847088"/>
            <a:ext cx="1298448" cy="347472"/>
          </a:xfrm>
          <a:prstGeom prst="rect">
            <a:avLst/>
          </a:prstGeom>
          <a:solidFill>
            <a:srgbClr val="EAF2FC"/>
          </a:solidFill>
          <a:ln w="635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850392" y="1917764"/>
            <a:ext cx="1170431" cy="196977"/>
          </a:xfrm>
          <a:prstGeom prst="rect">
            <a:avLst/>
          </a:prstGeom>
          <a:noFill/>
        </p:spPr>
        <p:txBody>
          <a:bodyPr wrap="square" lIns="36576" tIns="36576" rIns="36576" bIns="36576" anchor="ctr">
            <a:spAutoFit/>
          </a:bodyPr>
          <a:lstStyle/>
          <a:p>
            <a:pPr algn="l">
              <a:spcBef>
                <a:spcPts val="0"/>
              </a:spcBef>
              <a:spcAft>
                <a:spcPts val="0"/>
              </a:spcAft>
            </a:pPr>
            <a:r>
              <a:rPr sz="800" b="1" i="0">
                <a:solidFill>
                  <a:srgbClr val="2369BE"/>
                </a:solidFill>
                <a:latin typeface="Aptos"/>
              </a:rPr>
              <a:t>TEST</a:t>
            </a:r>
          </a:p>
        </p:txBody>
      </p:sp>
      <p:sp>
        <p:nvSpPr>
          <p:cNvPr id="10" name="Rectangle 9"/>
          <p:cNvSpPr/>
          <p:nvPr/>
        </p:nvSpPr>
        <p:spPr>
          <a:xfrm>
            <a:off x="2084831" y="1847088"/>
            <a:ext cx="2103120" cy="347472"/>
          </a:xfrm>
          <a:prstGeom prst="rect">
            <a:avLst/>
          </a:prstGeom>
          <a:solidFill>
            <a:srgbClr val="EAF2FC"/>
          </a:solidFill>
          <a:ln w="635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2148839" y="1917764"/>
            <a:ext cx="1975103" cy="196977"/>
          </a:xfrm>
          <a:prstGeom prst="rect">
            <a:avLst/>
          </a:prstGeom>
          <a:noFill/>
        </p:spPr>
        <p:txBody>
          <a:bodyPr wrap="square" lIns="36576" tIns="36576" rIns="36576" bIns="36576" anchor="ctr">
            <a:spAutoFit/>
          </a:bodyPr>
          <a:lstStyle/>
          <a:p>
            <a:pPr algn="l">
              <a:spcBef>
                <a:spcPts val="0"/>
              </a:spcBef>
              <a:spcAft>
                <a:spcPts val="0"/>
              </a:spcAft>
            </a:pPr>
            <a:r>
              <a:rPr sz="800" b="1" i="0">
                <a:solidFill>
                  <a:srgbClr val="2369BE"/>
                </a:solidFill>
                <a:latin typeface="Aptos"/>
              </a:rPr>
              <a:t>METHOD</a:t>
            </a:r>
          </a:p>
        </p:txBody>
      </p:sp>
      <p:sp>
        <p:nvSpPr>
          <p:cNvPr id="12" name="Rectangle 11"/>
          <p:cNvSpPr/>
          <p:nvPr/>
        </p:nvSpPr>
        <p:spPr>
          <a:xfrm>
            <a:off x="4187952" y="1847088"/>
            <a:ext cx="2057400" cy="347472"/>
          </a:xfrm>
          <a:prstGeom prst="rect">
            <a:avLst/>
          </a:prstGeom>
          <a:solidFill>
            <a:srgbClr val="EAF2FC"/>
          </a:solidFill>
          <a:ln w="635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4251960" y="1917764"/>
            <a:ext cx="1929384" cy="196977"/>
          </a:xfrm>
          <a:prstGeom prst="rect">
            <a:avLst/>
          </a:prstGeom>
          <a:noFill/>
        </p:spPr>
        <p:txBody>
          <a:bodyPr wrap="square" lIns="36576" tIns="36576" rIns="36576" bIns="36576" anchor="ctr">
            <a:spAutoFit/>
          </a:bodyPr>
          <a:lstStyle/>
          <a:p>
            <a:pPr algn="l">
              <a:spcBef>
                <a:spcPts val="0"/>
              </a:spcBef>
              <a:spcAft>
                <a:spcPts val="0"/>
              </a:spcAft>
            </a:pPr>
            <a:r>
              <a:rPr sz="800" b="1" i="0">
                <a:solidFill>
                  <a:srgbClr val="2369BE"/>
                </a:solidFill>
                <a:latin typeface="Aptos"/>
              </a:rPr>
              <a:t>EXPECTED EVIDENCE</a:t>
            </a:r>
          </a:p>
        </p:txBody>
      </p:sp>
      <p:sp>
        <p:nvSpPr>
          <p:cNvPr id="14" name="Rectangle 13"/>
          <p:cNvSpPr/>
          <p:nvPr/>
        </p:nvSpPr>
        <p:spPr>
          <a:xfrm>
            <a:off x="6245352" y="1847088"/>
            <a:ext cx="1975104" cy="347472"/>
          </a:xfrm>
          <a:prstGeom prst="rect">
            <a:avLst/>
          </a:prstGeom>
          <a:solidFill>
            <a:srgbClr val="EAF2FC"/>
          </a:solidFill>
          <a:ln w="635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6309360" y="1917764"/>
            <a:ext cx="1847088" cy="196977"/>
          </a:xfrm>
          <a:prstGeom prst="rect">
            <a:avLst/>
          </a:prstGeom>
          <a:noFill/>
        </p:spPr>
        <p:txBody>
          <a:bodyPr wrap="square" lIns="36576" tIns="36576" rIns="36576" bIns="36576" anchor="ctr">
            <a:spAutoFit/>
          </a:bodyPr>
          <a:lstStyle/>
          <a:p>
            <a:pPr algn="l">
              <a:spcBef>
                <a:spcPts val="0"/>
              </a:spcBef>
              <a:spcAft>
                <a:spcPts val="0"/>
              </a:spcAft>
            </a:pPr>
            <a:r>
              <a:rPr sz="800" b="1" i="0">
                <a:solidFill>
                  <a:srgbClr val="2369BE"/>
                </a:solidFill>
                <a:latin typeface="Aptos"/>
              </a:rPr>
              <a:t>METRICS TO CAPTURE</a:t>
            </a:r>
          </a:p>
        </p:txBody>
      </p:sp>
      <p:sp>
        <p:nvSpPr>
          <p:cNvPr id="16" name="Rectangle 15"/>
          <p:cNvSpPr/>
          <p:nvPr/>
        </p:nvSpPr>
        <p:spPr>
          <a:xfrm>
            <a:off x="786384" y="2194560"/>
            <a:ext cx="1298448"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6"/>
          <p:cNvSpPr txBox="1"/>
          <p:nvPr/>
        </p:nvSpPr>
        <p:spPr>
          <a:xfrm>
            <a:off x="850392" y="2267712"/>
            <a:ext cx="1170431" cy="350865"/>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192F4B"/>
                </a:solidFill>
                <a:latin typeface="Aptos"/>
              </a:rPr>
              <a:t>MPU6050
motion</a:t>
            </a:r>
          </a:p>
        </p:txBody>
      </p:sp>
      <p:sp>
        <p:nvSpPr>
          <p:cNvPr id="18" name="Rectangle 17"/>
          <p:cNvSpPr/>
          <p:nvPr/>
        </p:nvSpPr>
        <p:spPr>
          <a:xfrm>
            <a:off x="2084831" y="2194560"/>
            <a:ext cx="2103120"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2148839" y="2267712"/>
            <a:ext cx="1975103"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Stationary baseline;
controlled movement</a:t>
            </a:r>
          </a:p>
        </p:txBody>
      </p:sp>
      <p:sp>
        <p:nvSpPr>
          <p:cNvPr id="20" name="Rectangle 19"/>
          <p:cNvSpPr/>
          <p:nvPr/>
        </p:nvSpPr>
        <p:spPr>
          <a:xfrm>
            <a:off x="4187952" y="2194560"/>
            <a:ext cx="2057400"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1" name="TextBox 20"/>
          <p:cNvSpPr txBox="1"/>
          <p:nvPr/>
        </p:nvSpPr>
        <p:spPr>
          <a:xfrm>
            <a:off x="4251960" y="2267712"/>
            <a:ext cx="1929384"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Repeatable accel. readings
and event classification</a:t>
            </a:r>
          </a:p>
        </p:txBody>
      </p:sp>
      <p:sp>
        <p:nvSpPr>
          <p:cNvPr id="22" name="Rectangle 21"/>
          <p:cNvSpPr/>
          <p:nvPr/>
        </p:nvSpPr>
        <p:spPr>
          <a:xfrm>
            <a:off x="6245352" y="2194560"/>
            <a:ext cx="1975104"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6309360" y="2267712"/>
            <a:ext cx="1847088" cy="44319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Baseline variation;
detection consistency;
false triggers</a:t>
            </a:r>
          </a:p>
        </p:txBody>
      </p:sp>
      <p:sp>
        <p:nvSpPr>
          <p:cNvPr id="24" name="Rectangle 23"/>
          <p:cNvSpPr/>
          <p:nvPr/>
        </p:nvSpPr>
        <p:spPr>
          <a:xfrm>
            <a:off x="786384" y="2852928"/>
            <a:ext cx="1298448"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850392" y="2926080"/>
            <a:ext cx="1170431" cy="21236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192F4B"/>
                </a:solidFill>
                <a:latin typeface="Aptos"/>
              </a:rPr>
              <a:t>Temperature</a:t>
            </a:r>
          </a:p>
        </p:txBody>
      </p:sp>
      <p:sp>
        <p:nvSpPr>
          <p:cNvPr id="26" name="Rectangle 25"/>
          <p:cNvSpPr/>
          <p:nvPr/>
        </p:nvSpPr>
        <p:spPr>
          <a:xfrm>
            <a:off x="2084831" y="2852928"/>
            <a:ext cx="2103120"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2148839" y="2926080"/>
            <a:ext cx="1975103"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Compare at several conditions
with reference thermometer</a:t>
            </a:r>
          </a:p>
        </p:txBody>
      </p:sp>
      <p:sp>
        <p:nvSpPr>
          <p:cNvPr id="28" name="Rectangle 27"/>
          <p:cNvSpPr/>
          <p:nvPr/>
        </p:nvSpPr>
        <p:spPr>
          <a:xfrm>
            <a:off x="4187952" y="2852928"/>
            <a:ext cx="2057400"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9" name="TextBox 28"/>
          <p:cNvSpPr txBox="1"/>
          <p:nvPr/>
        </p:nvSpPr>
        <p:spPr>
          <a:xfrm>
            <a:off x="4251960" y="2926080"/>
            <a:ext cx="1929384"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Temperature reading and
threshold response</a:t>
            </a:r>
          </a:p>
        </p:txBody>
      </p:sp>
      <p:sp>
        <p:nvSpPr>
          <p:cNvPr id="30" name="Rectangle 29"/>
          <p:cNvSpPr/>
          <p:nvPr/>
        </p:nvSpPr>
        <p:spPr>
          <a:xfrm>
            <a:off x="6245352" y="2852928"/>
            <a:ext cx="1975104"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1" name="TextBox 30"/>
          <p:cNvSpPr txBox="1"/>
          <p:nvPr/>
        </p:nvSpPr>
        <p:spPr>
          <a:xfrm>
            <a:off x="6309360" y="2926080"/>
            <a:ext cx="1847088"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Reference vs. measured °C;
absolute error (°C)</a:t>
            </a:r>
          </a:p>
        </p:txBody>
      </p:sp>
      <p:sp>
        <p:nvSpPr>
          <p:cNvPr id="32" name="Rectangle 31"/>
          <p:cNvSpPr/>
          <p:nvPr/>
        </p:nvSpPr>
        <p:spPr>
          <a:xfrm>
            <a:off x="786384" y="3511296"/>
            <a:ext cx="1298448"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TextBox 32"/>
          <p:cNvSpPr txBox="1"/>
          <p:nvPr/>
        </p:nvSpPr>
        <p:spPr>
          <a:xfrm>
            <a:off x="850392" y="3584448"/>
            <a:ext cx="1170431" cy="350865"/>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192F4B"/>
                </a:solidFill>
                <a:latin typeface="Aptos"/>
              </a:rPr>
              <a:t>Obstacle
distance</a:t>
            </a:r>
          </a:p>
        </p:txBody>
      </p:sp>
      <p:sp>
        <p:nvSpPr>
          <p:cNvPr id="34" name="Rectangle 33"/>
          <p:cNvSpPr/>
          <p:nvPr/>
        </p:nvSpPr>
        <p:spPr>
          <a:xfrm>
            <a:off x="2084831" y="3511296"/>
            <a:ext cx="2103120"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5" name="TextBox 34"/>
          <p:cNvSpPr txBox="1"/>
          <p:nvPr/>
        </p:nvSpPr>
        <p:spPr>
          <a:xfrm>
            <a:off x="2148839" y="3584448"/>
            <a:ext cx="1975103"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Measure known distances
across repeated trials</a:t>
            </a:r>
          </a:p>
        </p:txBody>
      </p:sp>
      <p:sp>
        <p:nvSpPr>
          <p:cNvPr id="36" name="Rectangle 35"/>
          <p:cNvSpPr/>
          <p:nvPr/>
        </p:nvSpPr>
        <p:spPr>
          <a:xfrm>
            <a:off x="4187952" y="3511296"/>
            <a:ext cx="2057400"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7" name="TextBox 36"/>
          <p:cNvSpPr txBox="1"/>
          <p:nvPr/>
        </p:nvSpPr>
        <p:spPr>
          <a:xfrm>
            <a:off x="4251960" y="3584448"/>
            <a:ext cx="1929384"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Distance estimate and
proximity alert</a:t>
            </a:r>
          </a:p>
        </p:txBody>
      </p:sp>
      <p:sp>
        <p:nvSpPr>
          <p:cNvPr id="38" name="Rectangle 37"/>
          <p:cNvSpPr/>
          <p:nvPr/>
        </p:nvSpPr>
        <p:spPr>
          <a:xfrm>
            <a:off x="6245352" y="3511296"/>
            <a:ext cx="1975104"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9" name="TextBox 38"/>
          <p:cNvSpPr txBox="1"/>
          <p:nvPr/>
        </p:nvSpPr>
        <p:spPr>
          <a:xfrm>
            <a:off x="6309360" y="3584448"/>
            <a:ext cx="1847088"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Reference vs. measured cm;
absolute error (cm)</a:t>
            </a:r>
          </a:p>
        </p:txBody>
      </p:sp>
      <p:sp>
        <p:nvSpPr>
          <p:cNvPr id="40" name="Rectangle 39"/>
          <p:cNvSpPr/>
          <p:nvPr/>
        </p:nvSpPr>
        <p:spPr>
          <a:xfrm>
            <a:off x="786384" y="4169664"/>
            <a:ext cx="1298448"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1" name="TextBox 40"/>
          <p:cNvSpPr txBox="1"/>
          <p:nvPr/>
        </p:nvSpPr>
        <p:spPr>
          <a:xfrm>
            <a:off x="850392" y="4242816"/>
            <a:ext cx="1170431" cy="350865"/>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192F4B"/>
                </a:solidFill>
                <a:latin typeface="Aptos"/>
              </a:rPr>
              <a:t>Alert
response</a:t>
            </a:r>
          </a:p>
        </p:txBody>
      </p:sp>
      <p:sp>
        <p:nvSpPr>
          <p:cNvPr id="42" name="Rectangle 41"/>
          <p:cNvSpPr/>
          <p:nvPr/>
        </p:nvSpPr>
        <p:spPr>
          <a:xfrm>
            <a:off x="2084831" y="4169664"/>
            <a:ext cx="2103120"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3" name="TextBox 42"/>
          <p:cNvSpPr txBox="1"/>
          <p:nvPr/>
        </p:nvSpPr>
        <p:spPr>
          <a:xfrm>
            <a:off x="2148839" y="4242816"/>
            <a:ext cx="1975103"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Cross each configured
threshold</a:t>
            </a:r>
          </a:p>
        </p:txBody>
      </p:sp>
      <p:sp>
        <p:nvSpPr>
          <p:cNvPr id="44" name="Rectangle 43"/>
          <p:cNvSpPr/>
          <p:nvPr/>
        </p:nvSpPr>
        <p:spPr>
          <a:xfrm>
            <a:off x="4187952" y="4169664"/>
            <a:ext cx="2057400"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4251960" y="4242816"/>
            <a:ext cx="1929384"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Correct LED indication
and buzzer behavior</a:t>
            </a:r>
          </a:p>
        </p:txBody>
      </p:sp>
      <p:sp>
        <p:nvSpPr>
          <p:cNvPr id="46" name="Rectangle 45"/>
          <p:cNvSpPr/>
          <p:nvPr/>
        </p:nvSpPr>
        <p:spPr>
          <a:xfrm>
            <a:off x="6245352" y="4169664"/>
            <a:ext cx="1975104"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TextBox 46"/>
          <p:cNvSpPr txBox="1"/>
          <p:nvPr/>
        </p:nvSpPr>
        <p:spPr>
          <a:xfrm>
            <a:off x="6309360" y="4242816"/>
            <a:ext cx="1847088"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Response time;
correct / incorrect alerts</a:t>
            </a:r>
          </a:p>
        </p:txBody>
      </p:sp>
      <p:sp>
        <p:nvSpPr>
          <p:cNvPr id="48" name="Rectangle 47"/>
          <p:cNvSpPr/>
          <p:nvPr/>
        </p:nvSpPr>
        <p:spPr>
          <a:xfrm>
            <a:off x="786384" y="4828031"/>
            <a:ext cx="1298448"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9" name="TextBox 48"/>
          <p:cNvSpPr txBox="1"/>
          <p:nvPr/>
        </p:nvSpPr>
        <p:spPr>
          <a:xfrm>
            <a:off x="850392" y="4901183"/>
            <a:ext cx="1170431" cy="350865"/>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192F4B"/>
                </a:solidFill>
                <a:latin typeface="Aptos"/>
              </a:rPr>
              <a:t>Fault
handling</a:t>
            </a:r>
          </a:p>
        </p:txBody>
      </p:sp>
      <p:sp>
        <p:nvSpPr>
          <p:cNvPr id="50" name="Rectangle 49"/>
          <p:cNvSpPr/>
          <p:nvPr/>
        </p:nvSpPr>
        <p:spPr>
          <a:xfrm>
            <a:off x="2084831" y="4828031"/>
            <a:ext cx="2103120"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TextBox 50"/>
          <p:cNvSpPr txBox="1"/>
          <p:nvPr/>
        </p:nvSpPr>
        <p:spPr>
          <a:xfrm>
            <a:off x="2148839" y="4901183"/>
            <a:ext cx="1975103"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Simulate missing Echo or
invalid sensor reading</a:t>
            </a:r>
          </a:p>
        </p:txBody>
      </p:sp>
      <p:sp>
        <p:nvSpPr>
          <p:cNvPr id="52" name="Rectangle 51"/>
          <p:cNvSpPr/>
          <p:nvPr/>
        </p:nvSpPr>
        <p:spPr>
          <a:xfrm>
            <a:off x="4187952" y="4828031"/>
            <a:ext cx="2057400"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3" name="TextBox 52"/>
          <p:cNvSpPr txBox="1"/>
          <p:nvPr/>
        </p:nvSpPr>
        <p:spPr>
          <a:xfrm>
            <a:off x="4251960" y="4901183"/>
            <a:ext cx="1929384"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Timeout; invalid data rejected;
recovery behavior</a:t>
            </a:r>
          </a:p>
        </p:txBody>
      </p:sp>
      <p:sp>
        <p:nvSpPr>
          <p:cNvPr id="54" name="Rectangle 53"/>
          <p:cNvSpPr/>
          <p:nvPr/>
        </p:nvSpPr>
        <p:spPr>
          <a:xfrm>
            <a:off x="6245352" y="4828031"/>
            <a:ext cx="1975104" cy="658368"/>
          </a:xfrm>
          <a:prstGeom prst="rect">
            <a:avLst/>
          </a:prstGeom>
          <a:solidFill>
            <a:srgbClr val="FFFFFF"/>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54"/>
          <p:cNvSpPr txBox="1"/>
          <p:nvPr/>
        </p:nvSpPr>
        <p:spPr>
          <a:xfrm>
            <a:off x="6309360" y="4901183"/>
            <a:ext cx="1847088"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Timeout duration;
recovery outcome</a:t>
            </a:r>
          </a:p>
        </p:txBody>
      </p:sp>
      <p:sp>
        <p:nvSpPr>
          <p:cNvPr id="56" name="Rectangle 55"/>
          <p:cNvSpPr/>
          <p:nvPr/>
        </p:nvSpPr>
        <p:spPr>
          <a:xfrm>
            <a:off x="786384" y="5486400"/>
            <a:ext cx="1298448"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7" name="TextBox 56"/>
          <p:cNvSpPr txBox="1"/>
          <p:nvPr/>
        </p:nvSpPr>
        <p:spPr>
          <a:xfrm>
            <a:off x="850392" y="5559552"/>
            <a:ext cx="1170431" cy="350865"/>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192F4B"/>
                </a:solidFill>
                <a:latin typeface="Aptos"/>
              </a:rPr>
              <a:t>Integrated
operation</a:t>
            </a:r>
          </a:p>
        </p:txBody>
      </p:sp>
      <p:sp>
        <p:nvSpPr>
          <p:cNvPr id="58" name="Rectangle 57"/>
          <p:cNvSpPr/>
          <p:nvPr/>
        </p:nvSpPr>
        <p:spPr>
          <a:xfrm>
            <a:off x="2084831" y="5486400"/>
            <a:ext cx="2103120"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9" name="TextBox 58"/>
          <p:cNvSpPr txBox="1"/>
          <p:nvPr/>
        </p:nvSpPr>
        <p:spPr>
          <a:xfrm>
            <a:off x="2148839" y="5559552"/>
            <a:ext cx="1975103"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Exercise all sensor paths
under controlled conditions</a:t>
            </a:r>
          </a:p>
        </p:txBody>
      </p:sp>
      <p:sp>
        <p:nvSpPr>
          <p:cNvPr id="60" name="Rectangle 59"/>
          <p:cNvSpPr/>
          <p:nvPr/>
        </p:nvSpPr>
        <p:spPr>
          <a:xfrm>
            <a:off x="4187952" y="5486400"/>
            <a:ext cx="2057400"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TextBox 60"/>
          <p:cNvSpPr txBox="1"/>
          <p:nvPr/>
        </p:nvSpPr>
        <p:spPr>
          <a:xfrm>
            <a:off x="4251960" y="5559552"/>
            <a:ext cx="1929384"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Consistent event decision;
no conflicting outputs</a:t>
            </a:r>
          </a:p>
        </p:txBody>
      </p:sp>
      <p:sp>
        <p:nvSpPr>
          <p:cNvPr id="62" name="Rectangle 61"/>
          <p:cNvSpPr/>
          <p:nvPr/>
        </p:nvSpPr>
        <p:spPr>
          <a:xfrm>
            <a:off x="6245352" y="5486400"/>
            <a:ext cx="1975104" cy="658368"/>
          </a:xfrm>
          <a:prstGeom prst="rect">
            <a:avLst/>
          </a:prstGeom>
          <a:solidFill>
            <a:srgbClr val="F8FAFD"/>
          </a:solidFill>
          <a:ln w="5715">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3" name="TextBox 62"/>
          <p:cNvSpPr txBox="1"/>
          <p:nvPr/>
        </p:nvSpPr>
        <p:spPr>
          <a:xfrm>
            <a:off x="6309360" y="5559552"/>
            <a:ext cx="1847088" cy="320088"/>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Missed events; false alerts;
response time</a:t>
            </a:r>
          </a:p>
        </p:txBody>
      </p:sp>
      <p:sp>
        <p:nvSpPr>
          <p:cNvPr id="64" name="Rounded Rectangle 63"/>
          <p:cNvSpPr/>
          <p:nvPr/>
        </p:nvSpPr>
        <p:spPr>
          <a:xfrm>
            <a:off x="8595360" y="1353312"/>
            <a:ext cx="3035808" cy="2359152"/>
          </a:xfrm>
          <a:prstGeom prst="roundRect">
            <a:avLst/>
          </a:prstGeom>
          <a:solidFill>
            <a:srgbClr val="FFF5E0"/>
          </a:solidFill>
          <a:ln w="10160">
            <a:solidFill>
              <a:srgbClr val="EFD3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5" name="TextBox 64"/>
          <p:cNvSpPr txBox="1"/>
          <p:nvPr/>
        </p:nvSpPr>
        <p:spPr>
          <a:xfrm>
            <a:off x="8796528" y="1554480"/>
            <a:ext cx="2633472" cy="21236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B46300"/>
                </a:solidFill>
                <a:latin typeface="Aptos"/>
              </a:rPr>
              <a:t>LIMITATIONS &amp; ASSUMPTIONS</a:t>
            </a:r>
          </a:p>
        </p:txBody>
      </p:sp>
      <p:sp>
        <p:nvSpPr>
          <p:cNvPr id="66" name="Oval 65"/>
          <p:cNvSpPr/>
          <p:nvPr/>
        </p:nvSpPr>
        <p:spPr>
          <a:xfrm>
            <a:off x="8805672" y="1901952"/>
            <a:ext cx="64008" cy="64008"/>
          </a:xfrm>
          <a:prstGeom prst="ellipse">
            <a:avLst/>
          </a:prstGeom>
          <a:solidFill>
            <a:srgbClr val="B46300"/>
          </a:solidFill>
          <a:ln>
            <a:solidFill>
              <a:srgbClr val="B46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7" name="TextBox 66"/>
          <p:cNvSpPr txBox="1"/>
          <p:nvPr/>
        </p:nvSpPr>
        <p:spPr>
          <a:xfrm>
            <a:off x="8951976" y="1847088"/>
            <a:ext cx="2478024" cy="350865"/>
          </a:xfrm>
          <a:prstGeom prst="rect">
            <a:avLst/>
          </a:prstGeom>
          <a:noFill/>
        </p:spPr>
        <p:txBody>
          <a:bodyPr wrap="square" lIns="36576" tIns="36576" rIns="36576" bIns="36576" anchor="t">
            <a:spAutoFit/>
          </a:bodyPr>
          <a:lstStyle/>
          <a:p>
            <a:pPr algn="l">
              <a:spcBef>
                <a:spcPts val="0"/>
              </a:spcBef>
              <a:spcAft>
                <a:spcPts val="0"/>
              </a:spcAft>
            </a:pPr>
            <a:r>
              <a:rPr sz="900" b="0" i="0" dirty="0">
                <a:solidFill>
                  <a:srgbClr val="192F4B"/>
                </a:solidFill>
                <a:latin typeface="Aptos"/>
              </a:rPr>
              <a:t>Verify sensor models, pinout and electrical compatibility.</a:t>
            </a:r>
          </a:p>
        </p:txBody>
      </p:sp>
      <p:sp>
        <p:nvSpPr>
          <p:cNvPr id="68" name="Oval 67"/>
          <p:cNvSpPr/>
          <p:nvPr/>
        </p:nvSpPr>
        <p:spPr>
          <a:xfrm>
            <a:off x="8805672" y="2258568"/>
            <a:ext cx="64008" cy="64008"/>
          </a:xfrm>
          <a:prstGeom prst="ellipse">
            <a:avLst/>
          </a:prstGeom>
          <a:solidFill>
            <a:srgbClr val="B46300"/>
          </a:solidFill>
          <a:ln>
            <a:solidFill>
              <a:srgbClr val="B46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9" name="TextBox 68"/>
          <p:cNvSpPr txBox="1"/>
          <p:nvPr/>
        </p:nvSpPr>
        <p:spPr>
          <a:xfrm>
            <a:off x="8951976" y="2203704"/>
            <a:ext cx="2478024" cy="350865"/>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192F4B"/>
                </a:solidFill>
                <a:latin typeface="Aptos"/>
              </a:rPr>
              <a:t>Motion thresholds need calibration to reduce false detections.</a:t>
            </a:r>
          </a:p>
        </p:txBody>
      </p:sp>
      <p:sp>
        <p:nvSpPr>
          <p:cNvPr id="70" name="Oval 69"/>
          <p:cNvSpPr/>
          <p:nvPr/>
        </p:nvSpPr>
        <p:spPr>
          <a:xfrm>
            <a:off x="8805672" y="2615184"/>
            <a:ext cx="64008" cy="64008"/>
          </a:xfrm>
          <a:prstGeom prst="ellipse">
            <a:avLst/>
          </a:prstGeom>
          <a:solidFill>
            <a:srgbClr val="B46300"/>
          </a:solidFill>
          <a:ln>
            <a:solidFill>
              <a:srgbClr val="B46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1" name="TextBox 70"/>
          <p:cNvSpPr txBox="1"/>
          <p:nvPr/>
        </p:nvSpPr>
        <p:spPr>
          <a:xfrm>
            <a:off x="8951976" y="2560320"/>
            <a:ext cx="2478024" cy="350865"/>
          </a:xfrm>
          <a:prstGeom prst="rect">
            <a:avLst/>
          </a:prstGeom>
          <a:noFill/>
        </p:spPr>
        <p:txBody>
          <a:bodyPr wrap="square" lIns="36576" tIns="36576" rIns="36576" bIns="36576" anchor="t">
            <a:spAutoFit/>
          </a:bodyPr>
          <a:lstStyle/>
          <a:p>
            <a:pPr algn="l">
              <a:spcBef>
                <a:spcPts val="0"/>
              </a:spcBef>
              <a:spcAft>
                <a:spcPts val="0"/>
              </a:spcAft>
            </a:pPr>
            <a:r>
              <a:rPr sz="900" b="0" i="0" dirty="0">
                <a:solidFill>
                  <a:srgbClr val="192F4B"/>
                </a:solidFill>
                <a:latin typeface="Aptos"/>
              </a:rPr>
              <a:t>Temperature and distance accuracy must be measured experimentally.</a:t>
            </a:r>
          </a:p>
        </p:txBody>
      </p:sp>
      <p:sp>
        <p:nvSpPr>
          <p:cNvPr id="72" name="Oval 71"/>
          <p:cNvSpPr/>
          <p:nvPr/>
        </p:nvSpPr>
        <p:spPr>
          <a:xfrm>
            <a:off x="8805672" y="2971800"/>
            <a:ext cx="64008" cy="64008"/>
          </a:xfrm>
          <a:prstGeom prst="ellipse">
            <a:avLst/>
          </a:prstGeom>
          <a:solidFill>
            <a:srgbClr val="B46300"/>
          </a:solidFill>
          <a:ln>
            <a:solidFill>
              <a:srgbClr val="B46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3" name="TextBox 72"/>
          <p:cNvSpPr txBox="1"/>
          <p:nvPr/>
        </p:nvSpPr>
        <p:spPr>
          <a:xfrm>
            <a:off x="8951976" y="2916936"/>
            <a:ext cx="2478024" cy="350865"/>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192F4B"/>
                </a:solidFill>
                <a:latin typeface="Aptos"/>
              </a:rPr>
              <a:t>Invalid or missing readings must not produce misleading alerts.</a:t>
            </a:r>
          </a:p>
        </p:txBody>
      </p:sp>
      <p:sp>
        <p:nvSpPr>
          <p:cNvPr id="74" name="Oval 73"/>
          <p:cNvSpPr/>
          <p:nvPr/>
        </p:nvSpPr>
        <p:spPr>
          <a:xfrm>
            <a:off x="8805672" y="3328416"/>
            <a:ext cx="64008" cy="64008"/>
          </a:xfrm>
          <a:prstGeom prst="ellipse">
            <a:avLst/>
          </a:prstGeom>
          <a:solidFill>
            <a:srgbClr val="B46300"/>
          </a:solidFill>
          <a:ln>
            <a:solidFill>
              <a:srgbClr val="B46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5" name="TextBox 74"/>
          <p:cNvSpPr txBox="1"/>
          <p:nvPr/>
        </p:nvSpPr>
        <p:spPr>
          <a:xfrm>
            <a:off x="8951976" y="3273552"/>
            <a:ext cx="2478024" cy="350865"/>
          </a:xfrm>
          <a:prstGeom prst="rect">
            <a:avLst/>
          </a:prstGeom>
          <a:noFill/>
        </p:spPr>
        <p:txBody>
          <a:bodyPr wrap="square" lIns="36576" tIns="36576" rIns="36576" bIns="36576" anchor="t">
            <a:spAutoFit/>
          </a:bodyPr>
          <a:lstStyle/>
          <a:p>
            <a:pPr algn="l">
              <a:spcBef>
                <a:spcPts val="0"/>
              </a:spcBef>
              <a:spcAft>
                <a:spcPts val="0"/>
              </a:spcAft>
            </a:pPr>
            <a:r>
              <a:rPr sz="900" b="0" i="0">
                <a:solidFill>
                  <a:srgbClr val="192F4B"/>
                </a:solidFill>
                <a:latin typeface="Aptos"/>
              </a:rPr>
              <a:t>Logging, wireless alerts and braking are outside current hardware scope.</a:t>
            </a:r>
          </a:p>
        </p:txBody>
      </p:sp>
      <p:sp>
        <p:nvSpPr>
          <p:cNvPr id="76" name="Rounded Rectangle 75"/>
          <p:cNvSpPr/>
          <p:nvPr/>
        </p:nvSpPr>
        <p:spPr>
          <a:xfrm>
            <a:off x="8595360" y="3858768"/>
            <a:ext cx="3035808" cy="1417320"/>
          </a:xfrm>
          <a:prstGeom prst="roundRect">
            <a:avLst/>
          </a:prstGeom>
          <a:solidFill>
            <a:srgbClr val="FFFFFF"/>
          </a:solidFill>
          <a:ln w="10160">
            <a:solidFill>
              <a:srgbClr val="D3DE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7" name="TextBox 76"/>
          <p:cNvSpPr txBox="1"/>
          <p:nvPr/>
        </p:nvSpPr>
        <p:spPr>
          <a:xfrm>
            <a:off x="8796528" y="4059936"/>
            <a:ext cx="2633472" cy="21236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0097A4"/>
                </a:solidFill>
                <a:latin typeface="Aptos"/>
              </a:rPr>
              <a:t>PROJECT TAKEAWAY</a:t>
            </a:r>
          </a:p>
        </p:txBody>
      </p:sp>
      <p:sp>
        <p:nvSpPr>
          <p:cNvPr id="78" name="TextBox 77"/>
          <p:cNvSpPr txBox="1"/>
          <p:nvPr/>
        </p:nvSpPr>
        <p:spPr>
          <a:xfrm>
            <a:off x="8772144" y="4242816"/>
            <a:ext cx="2633472" cy="1043363"/>
          </a:xfrm>
          <a:prstGeom prst="rect">
            <a:avLst/>
          </a:prstGeom>
          <a:noFill/>
        </p:spPr>
        <p:txBody>
          <a:bodyPr wrap="square" lIns="36576" tIns="36576" rIns="36576" bIns="36576" anchor="t">
            <a:spAutoFit/>
          </a:bodyPr>
          <a:lstStyle/>
          <a:p>
            <a:pPr algn="l">
              <a:spcBef>
                <a:spcPts val="0"/>
              </a:spcBef>
              <a:spcAft>
                <a:spcPts val="0"/>
              </a:spcAft>
            </a:pPr>
            <a:r>
              <a:rPr sz="1050" b="1" i="0" dirty="0">
                <a:solidFill>
                  <a:srgbClr val="192F4B"/>
                </a:solidFill>
                <a:latin typeface="Aptos"/>
              </a:rPr>
              <a:t>The STM32F411CEU6 integrates motion, temperature and proximity sensing into a real-time, threshold-based warning prototype—demonstrating acquisition, event classification and local alert generation.</a:t>
            </a:r>
          </a:p>
        </p:txBody>
      </p:sp>
      <p:sp>
        <p:nvSpPr>
          <p:cNvPr id="79" name="Rounded Rectangle 78"/>
          <p:cNvSpPr/>
          <p:nvPr/>
        </p:nvSpPr>
        <p:spPr>
          <a:xfrm>
            <a:off x="8595360" y="5413248"/>
            <a:ext cx="3035808" cy="859536"/>
          </a:xfrm>
          <a:prstGeom prst="roundRect">
            <a:avLst/>
          </a:prstGeom>
          <a:solidFill>
            <a:srgbClr val="E8F6EE"/>
          </a:solidFill>
          <a:ln w="10160">
            <a:solidFill>
              <a:srgbClr val="E8F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0" name="TextBox 79"/>
          <p:cNvSpPr txBox="1"/>
          <p:nvPr/>
        </p:nvSpPr>
        <p:spPr>
          <a:xfrm>
            <a:off x="8778240" y="5559552"/>
            <a:ext cx="2670048" cy="212366"/>
          </a:xfrm>
          <a:prstGeom prst="rect">
            <a:avLst/>
          </a:prstGeom>
          <a:noFill/>
        </p:spPr>
        <p:txBody>
          <a:bodyPr wrap="square" lIns="36576" tIns="36576" rIns="36576" bIns="36576" anchor="t">
            <a:spAutoFit/>
          </a:bodyPr>
          <a:lstStyle/>
          <a:p>
            <a:pPr algn="l">
              <a:spcBef>
                <a:spcPts val="0"/>
              </a:spcBef>
              <a:spcAft>
                <a:spcPts val="0"/>
              </a:spcAft>
            </a:pPr>
            <a:r>
              <a:rPr sz="900" b="1" i="0">
                <a:solidFill>
                  <a:srgbClr val="27805B"/>
                </a:solidFill>
                <a:latin typeface="Aptos"/>
              </a:rPr>
              <a:t>REPORTING RULE</a:t>
            </a:r>
          </a:p>
        </p:txBody>
      </p:sp>
      <p:sp>
        <p:nvSpPr>
          <p:cNvPr id="81" name="TextBox 80"/>
          <p:cNvSpPr txBox="1"/>
          <p:nvPr/>
        </p:nvSpPr>
        <p:spPr>
          <a:xfrm>
            <a:off x="8778240" y="5797296"/>
            <a:ext cx="2670048" cy="347472"/>
          </a:xfrm>
          <a:prstGeom prst="rect">
            <a:avLst/>
          </a:prstGeom>
          <a:noFill/>
        </p:spPr>
        <p:txBody>
          <a:bodyPr wrap="square" lIns="36576" tIns="36576" rIns="36576" bIns="36576" anchor="t">
            <a:spAutoFit/>
          </a:bodyPr>
          <a:lstStyle/>
          <a:p>
            <a:pPr algn="l">
              <a:spcBef>
                <a:spcPts val="0"/>
              </a:spcBef>
              <a:spcAft>
                <a:spcPts val="0"/>
              </a:spcAft>
            </a:pPr>
            <a:r>
              <a:rPr sz="900" b="0" i="0" dirty="0">
                <a:solidFill>
                  <a:srgbClr val="192F4B"/>
                </a:solidFill>
                <a:latin typeface="Aptos"/>
              </a:rPr>
              <a:t>This is a planned matrix. Enter measured results only after hardware testing.</a:t>
            </a:r>
          </a:p>
        </p:txBody>
      </p:sp>
      <p:sp>
        <p:nvSpPr>
          <p:cNvPr id="82" name="Rounded Rectangle 81"/>
          <p:cNvSpPr/>
          <p:nvPr/>
        </p:nvSpPr>
        <p:spPr>
          <a:xfrm>
            <a:off x="566928" y="6435673"/>
            <a:ext cx="11064240" cy="283464"/>
          </a:xfrm>
          <a:prstGeom prst="roundRect">
            <a:avLst/>
          </a:prstGeom>
          <a:solidFill>
            <a:srgbClr val="193C5B"/>
          </a:solidFill>
          <a:ln>
            <a:solidFill>
              <a:srgbClr val="193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3" name="TextBox 82"/>
          <p:cNvSpPr txBox="1"/>
          <p:nvPr/>
        </p:nvSpPr>
        <p:spPr>
          <a:xfrm>
            <a:off x="713232" y="6442412"/>
            <a:ext cx="10771632" cy="212366"/>
          </a:xfrm>
          <a:prstGeom prst="rect">
            <a:avLst/>
          </a:prstGeom>
          <a:noFill/>
        </p:spPr>
        <p:txBody>
          <a:bodyPr wrap="square" lIns="36576" tIns="36576" rIns="36576" bIns="36576" anchor="ctr">
            <a:spAutoFit/>
          </a:bodyPr>
          <a:lstStyle/>
          <a:p>
            <a:pPr algn="ctr">
              <a:spcBef>
                <a:spcPts val="0"/>
              </a:spcBef>
              <a:spcAft>
                <a:spcPts val="0"/>
              </a:spcAft>
            </a:pPr>
            <a:r>
              <a:rPr sz="900" b="1" i="0" dirty="0">
                <a:solidFill>
                  <a:srgbClr val="FFFFFF"/>
                </a:solidFill>
                <a:latin typeface="Aptos"/>
              </a:rPr>
              <a:t>NEXT: Verify hardware and pinout  →  Validate each sensor  →  Test events  →  Measure alert performance</a:t>
            </a:r>
          </a:p>
        </p:txBody>
      </p:sp>
      <p:sp>
        <p:nvSpPr>
          <p:cNvPr id="84" name="TextBox 83"/>
          <p:cNvSpPr txBox="1"/>
          <p:nvPr/>
        </p:nvSpPr>
        <p:spPr>
          <a:xfrm>
            <a:off x="566928" y="6711696"/>
            <a:ext cx="8686800" cy="196977"/>
          </a:xfrm>
          <a:prstGeom prst="rect">
            <a:avLst/>
          </a:prstGeom>
          <a:noFill/>
        </p:spPr>
        <p:txBody>
          <a:bodyPr wrap="square" lIns="36576" tIns="36576" rIns="36576" bIns="36576" anchor="t">
            <a:spAutoFit/>
          </a:bodyPr>
          <a:lstStyle/>
          <a:p>
            <a:pPr algn="l">
              <a:spcBef>
                <a:spcPts val="0"/>
              </a:spcBef>
              <a:spcAft>
                <a:spcPts val="0"/>
              </a:spcAft>
            </a:pPr>
            <a:r>
              <a:rPr sz="800" b="0" i="0">
                <a:solidFill>
                  <a:srgbClr val="536982"/>
                </a:solidFill>
                <a:latin typeface="Aptos"/>
              </a:rPr>
              <a:t>23CSE304 · EMBEDDED SYSTEMS  |  VEHICLE EVENT LOGGING AND RESPONSE SYSTEM</a:t>
            </a:r>
          </a:p>
        </p:txBody>
      </p:sp>
      <p:sp>
        <p:nvSpPr>
          <p:cNvPr id="85" name="TextBox 84"/>
          <p:cNvSpPr txBox="1"/>
          <p:nvPr/>
        </p:nvSpPr>
        <p:spPr>
          <a:xfrm>
            <a:off x="10991088" y="6711696"/>
            <a:ext cx="594360" cy="196977"/>
          </a:xfrm>
          <a:prstGeom prst="rect">
            <a:avLst/>
          </a:prstGeom>
          <a:noFill/>
        </p:spPr>
        <p:txBody>
          <a:bodyPr wrap="square" lIns="36576" tIns="36576" rIns="36576" bIns="36576" anchor="t">
            <a:spAutoFit/>
          </a:bodyPr>
          <a:lstStyle/>
          <a:p>
            <a:pPr algn="r">
              <a:spcBef>
                <a:spcPts val="0"/>
              </a:spcBef>
              <a:spcAft>
                <a:spcPts val="0"/>
              </a:spcAft>
            </a:pPr>
            <a:r>
              <a:rPr sz="800" b="1" i="0">
                <a:solidFill>
                  <a:srgbClr val="536982"/>
                </a:solidFill>
                <a:latin typeface="Aptos"/>
              </a:rPr>
              <a:t>09 / 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2340</Words>
  <Application>Microsoft Office PowerPoint</Application>
  <PresentationFormat>Widescreen</PresentationFormat>
  <Paragraphs>404</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Mono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 Event Logging and Response System | 23CSE304</dc:title>
  <dc:subject>Embedded Systems case study title slide with register-level sensor interfacing and real-time event response</dc:subject>
  <dc:creator>Aniruth Karthik</dc:creator>
  <cp:keywords>STM32F411CEU6, MPU6050, LM35, HC-SR04, GPIO, I2C, ADC, timers, SysTick, NVIC, USART</cp:keywords>
  <dc:description>generated using python-pptx</dc:description>
  <cp:lastModifiedBy>Aniruth Karthik - [CB.SC.U4CSE24502]</cp:lastModifiedBy>
  <cp:revision>7</cp:revision>
  <dcterms:created xsi:type="dcterms:W3CDTF">2013-01-27T09:14:16Z</dcterms:created>
  <dcterms:modified xsi:type="dcterms:W3CDTF">2026-10-10T05:29:01Z</dcterms:modified>
  <cp:category/>
</cp:coreProperties>
</file>